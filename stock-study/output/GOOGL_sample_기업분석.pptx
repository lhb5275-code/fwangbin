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종가</c:v>
                </c:pt>
              </c:strCache>
            </c:strRef>
          </c:tx>
          <c:spPr>
            <a:ln w="22225">
              <a:solidFill>
                <a:srgbClr val="D93025"/>
              </a:solidFill>
            </a:ln>
          </c:spPr>
          <c:marker>
            <c:symbol val="none"/>
          </c:marker>
          <c:cat>
            <c:strRef>
              <c:f>Sheet1!$A$2:$A$252</c:f>
              <c:strCache>
                <c:ptCount val="251"/>
                <c:pt idx="0">
                  <c:v>25.10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>25.11</c:v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25.12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>26.01</c:v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>26.02</c:v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/>
                </c:pt>
                <c:pt idx="101">
                  <c:v>26.03</c:v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/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  <c:pt idx="121">
                  <c:v/>
                </c:pt>
                <c:pt idx="122">
                  <c:v/>
                </c:pt>
                <c:pt idx="123">
                  <c:v>26.04</c:v>
                </c:pt>
                <c:pt idx="124">
                  <c:v/>
                </c:pt>
                <c:pt idx="125">
                  <c:v/>
                </c:pt>
                <c:pt idx="126">
                  <c:v/>
                </c:pt>
                <c:pt idx="127">
                  <c:v/>
                </c:pt>
                <c:pt idx="128">
                  <c:v/>
                </c:pt>
                <c:pt idx="129">
                  <c:v/>
                </c:pt>
                <c:pt idx="130">
                  <c:v/>
                </c:pt>
                <c:pt idx="131">
                  <c:v/>
                </c:pt>
                <c:pt idx="132">
                  <c:v/>
                </c:pt>
                <c:pt idx="133">
                  <c:v/>
                </c:pt>
                <c:pt idx="134">
                  <c:v/>
                </c:pt>
                <c:pt idx="135">
                  <c:v/>
                </c:pt>
                <c:pt idx="136">
                  <c:v/>
                </c:pt>
                <c:pt idx="137">
                  <c:v/>
                </c:pt>
                <c:pt idx="138">
                  <c:v/>
                </c:pt>
                <c:pt idx="139">
                  <c:v/>
                </c:pt>
                <c:pt idx="140">
                  <c:v/>
                </c:pt>
                <c:pt idx="141">
                  <c:v/>
                </c:pt>
                <c:pt idx="142">
                  <c:v/>
                </c:pt>
                <c:pt idx="143">
                  <c:v/>
                </c:pt>
                <c:pt idx="144">
                  <c:v>26.05</c:v>
                </c:pt>
                <c:pt idx="145">
                  <c:v/>
                </c:pt>
                <c:pt idx="146">
                  <c:v/>
                </c:pt>
                <c:pt idx="147">
                  <c:v/>
                </c:pt>
                <c:pt idx="148">
                  <c:v/>
                </c:pt>
                <c:pt idx="149">
                  <c:v/>
                </c:pt>
                <c:pt idx="150">
                  <c:v/>
                </c:pt>
                <c:pt idx="151">
                  <c:v/>
                </c:pt>
                <c:pt idx="152">
                  <c:v/>
                </c:pt>
                <c:pt idx="153">
                  <c:v/>
                </c:pt>
                <c:pt idx="154">
                  <c:v/>
                </c:pt>
                <c:pt idx="155">
                  <c:v/>
                </c:pt>
                <c:pt idx="156">
                  <c:v/>
                </c:pt>
                <c:pt idx="157">
                  <c:v/>
                </c:pt>
                <c:pt idx="158">
                  <c:v/>
                </c:pt>
                <c:pt idx="159">
                  <c:v/>
                </c:pt>
                <c:pt idx="160">
                  <c:v/>
                </c:pt>
                <c:pt idx="161">
                  <c:v/>
                </c:pt>
                <c:pt idx="162">
                  <c:v/>
                </c:pt>
                <c:pt idx="163">
                  <c:v/>
                </c:pt>
                <c:pt idx="164">
                  <c:v>26.06</c:v>
                </c:pt>
                <c:pt idx="165">
                  <c:v/>
                </c:pt>
                <c:pt idx="166">
                  <c:v/>
                </c:pt>
                <c:pt idx="167">
                  <c:v/>
                </c:pt>
                <c:pt idx="168">
                  <c:v/>
                </c:pt>
                <c:pt idx="169">
                  <c:v/>
                </c:pt>
                <c:pt idx="170">
                  <c:v/>
                </c:pt>
                <c:pt idx="171">
                  <c:v/>
                </c:pt>
                <c:pt idx="172">
                  <c:v/>
                </c:pt>
                <c:pt idx="173">
                  <c:v/>
                </c:pt>
                <c:pt idx="174">
                  <c:v/>
                </c:pt>
                <c:pt idx="175">
                  <c:v/>
                </c:pt>
                <c:pt idx="176">
                  <c:v/>
                </c:pt>
                <c:pt idx="177">
                  <c:v/>
                </c:pt>
                <c:pt idx="178">
                  <c:v/>
                </c:pt>
                <c:pt idx="179">
                  <c:v/>
                </c:pt>
                <c:pt idx="180">
                  <c:v/>
                </c:pt>
                <c:pt idx="181">
                  <c:v/>
                </c:pt>
                <c:pt idx="182">
                  <c:v/>
                </c:pt>
                <c:pt idx="183">
                  <c:v/>
                </c:pt>
                <c:pt idx="184">
                  <c:v/>
                </c:pt>
                <c:pt idx="185">
                  <c:v>26.07</c:v>
                </c:pt>
                <c:pt idx="186">
                  <c:v/>
                </c:pt>
                <c:pt idx="187">
                  <c:v/>
                </c:pt>
                <c:pt idx="188">
                  <c:v/>
                </c:pt>
                <c:pt idx="189">
                  <c:v/>
                </c:pt>
                <c:pt idx="190">
                  <c:v/>
                </c:pt>
                <c:pt idx="191">
                  <c:v/>
                </c:pt>
                <c:pt idx="192">
                  <c:v/>
                </c:pt>
                <c:pt idx="193">
                  <c:v/>
                </c:pt>
                <c:pt idx="194">
                  <c:v/>
                </c:pt>
                <c:pt idx="195">
                  <c:v/>
                </c:pt>
                <c:pt idx="196">
                  <c:v/>
                </c:pt>
                <c:pt idx="197">
                  <c:v/>
                </c:pt>
                <c:pt idx="198">
                  <c:v/>
                </c:pt>
                <c:pt idx="199">
                  <c:v/>
                </c:pt>
                <c:pt idx="200">
                  <c:v/>
                </c:pt>
                <c:pt idx="201">
                  <c:v/>
                </c:pt>
                <c:pt idx="202">
                  <c:v/>
                </c:pt>
                <c:pt idx="203">
                  <c:v/>
                </c:pt>
                <c:pt idx="204">
                  <c:v/>
                </c:pt>
                <c:pt idx="205">
                  <c:v/>
                </c:pt>
                <c:pt idx="206">
                  <c:v/>
                </c:pt>
                <c:pt idx="207">
                  <c:v>26.08</c:v>
                </c:pt>
                <c:pt idx="208">
                  <c:v/>
                </c:pt>
                <c:pt idx="209">
                  <c:v/>
                </c:pt>
                <c:pt idx="210">
                  <c:v/>
                </c:pt>
                <c:pt idx="211">
                  <c:v/>
                </c:pt>
                <c:pt idx="212">
                  <c:v/>
                </c:pt>
                <c:pt idx="213">
                  <c:v/>
                </c:pt>
                <c:pt idx="214">
                  <c:v/>
                </c:pt>
                <c:pt idx="215">
                  <c:v/>
                </c:pt>
                <c:pt idx="216">
                  <c:v/>
                </c:pt>
                <c:pt idx="217">
                  <c:v/>
                </c:pt>
                <c:pt idx="218">
                  <c:v/>
                </c:pt>
                <c:pt idx="219">
                  <c:v/>
                </c:pt>
                <c:pt idx="220">
                  <c:v/>
                </c:pt>
                <c:pt idx="221">
                  <c:v/>
                </c:pt>
                <c:pt idx="222">
                  <c:v/>
                </c:pt>
                <c:pt idx="223">
                  <c:v/>
                </c:pt>
                <c:pt idx="224">
                  <c:v/>
                </c:pt>
                <c:pt idx="225">
                  <c:v/>
                </c:pt>
                <c:pt idx="226">
                  <c:v/>
                </c:pt>
                <c:pt idx="227">
                  <c:v/>
                </c:pt>
                <c:pt idx="228">
                  <c:v>26.09</c:v>
                </c:pt>
                <c:pt idx="229">
                  <c:v/>
                </c:pt>
                <c:pt idx="230">
                  <c:v/>
                </c:pt>
                <c:pt idx="231">
                  <c:v/>
                </c:pt>
                <c:pt idx="232">
                  <c:v/>
                </c:pt>
                <c:pt idx="233">
                  <c:v/>
                </c:pt>
                <c:pt idx="234">
                  <c:v/>
                </c:pt>
                <c:pt idx="235">
                  <c:v/>
                </c:pt>
                <c:pt idx="236">
                  <c:v/>
                </c:pt>
                <c:pt idx="237">
                  <c:v/>
                </c:pt>
                <c:pt idx="238">
                  <c:v/>
                </c:pt>
                <c:pt idx="239">
                  <c:v/>
                </c:pt>
                <c:pt idx="240">
                  <c:v/>
                </c:pt>
                <c:pt idx="241">
                  <c:v/>
                </c:pt>
                <c:pt idx="242">
                  <c:v/>
                </c:pt>
                <c:pt idx="243">
                  <c:v/>
                </c:pt>
                <c:pt idx="244">
                  <c:v/>
                </c:pt>
                <c:pt idx="245">
                  <c:v/>
                </c:pt>
                <c:pt idx="246">
                  <c:v/>
                </c:pt>
                <c:pt idx="247">
                  <c:v/>
                </c:pt>
                <c:pt idx="248">
                  <c:v/>
                </c:pt>
                <c:pt idx="249">
                  <c:v>26.10</c:v>
                </c:pt>
                <c:pt idx="250">
                  <c:v/>
                </c:pt>
              </c:strCache>
            </c:strRef>
          </c:cat>
          <c:val>
            <c:numRef>
              <c:f>Sheet1!$B$2:$B$252</c:f>
              <c:numCache>
                <c:formatCode>General</c:formatCode>
                <c:ptCount val="251"/>
                <c:pt idx="0">
                  <c:v>245.35</c:v>
                </c:pt>
                <c:pt idx="1">
                  <c:v>250.43</c:v>
                </c:pt>
                <c:pt idx="2">
                  <c:v>245.76</c:v>
                </c:pt>
                <c:pt idx="3">
                  <c:v>244.62</c:v>
                </c:pt>
                <c:pt idx="4">
                  <c:v>241.53</c:v>
                </c:pt>
                <c:pt idx="5">
                  <c:v>236.57</c:v>
                </c:pt>
                <c:pt idx="6">
                  <c:v>244.15</c:v>
                </c:pt>
                <c:pt idx="7">
                  <c:v>245.45</c:v>
                </c:pt>
                <c:pt idx="8">
                  <c:v>251.03</c:v>
                </c:pt>
                <c:pt idx="9">
                  <c:v>251.46</c:v>
                </c:pt>
                <c:pt idx="10">
                  <c:v>253.3</c:v>
                </c:pt>
                <c:pt idx="11">
                  <c:v>256.55</c:v>
                </c:pt>
                <c:pt idx="12">
                  <c:v>250.46</c:v>
                </c:pt>
                <c:pt idx="13">
                  <c:v>251.69</c:v>
                </c:pt>
                <c:pt idx="14">
                  <c:v>253.08</c:v>
                </c:pt>
                <c:pt idx="15">
                  <c:v>259.92</c:v>
                </c:pt>
                <c:pt idx="16">
                  <c:v>269.27</c:v>
                </c:pt>
                <c:pt idx="17">
                  <c:v>267.47</c:v>
                </c:pt>
                <c:pt idx="18">
                  <c:v>274.57</c:v>
                </c:pt>
                <c:pt idx="19">
                  <c:v>281.48</c:v>
                </c:pt>
                <c:pt idx="20">
                  <c:v>281.19</c:v>
                </c:pt>
                <c:pt idx="21">
                  <c:v>283.72</c:v>
                </c:pt>
                <c:pt idx="22">
                  <c:v>277.54</c:v>
                </c:pt>
                <c:pt idx="23">
                  <c:v>284.31</c:v>
                </c:pt>
                <c:pt idx="24">
                  <c:v>284.75</c:v>
                </c:pt>
                <c:pt idx="25">
                  <c:v>278.83</c:v>
                </c:pt>
                <c:pt idx="26">
                  <c:v>290.1</c:v>
                </c:pt>
                <c:pt idx="27">
                  <c:v>291.31</c:v>
                </c:pt>
                <c:pt idx="28">
                  <c:v>286.71</c:v>
                </c:pt>
                <c:pt idx="29">
                  <c:v>278.57</c:v>
                </c:pt>
                <c:pt idx="30">
                  <c:v>276.41</c:v>
                </c:pt>
                <c:pt idx="31">
                  <c:v>285.02</c:v>
                </c:pt>
                <c:pt idx="32">
                  <c:v>284.28</c:v>
                </c:pt>
                <c:pt idx="33">
                  <c:v>292.81</c:v>
                </c:pt>
                <c:pt idx="34">
                  <c:v>289.45</c:v>
                </c:pt>
                <c:pt idx="35">
                  <c:v>299.66</c:v>
                </c:pt>
                <c:pt idx="36">
                  <c:v>318.58</c:v>
                </c:pt>
                <c:pt idx="37">
                  <c:v>323.44</c:v>
                </c:pt>
                <c:pt idx="38">
                  <c:v>319.95</c:v>
                </c:pt>
                <c:pt idx="39">
                  <c:v>320.18</c:v>
                </c:pt>
                <c:pt idx="40">
                  <c:v>314.89</c:v>
                </c:pt>
                <c:pt idx="41">
                  <c:v>315.81</c:v>
                </c:pt>
                <c:pt idx="42">
                  <c:v>319.63</c:v>
                </c:pt>
                <c:pt idx="43">
                  <c:v>317.62</c:v>
                </c:pt>
                <c:pt idx="44">
                  <c:v>321.27</c:v>
                </c:pt>
                <c:pt idx="45">
                  <c:v>313.72</c:v>
                </c:pt>
                <c:pt idx="46">
                  <c:v>317.08</c:v>
                </c:pt>
                <c:pt idx="47">
                  <c:v>320.21</c:v>
                </c:pt>
                <c:pt idx="48">
                  <c:v>312.43</c:v>
                </c:pt>
                <c:pt idx="49">
                  <c:v>309.29</c:v>
                </c:pt>
                <c:pt idx="50">
                  <c:v>308.22</c:v>
                </c:pt>
                <c:pt idx="51">
                  <c:v>306.57</c:v>
                </c:pt>
                <c:pt idx="52">
                  <c:v>296.72</c:v>
                </c:pt>
                <c:pt idx="53">
                  <c:v>302.46</c:v>
                </c:pt>
                <c:pt idx="54">
                  <c:v>307.16</c:v>
                </c:pt>
                <c:pt idx="55">
                  <c:v>309.78</c:v>
                </c:pt>
                <c:pt idx="56">
                  <c:v>314.35</c:v>
                </c:pt>
                <c:pt idx="57">
                  <c:v>314.09</c:v>
                </c:pt>
                <c:pt idx="58">
                  <c:v>313.51</c:v>
                </c:pt>
                <c:pt idx="59">
                  <c:v>313.56</c:v>
                </c:pt>
                <c:pt idx="60">
                  <c:v>313.85</c:v>
                </c:pt>
                <c:pt idx="61">
                  <c:v>313.0</c:v>
                </c:pt>
                <c:pt idx="62">
                  <c:v>315.15</c:v>
                </c:pt>
                <c:pt idx="63">
                  <c:v>316.54</c:v>
                </c:pt>
                <c:pt idx="64">
                  <c:v>314.34</c:v>
                </c:pt>
                <c:pt idx="65">
                  <c:v>321.98</c:v>
                </c:pt>
                <c:pt idx="66">
                  <c:v>325.44</c:v>
                </c:pt>
                <c:pt idx="67">
                  <c:v>328.57</c:v>
                </c:pt>
                <c:pt idx="68">
                  <c:v>331.86</c:v>
                </c:pt>
                <c:pt idx="69">
                  <c:v>335.97</c:v>
                </c:pt>
                <c:pt idx="70">
                  <c:v>335.84</c:v>
                </c:pt>
                <c:pt idx="71">
                  <c:v>332.78</c:v>
                </c:pt>
                <c:pt idx="72">
                  <c:v>330.0</c:v>
                </c:pt>
                <c:pt idx="73">
                  <c:v>322.0</c:v>
                </c:pt>
                <c:pt idx="74">
                  <c:v>328.38</c:v>
                </c:pt>
                <c:pt idx="75">
                  <c:v>330.54</c:v>
                </c:pt>
                <c:pt idx="76">
                  <c:v>327.93</c:v>
                </c:pt>
                <c:pt idx="77">
                  <c:v>333.26</c:v>
                </c:pt>
                <c:pt idx="78">
                  <c:v>334.55</c:v>
                </c:pt>
                <c:pt idx="79">
                  <c:v>336.01</c:v>
                </c:pt>
                <c:pt idx="80">
                  <c:v>338.25</c:v>
                </c:pt>
                <c:pt idx="81">
                  <c:v>338.0</c:v>
                </c:pt>
                <c:pt idx="82">
                  <c:v>343.69</c:v>
                </c:pt>
                <c:pt idx="83">
                  <c:v>339.71</c:v>
                </c:pt>
                <c:pt idx="84">
                  <c:v>333.04</c:v>
                </c:pt>
                <c:pt idx="85">
                  <c:v>331.25</c:v>
                </c:pt>
                <c:pt idx="86">
                  <c:v>322.86</c:v>
                </c:pt>
                <c:pt idx="87">
                  <c:v>324.32</c:v>
                </c:pt>
                <c:pt idx="88">
                  <c:v>318.58</c:v>
                </c:pt>
                <c:pt idx="89">
                  <c:v>310.96</c:v>
                </c:pt>
                <c:pt idx="90">
                  <c:v>309.0</c:v>
                </c:pt>
                <c:pt idx="91">
                  <c:v>305.72</c:v>
                </c:pt>
                <c:pt idx="92">
                  <c:v>302.02</c:v>
                </c:pt>
                <c:pt idx="93">
                  <c:v>303.33</c:v>
                </c:pt>
                <c:pt idx="94">
                  <c:v>302.85</c:v>
                </c:pt>
                <c:pt idx="95">
                  <c:v>314.98</c:v>
                </c:pt>
                <c:pt idx="96">
                  <c:v>311.49</c:v>
                </c:pt>
                <c:pt idx="97">
                  <c:v>310.9</c:v>
                </c:pt>
                <c:pt idx="98">
                  <c:v>312.9</c:v>
                </c:pt>
                <c:pt idx="99">
                  <c:v>307.38</c:v>
                </c:pt>
                <c:pt idx="100">
                  <c:v>311.76</c:v>
                </c:pt>
                <c:pt idx="101">
                  <c:v>306.52</c:v>
                </c:pt>
                <c:pt idx="102">
                  <c:v>303.58</c:v>
                </c:pt>
                <c:pt idx="103">
                  <c:v>303.13</c:v>
                </c:pt>
                <c:pt idx="104">
                  <c:v>300.88</c:v>
                </c:pt>
                <c:pt idx="105">
                  <c:v>298.52</c:v>
                </c:pt>
                <c:pt idx="106">
                  <c:v>306.36</c:v>
                </c:pt>
                <c:pt idx="107">
                  <c:v>307.04</c:v>
                </c:pt>
                <c:pt idx="108">
                  <c:v>308.7</c:v>
                </c:pt>
                <c:pt idx="109">
                  <c:v>303.55</c:v>
                </c:pt>
                <c:pt idx="110">
                  <c:v>302.28</c:v>
                </c:pt>
                <c:pt idx="111">
                  <c:v>305.56</c:v>
                </c:pt>
                <c:pt idx="112">
                  <c:v>310.92</c:v>
                </c:pt>
                <c:pt idx="113">
                  <c:v>307.69</c:v>
                </c:pt>
                <c:pt idx="114">
                  <c:v>307.13</c:v>
                </c:pt>
                <c:pt idx="115">
                  <c:v>301.0</c:v>
                </c:pt>
                <c:pt idx="116">
                  <c:v>302.06</c:v>
                </c:pt>
                <c:pt idx="117">
                  <c:v>290.44</c:v>
                </c:pt>
                <c:pt idx="118">
                  <c:v>290.93</c:v>
                </c:pt>
                <c:pt idx="119">
                  <c:v>280.92</c:v>
                </c:pt>
                <c:pt idx="120">
                  <c:v>274.34</c:v>
                </c:pt>
                <c:pt idx="121">
                  <c:v>273.5</c:v>
                </c:pt>
                <c:pt idx="122">
                  <c:v>287.56</c:v>
                </c:pt>
                <c:pt idx="123">
                  <c:v>297.39</c:v>
                </c:pt>
                <c:pt idx="124">
                  <c:v>295.77</c:v>
                </c:pt>
                <c:pt idx="125">
                  <c:v>299.99</c:v>
                </c:pt>
                <c:pt idx="126">
                  <c:v>305.46</c:v>
                </c:pt>
                <c:pt idx="127">
                  <c:v>317.32</c:v>
                </c:pt>
                <c:pt idx="128">
                  <c:v>318.49</c:v>
                </c:pt>
                <c:pt idx="129">
                  <c:v>317.24</c:v>
                </c:pt>
                <c:pt idx="130">
                  <c:v>321.31</c:v>
                </c:pt>
                <c:pt idx="131">
                  <c:v>332.91</c:v>
                </c:pt>
                <c:pt idx="132">
                  <c:v>337.12</c:v>
                </c:pt>
                <c:pt idx="133">
                  <c:v>336.02</c:v>
                </c:pt>
                <c:pt idx="134">
                  <c:v>341.68</c:v>
                </c:pt>
                <c:pt idx="135">
                  <c:v>337.42</c:v>
                </c:pt>
                <c:pt idx="136">
                  <c:v>332.29</c:v>
                </c:pt>
                <c:pt idx="137">
                  <c:v>339.32</c:v>
                </c:pt>
                <c:pt idx="138">
                  <c:v>338.89</c:v>
                </c:pt>
                <c:pt idx="139">
                  <c:v>344.4</c:v>
                </c:pt>
                <c:pt idx="140">
                  <c:v>350.34</c:v>
                </c:pt>
                <c:pt idx="141">
                  <c:v>349.78</c:v>
                </c:pt>
                <c:pt idx="142">
                  <c:v>349.94</c:v>
                </c:pt>
                <c:pt idx="143">
                  <c:v>384.8</c:v>
                </c:pt>
                <c:pt idx="144">
                  <c:v>385.69</c:v>
                </c:pt>
                <c:pt idx="145">
                  <c:v>383.25</c:v>
                </c:pt>
                <c:pt idx="146">
                  <c:v>388.43</c:v>
                </c:pt>
                <c:pt idx="147">
                  <c:v>398.04</c:v>
                </c:pt>
                <c:pt idx="148">
                  <c:v>397.99</c:v>
                </c:pt>
                <c:pt idx="149">
                  <c:v>400.8</c:v>
                </c:pt>
                <c:pt idx="150">
                  <c:v>388.64</c:v>
                </c:pt>
                <c:pt idx="151">
                  <c:v>387.35</c:v>
                </c:pt>
                <c:pt idx="152">
                  <c:v>402.62</c:v>
                </c:pt>
                <c:pt idx="153">
                  <c:v>401.07</c:v>
                </c:pt>
                <c:pt idx="154">
                  <c:v>396.78</c:v>
                </c:pt>
                <c:pt idx="155">
                  <c:v>396.94</c:v>
                </c:pt>
                <c:pt idx="156">
                  <c:v>387.66</c:v>
                </c:pt>
                <c:pt idx="157">
                  <c:v>388.91</c:v>
                </c:pt>
                <c:pt idx="158">
                  <c:v>387.66</c:v>
                </c:pt>
                <c:pt idx="159">
                  <c:v>382.97</c:v>
                </c:pt>
                <c:pt idx="160">
                  <c:v>388.88</c:v>
                </c:pt>
                <c:pt idx="161">
                  <c:v>388.83</c:v>
                </c:pt>
                <c:pt idx="162">
                  <c:v>390.13</c:v>
                </c:pt>
                <c:pt idx="163">
                  <c:v>380.34</c:v>
                </c:pt>
                <c:pt idx="164">
                  <c:v>376.37</c:v>
                </c:pt>
                <c:pt idx="165">
                  <c:v>361.85</c:v>
                </c:pt>
                <c:pt idx="166">
                  <c:v>358.99</c:v>
                </c:pt>
                <c:pt idx="167">
                  <c:v>372.19</c:v>
                </c:pt>
                <c:pt idx="168">
                  <c:v>368.53</c:v>
                </c:pt>
                <c:pt idx="169">
                  <c:v>363.31</c:v>
                </c:pt>
                <c:pt idx="170">
                  <c:v>364.26</c:v>
                </c:pt>
                <c:pt idx="171">
                  <c:v>356.38</c:v>
                </c:pt>
                <c:pt idx="172">
                  <c:v>357.77</c:v>
                </c:pt>
                <c:pt idx="173">
                  <c:v>359.68</c:v>
                </c:pt>
                <c:pt idx="174">
                  <c:v>369.35</c:v>
                </c:pt>
                <c:pt idx="175">
                  <c:v>373.25</c:v>
                </c:pt>
                <c:pt idx="176">
                  <c:v>363.79</c:v>
                </c:pt>
                <c:pt idx="177">
                  <c:v>368.03</c:v>
                </c:pt>
                <c:pt idx="178">
                  <c:v>349.68</c:v>
                </c:pt>
                <c:pt idx="179">
                  <c:v>346.13</c:v>
                </c:pt>
                <c:pt idx="180">
                  <c:v>345.29</c:v>
                </c:pt>
                <c:pt idx="181">
                  <c:v>343.71</c:v>
                </c:pt>
                <c:pt idx="182">
                  <c:v>337.39</c:v>
                </c:pt>
                <c:pt idx="183">
                  <c:v>353.65</c:v>
                </c:pt>
                <c:pt idx="184">
                  <c:v>357.37</c:v>
                </c:pt>
                <c:pt idx="185">
                  <c:v>361.21</c:v>
                </c:pt>
                <c:pt idx="186">
                  <c:v>359.91</c:v>
                </c:pt>
                <c:pt idx="187">
                  <c:v>366.46</c:v>
                </c:pt>
                <c:pt idx="188">
                  <c:v>367.03</c:v>
                </c:pt>
                <c:pt idx="189">
                  <c:v>361.92</c:v>
                </c:pt>
                <c:pt idx="190">
                  <c:v>358.89</c:v>
                </c:pt>
                <c:pt idx="191">
                  <c:v>357.18</c:v>
                </c:pt>
                <c:pt idx="192">
                  <c:v>352.51</c:v>
                </c:pt>
                <c:pt idx="193">
                  <c:v>359.51</c:v>
                </c:pt>
                <c:pt idx="194">
                  <c:v>370.92</c:v>
                </c:pt>
                <c:pt idx="195">
                  <c:v>354.46</c:v>
                </c:pt>
                <c:pt idx="196">
                  <c:v>346.77</c:v>
                </c:pt>
                <c:pt idx="197">
                  <c:v>351.99</c:v>
                </c:pt>
                <c:pt idx="198">
                  <c:v>347.15</c:v>
                </c:pt>
                <c:pt idx="199">
                  <c:v>342.09</c:v>
                </c:pt>
                <c:pt idx="200">
                  <c:v>317.69</c:v>
                </c:pt>
                <c:pt idx="201">
                  <c:v>319.74</c:v>
                </c:pt>
                <c:pt idx="202">
                  <c:v>326.56</c:v>
                </c:pt>
                <c:pt idx="203">
                  <c:v>333.71</c:v>
                </c:pt>
                <c:pt idx="204">
                  <c:v>336.71</c:v>
                </c:pt>
                <c:pt idx="205">
                  <c:v>333.66</c:v>
                </c:pt>
                <c:pt idx="206">
                  <c:v>356.13</c:v>
                </c:pt>
                <c:pt idx="207">
                  <c:v>373.51</c:v>
                </c:pt>
                <c:pt idx="208">
                  <c:v>377.65</c:v>
                </c:pt>
                <c:pt idx="209">
                  <c:v>362.43</c:v>
                </c:pt>
                <c:pt idx="210">
                  <c:v>357.75</c:v>
                </c:pt>
                <c:pt idx="211">
                  <c:v>354.3</c:v>
                </c:pt>
                <c:pt idx="212">
                  <c:v>357.52</c:v>
                </c:pt>
                <c:pt idx="213">
                  <c:v>343.8</c:v>
                </c:pt>
                <c:pt idx="214">
                  <c:v>343.54</c:v>
                </c:pt>
                <c:pt idx="215">
                  <c:v>346.36</c:v>
                </c:pt>
                <c:pt idx="216">
                  <c:v>345.9</c:v>
                </c:pt>
                <c:pt idx="217">
                  <c:v>344.0</c:v>
                </c:pt>
                <c:pt idx="218">
                  <c:v>344.2</c:v>
                </c:pt>
                <c:pt idx="219">
                  <c:v>344.72</c:v>
                </c:pt>
                <c:pt idx="220">
                  <c:v>340.67</c:v>
                </c:pt>
                <c:pt idx="221">
                  <c:v>344.82</c:v>
                </c:pt>
                <c:pt idx="222">
                  <c:v>348.06</c:v>
                </c:pt>
                <c:pt idx="223">
                  <c:v>346.96</c:v>
                </c:pt>
                <c:pt idx="224">
                  <c:v>342.0</c:v>
                </c:pt>
                <c:pt idx="225">
                  <c:v>340.65</c:v>
                </c:pt>
                <c:pt idx="226">
                  <c:v>346.59</c:v>
                </c:pt>
                <c:pt idx="227">
                  <c:v>339.35</c:v>
                </c:pt>
                <c:pt idx="228">
                  <c:v>335.02</c:v>
                </c:pt>
                <c:pt idx="229">
                  <c:v>337.12</c:v>
                </c:pt>
                <c:pt idx="230">
                  <c:v>342.48</c:v>
                </c:pt>
                <c:pt idx="231">
                  <c:v>338.46</c:v>
                </c:pt>
                <c:pt idx="232">
                  <c:v>338.36</c:v>
                </c:pt>
                <c:pt idx="233">
                  <c:v>330.65</c:v>
                </c:pt>
                <c:pt idx="234">
                  <c:v>332.6</c:v>
                </c:pt>
                <c:pt idx="235">
                  <c:v>338.5</c:v>
                </c:pt>
                <c:pt idx="236">
                  <c:v>349.39</c:v>
                </c:pt>
                <c:pt idx="237">
                  <c:v>344.98</c:v>
                </c:pt>
                <c:pt idx="238">
                  <c:v>342.87</c:v>
                </c:pt>
                <c:pt idx="239">
                  <c:v>347.33</c:v>
                </c:pt>
                <c:pt idx="240">
                  <c:v>349.54</c:v>
                </c:pt>
                <c:pt idx="241">
                  <c:v>354.97</c:v>
                </c:pt>
                <c:pt idx="242">
                  <c:v>351.16</c:v>
                </c:pt>
                <c:pt idx="243">
                  <c:v>337.83</c:v>
                </c:pt>
                <c:pt idx="244">
                  <c:v>342.36</c:v>
                </c:pt>
                <c:pt idx="245">
                  <c:v>343.92</c:v>
                </c:pt>
                <c:pt idx="246">
                  <c:v>342.75</c:v>
                </c:pt>
                <c:pt idx="247">
                  <c:v>340.92</c:v>
                </c:pt>
                <c:pt idx="248">
                  <c:v>344.08</c:v>
                </c:pt>
                <c:pt idx="249">
                  <c:v>338.24</c:v>
                </c:pt>
                <c:pt idx="250">
                  <c:v>343.5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ADCE0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tickLblSkip val="1"/>
        <c:tickMarkSkip val="20"/>
        <c:noMultiLvlLbl val="0"/>
      </c:catAx>
      <c:valAx>
        <c:axId val="2140495176"/>
        <c:scaling>
          <c:min val="220.0"/>
        </c:scaling>
        <c:delete val="0"/>
        <c:axPos val="l"/>
        <c:majorGridlines>
          <c:spPr>
            <a:ln>
              <a:solidFill>
                <a:srgbClr val="E8EAED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>
          <a:solidFill>
            <a:srgbClr val="70757A"/>
          </a:solidFill>
          <a:latin typeface="에스코어 드림 6 Bold"/>
          <a:ea typeface="에스코어 드림 6 Bol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매출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CAEEFB"/>
            </a:solidFill>
            <a:ln>
              <a:noFill/>
            </a:ln>
          </c:spPr>
          <c:dPt>
            <c:idx val="0"/>
            <c:spPr>
              <a:solidFill>
                <a:srgbClr val="CAEEFB"/>
              </a:solidFill>
              <a:ln>
                <a:noFill/>
              </a:ln>
            </c:spPr>
          </c:dPt>
          <c:dPt>
            <c:idx val="1"/>
            <c:spPr>
              <a:solidFill>
                <a:srgbClr val="CAEEFB"/>
              </a:solidFill>
              <a:ln>
                <a:noFill/>
              </a:ln>
            </c:spPr>
          </c:dPt>
          <c:dPt>
            <c:idx val="2"/>
            <c:spPr>
              <a:solidFill>
                <a:srgbClr val="CAEEFB"/>
              </a:solidFill>
              <a:ln>
                <a:noFill/>
              </a:ln>
            </c:spPr>
          </c:dPt>
          <c:dPt>
            <c:idx val="3"/>
            <c:spPr>
              <a:solidFill>
                <a:srgbClr val="CAEEFB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 wrap="none"/>
                  <a:lstStyle/>
                  <a:p>
                    <a:r>
                      <a:rPr sz="14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$2,828억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wrap="none"/>
                  <a:lstStyle/>
                  <a:p>
                    <a:r>
                      <a:rPr sz="14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$3,074억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wrap="none"/>
                  <a:lstStyle/>
                  <a:p>
                    <a:r>
                      <a:rPr sz="14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$3,500억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wrap="none"/>
                  <a:lstStyle/>
                  <a:p>
                    <a:r>
                      <a:rPr sz="14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$4,028억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2828.36</c:v>
                </c:pt>
                <c:pt idx="1">
                  <c:v>3073.94</c:v>
                </c:pt>
                <c:pt idx="2">
                  <c:v>3500.18</c:v>
                </c:pt>
                <c:pt idx="3">
                  <c:v>4028.36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CAEEF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400">
          <a:solidFill>
            <a:srgbClr val="CAEEFB"/>
          </a:solidFill>
          <a:latin typeface="에스코어 드림 6 Bold"/>
          <a:ea typeface="에스코어 드림 6 Bold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희석 EPS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CAEEFB"/>
            </a:solidFill>
            <a:ln>
              <a:noFill/>
            </a:ln>
          </c:spPr>
          <c:dPt>
            <c:idx val="0"/>
            <c:spPr>
              <a:solidFill>
                <a:srgbClr val="CAEEFB"/>
              </a:solidFill>
              <a:ln>
                <a:noFill/>
              </a:ln>
            </c:spPr>
          </c:dPt>
          <c:dPt>
            <c:idx val="1"/>
            <c:spPr>
              <a:solidFill>
                <a:srgbClr val="CAEEFB"/>
              </a:solidFill>
              <a:ln>
                <a:noFill/>
              </a:ln>
            </c:spPr>
          </c:dPt>
          <c:dPt>
            <c:idx val="2"/>
            <c:spPr>
              <a:solidFill>
                <a:srgbClr val="CAEEFB"/>
              </a:solidFill>
              <a:ln>
                <a:noFill/>
              </a:ln>
            </c:spPr>
          </c:dPt>
          <c:dPt>
            <c:idx val="3"/>
            <c:spPr>
              <a:solidFill>
                <a:srgbClr val="CAEEFB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 wrap="none"/>
                  <a:lstStyle/>
                  <a:p>
                    <a:r>
                      <a:rPr sz="14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$4.56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wrap="none"/>
                  <a:lstStyle/>
                  <a:p>
                    <a:r>
                      <a:rPr sz="14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$5.80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wrap="none"/>
                  <a:lstStyle/>
                  <a:p>
                    <a:r>
                      <a:rPr sz="14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$8.04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wrap="none"/>
                  <a:lstStyle/>
                  <a:p>
                    <a:r>
                      <a:rPr sz="14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$10.81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4.56</c:v>
                </c:pt>
                <c:pt idx="1">
                  <c:v>5.8</c:v>
                </c:pt>
                <c:pt idx="2">
                  <c:v>8.04</c:v>
                </c:pt>
                <c:pt idx="3">
                  <c:v>10.81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CAEEF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400">
          <a:solidFill>
            <a:srgbClr val="CAEEFB"/>
          </a:solidFill>
          <a:latin typeface="에스코어 드림 6 Bold"/>
          <a:ea typeface="에스코어 드림 6 Bold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희석 주식수 (억주)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CAEEFB"/>
            </a:solidFill>
            <a:ln>
              <a:noFill/>
            </a:ln>
          </c:spPr>
          <c:dPt>
            <c:idx val="0"/>
            <c:spPr>
              <a:solidFill>
                <a:srgbClr val="CAEEFB"/>
              </a:solidFill>
              <a:ln>
                <a:noFill/>
              </a:ln>
            </c:spPr>
          </c:dPt>
          <c:dPt>
            <c:idx val="1"/>
            <c:spPr>
              <a:solidFill>
                <a:srgbClr val="CAEEFB"/>
              </a:solidFill>
              <a:ln>
                <a:noFill/>
              </a:ln>
            </c:spPr>
          </c:dPt>
          <c:dPt>
            <c:idx val="2"/>
            <c:spPr>
              <a:solidFill>
                <a:srgbClr val="CAEEFB"/>
              </a:solidFill>
              <a:ln>
                <a:noFill/>
              </a:ln>
            </c:spPr>
          </c:dPt>
          <c:dPt>
            <c:idx val="3"/>
            <c:spPr>
              <a:solidFill>
                <a:srgbClr val="CAEEFB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 wrap="none"/>
                  <a:lstStyle/>
                  <a:p>
                    <a:r>
                      <a:rPr sz="14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131.6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wrap="none"/>
                  <a:lstStyle/>
                  <a:p>
                    <a:r>
                      <a:rPr sz="14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127.2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wrap="none"/>
                  <a:lstStyle/>
                  <a:p>
                    <a:r>
                      <a:rPr sz="14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124.5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wrap="none"/>
                  <a:lstStyle/>
                  <a:p>
                    <a:r>
                      <a:rPr sz="14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122.3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131.59</c:v>
                </c:pt>
                <c:pt idx="1">
                  <c:v>127.22</c:v>
                </c:pt>
                <c:pt idx="2">
                  <c:v>124.47</c:v>
                </c:pt>
                <c:pt idx="3">
                  <c:v>122.3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CAEEF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400">
          <a:solidFill>
            <a:srgbClr val="CAEEFB"/>
          </a:solidFill>
          <a:latin typeface="에스코어 드림 6 Bold"/>
          <a:ea typeface="에스코어 드림 6 Bold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CAEEFB"/>
            </a:solidFill>
            <a:ln>
              <a:noFill/>
            </a:ln>
          </c:spPr>
          <c:dPt>
            <c:idx val="0"/>
            <c:spPr>
              <a:solidFill>
                <a:srgbClr val="CAEEFB"/>
              </a:solidFill>
              <a:ln>
                <a:noFill/>
              </a:ln>
            </c:spPr>
          </c:dPt>
          <c:dPt>
            <c:idx val="1"/>
            <c:spPr>
              <a:solidFill>
                <a:srgbClr val="CAEEFB"/>
              </a:solidFill>
              <a:ln>
                <a:noFill/>
              </a:ln>
            </c:spPr>
          </c:dPt>
          <c:dPt>
            <c:idx val="2"/>
            <c:spPr>
              <a:solidFill>
                <a:srgbClr val="CAEEFB"/>
              </a:solidFill>
              <a:ln>
                <a:noFill/>
              </a:ln>
            </c:spPr>
          </c:dPt>
          <c:dPt>
            <c:idx val="3"/>
            <c:spPr>
              <a:solidFill>
                <a:srgbClr val="F6C6AD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$323억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$525억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$914억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F6C6AD"/>
                        </a:solidFill>
                        <a:latin typeface="에스코어 드림 6 Bold"/>
                        <a:ea typeface="에스코어 드림 6 Bold"/>
                      </a:rPr>
                      <a:t>$1,800~1,900억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322.51</c:v>
                </c:pt>
                <c:pt idx="1">
                  <c:v>525.35</c:v>
                </c:pt>
                <c:pt idx="2">
                  <c:v>914.47</c:v>
                </c:pt>
                <c:pt idx="3">
                  <c:v>1850.0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800">
                <a:solidFill>
                  <a:srgbClr val="CAEEF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800">
          <a:solidFill>
            <a:srgbClr val="CAEEFB"/>
          </a:solidFill>
          <a:latin typeface="에스코어 드림 6 Bold"/>
          <a:ea typeface="에스코어 드림 6 Bold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CAEEFB"/>
            </a:solidFill>
            <a:ln>
              <a:noFill/>
            </a:ln>
          </c:spPr>
          <c:dPt>
            <c:idx val="0"/>
            <c:spPr>
              <a:solidFill>
                <a:srgbClr val="CAEEFB"/>
              </a:solidFill>
              <a:ln>
                <a:noFill/>
              </a:ln>
            </c:spPr>
          </c:dPt>
          <c:dPt>
            <c:idx val="1"/>
            <c:spPr>
              <a:solidFill>
                <a:srgbClr val="CAEEFB"/>
              </a:solidFill>
              <a:ln>
                <a:noFill/>
              </a:ln>
            </c:spPr>
          </c:dPt>
          <c:dPt>
            <c:idx val="2"/>
            <c:spPr>
              <a:solidFill>
                <a:srgbClr val="CAEEFB"/>
              </a:solidFill>
              <a:ln>
                <a:noFill/>
              </a:ln>
            </c:spPr>
          </c:dPt>
          <c:dPt>
            <c:idx val="3"/>
            <c:spPr>
              <a:solidFill>
                <a:srgbClr val="F6C6AD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FFFF00"/>
                        </a:solidFill>
                        <a:latin typeface="에스코어 드림 6 Bold"/>
                        <a:ea typeface="에스코어 드림 6 Bold"/>
                      </a:rPr>
                      <a:t>10.5%</a:t>
                    </a:r>
                  </a:p>
                  <a:p>
                    <a:r>
                      <a:rPr sz="18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$323억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FFFF00"/>
                        </a:solidFill>
                        <a:latin typeface="에스코어 드림 6 Bold"/>
                        <a:ea typeface="에스코어 드림 6 Bold"/>
                      </a:rPr>
                      <a:t>15%</a:t>
                    </a:r>
                  </a:p>
                  <a:p>
                    <a:r>
                      <a:rPr sz="18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$525억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FFFF00"/>
                        </a:solidFill>
                        <a:latin typeface="에스코어 드림 6 Bold"/>
                        <a:ea typeface="에스코어 드림 6 Bold"/>
                      </a:rPr>
                      <a:t>23%</a:t>
                    </a:r>
                  </a:p>
                  <a:p>
                    <a:r>
                      <a:rPr sz="18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$914억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FFFF00"/>
                        </a:solidFill>
                        <a:latin typeface="에스코어 드림 6 Bold"/>
                        <a:ea typeface="에스코어 드림 6 Bold"/>
                      </a:rPr>
                      <a:t>40%</a:t>
                    </a:r>
                  </a:p>
                  <a:p>
                    <a:r>
                      <a:rPr sz="1800" lang="ko-KR" altLang="en-US">
                        <a:solidFill>
                          <a:srgbClr val="F6C6AD"/>
                        </a:solidFill>
                        <a:latin typeface="에스코어 드림 6 Bold"/>
                        <a:ea typeface="에스코어 드림 6 Bold"/>
                      </a:rPr>
                      <a:t>$1,800~1,900억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323.0</c:v>
                </c:pt>
                <c:pt idx="1">
                  <c:v>525.0</c:v>
                </c:pt>
                <c:pt idx="2">
                  <c:v>914.0</c:v>
                </c:pt>
                <c:pt idx="3">
                  <c:v>1850.0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800">
                <a:solidFill>
                  <a:srgbClr val="CAEEF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800">
          <a:solidFill>
            <a:srgbClr val="CAEEFB"/>
          </a:solidFill>
          <a:latin typeface="에스코어 드림 6 Bold"/>
          <a:ea typeface="에스코어 드림 6 Bol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공부할 기업은 구글 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알파벳 주가는 최근 1년 동안 이렇게 움직였습니다.</a:t>
            </a:r>
          </a:p>
          <a:p>
            <a:r>
              <a:t>(차트의 주가·시가총액은 fetch_data.py를 실행한 날 기준으로 자동 갱신됩니다.)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알파벳은 온라인 광고, 클라우드 솔루션, 구독 서비스 및</a:t>
            </a:r>
          </a:p>
          <a:p>
            <a:r>
              <a:t>인앱 결제 등을 통해 수익을 창출하는</a:t>
            </a:r>
          </a:p>
          <a:p>
            <a:r>
              <a:t>글로벌 IT 회사입니다.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먼저 회사 역사를 설명드리겠습니다.</a:t>
            </a:r>
          </a:p>
          <a:p>
            <a:r>
              <a:t>지금으로부터 30년 전인 1995년,</a:t>
            </a:r>
          </a:p>
          <a:p>
            <a:r>
              <a:t>스탠포드 대학교 박사과정 대학원생이었던</a:t>
            </a:r>
          </a:p>
          <a:p>
            <a:r>
              <a:t>래리 페이지와 세르게이 브린이 서로를 만납니다.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구글은 방대해진 사업 구조를 효율적으로 처리하기 위해</a:t>
            </a:r>
          </a:p>
          <a:p>
            <a:r>
              <a:t>2015년, 알파벳 지주회사 체제로 전환했습니다.</a:t>
            </a:r>
          </a:p>
          <a:p>
            <a:r>
              <a:t>(나)</a:t>
            </a:r>
          </a:p>
          <a:p>
            <a:r>
              <a:t>핵심 사업은 구글 산하에 두고</a:t>
            </a:r>
          </a:p>
          <a:p>
            <a:r>
              <a:t>자율주행이나 생명과학 같은 미래 사업은</a:t>
            </a:r>
          </a:p>
          <a:p>
            <a:r>
              <a:t>Other bets 라는 별도 자회사로 분리했습니다.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CEO는 누구일까요?</a:t>
            </a:r>
          </a:p>
          <a:p>
            <a:r>
              <a:t>(나)</a:t>
            </a:r>
          </a:p>
          <a:p>
            <a:r>
              <a:t>순다르 피차이는 1972년생으로</a:t>
            </a:r>
          </a:p>
          <a:p>
            <a:r>
              <a:t>인도의 IIT 카락푸르에서 금속공학 학사,</a:t>
            </a:r>
          </a:p>
          <a:p>
            <a:r>
              <a:t>스탠퍼드 대학교에서 재료과학 석사,</a:t>
            </a:r>
          </a:p>
          <a:p>
            <a:r>
              <a:t>그리고 펜실베니아 대학교 와튼스쿨에서 MBA 과정을 밟았습니다.</a:t>
            </a:r>
          </a:p>
          <a:p>
            <a:r>
              <a:t>(나)</a:t>
            </a:r>
          </a:p>
          <a:p>
            <a:r>
              <a:t>2004년에 구글에 입사한 이후</a:t>
            </a:r>
          </a:p>
          <a:p>
            <a:r>
              <a:t>서치, 크롬, 맵스, 안드로이드, 지메일 같은</a:t>
            </a:r>
          </a:p>
          <a:p>
            <a:r>
              <a:t>핵심 제품 관리를 주도하며 초고속 승진을 거듭했습니다.</a:t>
            </a:r>
          </a:p>
          <a:p>
            <a:r>
              <a:t>(나)</a:t>
            </a:r>
          </a:p>
          <a:p>
            <a:r>
              <a:t>결국 2015년에 구글의 CEO로 취임했고</a:t>
            </a:r>
          </a:p>
          <a:p>
            <a:r>
              <a:t>2019년부터 현재까지 알파벳의 CEO를 겸임하고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알파벳은 돈을 어떻게 벌까요?</a:t>
            </a:r>
          </a:p>
          <a:p>
            <a:r>
              <a:t>크게 세가지로 나눠볼 수 있습니다.</a:t>
            </a:r>
          </a:p>
          <a:p>
            <a:r>
              <a:t>(나)</a:t>
            </a:r>
          </a:p>
          <a:p>
            <a:r>
              <a:t>첫번째는 구글 서비스로 안드로이드, 크롬, 유튜브가 여기에 포함됩니다.</a:t>
            </a:r>
          </a:p>
          <a:p>
            <a:r>
              <a:t>광고 매출과 구독 매출이 주를 이룹니다.</a:t>
            </a:r>
          </a:p>
          <a:p>
            <a:r>
              <a:t>(나)</a:t>
            </a:r>
          </a:p>
          <a:p>
            <a:r>
              <a:t>두번째는 기업 고객을 대상으로 하는 구글 클라우드 사업입니다.</a:t>
            </a:r>
          </a:p>
          <a:p>
            <a:r>
              <a:t>(나)</a:t>
            </a:r>
          </a:p>
          <a:p>
            <a:r>
              <a:t>마지막 세번째는 Other Bets 로, 현재 주 매출원은 자율주행 서비스 웨이모 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연도별 실적 추이를 보겠습니다.</a:t>
            </a:r>
          </a:p>
          <a:p>
            <a:r>
              <a:t>(나)</a:t>
            </a:r>
          </a:p>
          <a:p>
            <a:r>
              <a:t>알파벳은 2022년 매출 2,828억 달러를 기록했는데</a:t>
            </a:r>
          </a:p>
          <a:p>
            <a:r>
              <a:t>2025년 4,028억 달러까지 꾸준히 10% 내외 성장하고 있습니다.</a:t>
            </a:r>
          </a:p>
          <a:p>
            <a:r>
              <a:t>(나)</a:t>
            </a:r>
          </a:p>
          <a:p>
            <a:r>
              <a:t>EPS도 2022년 4.56달러에서 2025년 10.81달러로 폭발적으로 증가했습니다.</a:t>
            </a:r>
          </a:p>
          <a:p>
            <a:r>
              <a:t>(나)</a:t>
            </a:r>
          </a:p>
          <a:p>
            <a:r>
              <a:t>그 와중에 자사주를 꾸준히 매입해</a:t>
            </a:r>
          </a:p>
          <a:p>
            <a:r>
              <a:t>희석 주식수는 131.6억주에서 122.3억주로 감소했습니다.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주식창에 알파벳을 검색하시면 티커 GOOG와 GOOGL, 이 두 가지가 나옵니다.</a:t>
            </a:r>
          </a:p>
          <a:p>
            <a:r>
              <a:t>(나)</a:t>
            </a:r>
          </a:p>
          <a:p>
            <a:r>
              <a:t>GOOGL은 Class A 보통주이고 GOOG는 Class C 주식입니다.</a:t>
            </a:r>
          </a:p>
          <a:p>
            <a:r>
              <a:t>(나)</a:t>
            </a:r>
          </a:p>
          <a:p>
            <a:r>
              <a:t>차이점은 단 하나, 의결권입니다.</a:t>
            </a:r>
          </a:p>
          <a:p>
            <a:r>
              <a:t>Class A 는 1주당 1표, Class B는 1주당 10표를 행사할 수 있지만</a:t>
            </a:r>
          </a:p>
          <a:p>
            <a:r>
              <a:t>Class C는 의결권이 없습니다.</a:t>
            </a:r>
          </a:p>
          <a:p>
            <a:r>
              <a:t>이걸 제외하면 경제적 지분 및 배당권리가 셋 다 동일합니다.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실적이 어떻게 나왔을지 궁금하시죠?</a:t>
            </a:r>
          </a:p>
          <a:p>
            <a:r>
              <a:t>4월말에 발표된 1분기 어닝콜을 정리해드리겠습니다.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이제 1분기 손익계산서를 보겠습니다.</a:t>
            </a:r>
          </a:p>
          <a:p>
            <a:r>
              <a:t>(나)</a:t>
            </a:r>
          </a:p>
          <a:p>
            <a:r>
              <a:t>매출은 전년동기대비 22% 성장해 1,099억 달러를 기록했습니다.</a:t>
            </a:r>
          </a:p>
          <a:p>
            <a:r>
              <a:t>(나)</a:t>
            </a:r>
          </a:p>
          <a:p>
            <a:r>
              <a:t>매출총이익은 27% 증가한 686억 달러를 기록했습니다.</a:t>
            </a:r>
          </a:p>
          <a:p>
            <a:r>
              <a:t>(나)</a:t>
            </a:r>
          </a:p>
          <a:p>
            <a:r>
              <a:t>영업이익은 30% 증가해 397억 달러, 영업이익률은 36.1%를 기록했습니다.</a:t>
            </a:r>
          </a:p>
          <a:p>
            <a:r>
              <a:t>(나)</a:t>
            </a:r>
          </a:p>
          <a:p>
            <a:r>
              <a:t>당기순이익과 희석 EPS는 전년대비 81% 폭증했는데</a:t>
            </a:r>
          </a:p>
          <a:p>
            <a:r>
              <a:t>비상장 증권 평가이익이 크게 늘었기 때문입니다.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한편 구글은 올해 연간 CapEx 가이던스를</a:t>
            </a:r>
          </a:p>
          <a:p>
            <a:r>
              <a:t>1,750억~1,850억 달러에서</a:t>
            </a:r>
          </a:p>
          <a:p>
            <a:r>
              <a:t>1,800억~1,900억 달러로 상향했습니다.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실제로 매출액 대비 CapEx 비율은</a:t>
            </a:r>
          </a:p>
          <a:p>
            <a:r>
              <a:t>(나)</a:t>
            </a:r>
          </a:p>
          <a:p>
            <a:r>
              <a:t>2023년 10%,</a:t>
            </a:r>
          </a:p>
          <a:p>
            <a:r>
              <a:t>(나)</a:t>
            </a:r>
          </a:p>
          <a:p>
            <a:r>
              <a:t>2024년 15%,</a:t>
            </a:r>
          </a:p>
          <a:p>
            <a:r>
              <a:t>(나)</a:t>
            </a:r>
          </a:p>
          <a:p>
            <a:r>
              <a:t>그리고 2025년 23% 까지 늘어났습니다.</a:t>
            </a:r>
          </a:p>
          <a:p>
            <a:r>
              <a:t>(나)</a:t>
            </a:r>
          </a:p>
          <a:p>
            <a:r>
              <a:t>2026년에는 이 비율이 40%까지 치솟을 예정입니다.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어닝콜 후 경영진과 애널리스트 간의 Q&amp;A 가 있었습니다.</a:t>
            </a:r>
          </a:p>
          <a:p>
            <a:r>
              <a:t>주요 문답을 정리해드리겠습니다.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첫번째 질문입니다.</a:t>
            </a:r>
          </a:p>
          <a:p>
            <a:r>
              <a:t>구글 검색 쿼리가 사상 최고치를 기록 중인데 그 이유가 무엇인지 물었습니다.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이제 투자포인트와 리스크를 생각해보겠습니다.</a:t>
            </a:r>
          </a:p>
          <a:p>
            <a:r>
              <a:t>첫번째 투자포인트는 구글이 수직계열화된</a:t>
            </a:r>
          </a:p>
          <a:p>
            <a:r>
              <a:t>AI 풀스택 플랫폼을 보유하고 있다는 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이상 구글의 기업분석을 마치겠습니다.</a:t>
            </a:r>
          </a:p>
          <a:p>
            <a:r>
              <a:t>영상이 도움되셨다면 구독, 좋아요, 댓글 꼭 부탁드립니다.</a:t>
            </a:r>
          </a:p>
          <a:p>
            <a:r>
              <a:t>큰 힘이 됩니다.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jp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5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6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oog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003" y="320040"/>
            <a:ext cx="9993688" cy="3383280"/>
          </a:xfrm>
          <a:prstGeom prst="rect">
            <a:avLst/>
          </a:prstGeom>
        </p:spPr>
      </p:pic>
      <p:sp>
        <p:nvSpPr>
          <p:cNvPr id="3" name="제목"/>
          <p:cNvSpPr txBox="1"/>
          <p:nvPr/>
        </p:nvSpPr>
        <p:spPr>
          <a:xfrm>
            <a:off x="822960" y="3840480"/>
            <a:ext cx="10789920" cy="2651760"/>
          </a:xfrm>
          <a:prstGeom prst="rect">
            <a:avLst/>
          </a:prstGeom>
          <a:noFill/>
        </p:spPr>
        <p:txBody>
          <a:bodyPr wrap="none" anchor="b" lIns="45720" rIns="45720">
            <a:spAutoFit/>
          </a:bodyPr>
          <a:lstStyle/>
          <a:p>
            <a:r>
              <a:rPr sz="14000" lang="ko-KR" altLang="en-US">
                <a:solidFill>
                  <a:srgbClr val="FFFFFF"/>
                </a:solidFill>
                <a:latin typeface="여기어때 잘난체 고딕"/>
                <a:ea typeface="여기어때 잘난체 고딕"/>
              </a:rPr>
              <a:t>구글</a:t>
            </a:r>
            <a:r>
              <a:rPr sz="8400" lang="ko-KR" altLang="en-US">
                <a:solidFill>
                  <a:srgbClr val="FFFFFF"/>
                </a:solidFill>
                <a:latin typeface="여기어때 잘난체 고딕"/>
                <a:ea typeface="여기어때 잘난체 고딕"/>
              </a:rPr>
              <a:t>   기업분석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3395037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alphab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33756"/>
            <a:ext cx="1280944" cy="310896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600984" y="274320"/>
            <a:ext cx="1611172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주가 흐름</a:t>
            </a:r>
          </a:p>
        </p:txBody>
      </p:sp>
      <p:sp>
        <p:nvSpPr>
          <p:cNvPr id="5" name="주가 카드"/>
          <p:cNvSpPr/>
          <p:nvPr/>
        </p:nvSpPr>
        <p:spPr>
          <a:xfrm>
            <a:off x="841248" y="914400"/>
            <a:ext cx="10515600" cy="5532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051560"/>
            <a:ext cx="100584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lang="ko-KR" altLang="en-US">
                <a:solidFill>
                  <a:srgbClr val="202124"/>
                </a:solidFill>
                <a:latin typeface="에스코어 드림 6 Bold"/>
                <a:ea typeface="에스코어 드림 6 Bold"/>
              </a:rPr>
              <a:t>Alphabet Inc. (GOOGL) · NasdaqGS</a:t>
            </a:r>
          </a:p>
          <a:p>
            <a:r>
              <a:rPr sz="2600" lang="ko-KR" altLang="en-US">
                <a:solidFill>
                  <a:srgbClr val="202124"/>
                </a:solidFill>
                <a:latin typeface="에스코어 드림 7 ExtraBold"/>
                <a:ea typeface="에스코어 드림 7 ExtraBold"/>
              </a:rPr>
              <a:t>343.50 USD</a:t>
            </a:r>
          </a:p>
          <a:p>
            <a:r>
              <a:rPr sz="1300" lang="ko-KR" altLang="en-US">
                <a:solidFill>
                  <a:srgbClr val="D93025"/>
                </a:solidFill>
                <a:latin typeface="에스코어 드림 6 Bold"/>
                <a:ea typeface="에스코어 드림 6 Bold"/>
              </a:rPr>
              <a:t>+98.15 (+40.0%) 1년 · 2026-10-02 종가</a:t>
            </a:r>
          </a:p>
        </p:txBody>
      </p:sp>
      <p:graphicFrame>
        <p:nvGraphicFramePr>
          <p:cNvPr id="7" name="주가 그래프"/>
          <p:cNvGraphicFramePr>
            <a:graphicFrameLocks noGrp="1"/>
          </p:cNvGraphicFramePr>
          <p:nvPr/>
        </p:nvGraphicFramePr>
        <p:xfrm>
          <a:off x="932688" y="2148840"/>
          <a:ext cx="10332720" cy="3483863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69848" y="5724144"/>
            <a:ext cx="326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lang="ko-KR" altLang="en-US">
                <a:solidFill>
                  <a:srgbClr val="70757A"/>
                </a:solidFill>
                <a:latin typeface="에스코어 드림 6 Bold"/>
                <a:ea typeface="에스코어 드림 6 Bold"/>
              </a:rPr>
              <a:t>시가총액  </a:t>
            </a:r>
            <a:r>
              <a:rPr sz="1100" lang="ko-KR" altLang="en-US">
                <a:solidFill>
                  <a:srgbClr val="202124"/>
                </a:solidFill>
                <a:latin typeface="에스코어 드림 6 Bold"/>
                <a:ea typeface="에스코어 드림 6 Bold"/>
              </a:rPr>
              <a:t>$4.20조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2647" y="5724144"/>
            <a:ext cx="326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lang="ko-KR" altLang="en-US">
                <a:solidFill>
                  <a:srgbClr val="70757A"/>
                </a:solidFill>
                <a:latin typeface="에스코어 드림 6 Bold"/>
                <a:ea typeface="에스코어 드림 6 Bold"/>
              </a:rPr>
              <a:t>P/E  </a:t>
            </a:r>
            <a:r>
              <a:rPr sz="1100" lang="ko-KR" altLang="en-US">
                <a:solidFill>
                  <a:srgbClr val="202124"/>
                </a:solidFill>
                <a:latin typeface="에스코어 드림 6 Bold"/>
                <a:ea typeface="에스코어 드림 6 Bold"/>
              </a:rPr>
              <a:t>17.2배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5448" y="5724144"/>
            <a:ext cx="326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lang="ko-KR" altLang="en-US">
                <a:solidFill>
                  <a:srgbClr val="70757A"/>
                </a:solidFill>
                <a:latin typeface="에스코어 드림 6 Bold"/>
                <a:ea typeface="에스코어 드림 6 Bold"/>
              </a:rPr>
              <a:t>배당수익률  </a:t>
            </a:r>
            <a:r>
              <a:rPr sz="1100" lang="ko-KR" altLang="en-US">
                <a:solidFill>
                  <a:srgbClr val="202124"/>
                </a:solidFill>
                <a:latin typeface="에스코어 드림 6 Bold"/>
                <a:ea typeface="에스코어 드림 6 Bold"/>
              </a:rPr>
              <a:t>0.25%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6016752"/>
            <a:ext cx="326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lang="ko-KR" altLang="en-US">
                <a:solidFill>
                  <a:srgbClr val="70757A"/>
                </a:solidFill>
                <a:latin typeface="에스코어 드림 6 Bold"/>
                <a:ea typeface="에스코어 드림 6 Bold"/>
              </a:rPr>
              <a:t>52주 최고  </a:t>
            </a:r>
            <a:r>
              <a:rPr sz="1100" lang="ko-KR" altLang="en-US">
                <a:solidFill>
                  <a:srgbClr val="202124"/>
                </a:solidFill>
                <a:latin typeface="에스코어 드림 6 Bold"/>
                <a:ea typeface="에스코어 드림 6 Bold"/>
              </a:rPr>
              <a:t>408.61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2647" y="6016752"/>
            <a:ext cx="326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lang="ko-KR" altLang="en-US">
                <a:solidFill>
                  <a:srgbClr val="70757A"/>
                </a:solidFill>
                <a:latin typeface="에스코어 드림 6 Bold"/>
                <a:ea typeface="에스코어 드림 6 Bold"/>
              </a:rPr>
              <a:t>52주 최저  </a:t>
            </a:r>
            <a:r>
              <a:rPr sz="1100" lang="ko-KR" altLang="en-US">
                <a:solidFill>
                  <a:srgbClr val="202124"/>
                </a:solidFill>
                <a:latin typeface="에스코어 드림 6 Bold"/>
                <a:ea typeface="에스코어 드림 6 Bold"/>
              </a:rPr>
              <a:t>235.84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5448" y="6016752"/>
            <a:ext cx="326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lang="ko-KR" altLang="en-US">
                <a:solidFill>
                  <a:srgbClr val="70757A"/>
                </a:solidFill>
                <a:latin typeface="에스코어 드림 6 Bold"/>
                <a:ea typeface="에스코어 드림 6 Bold"/>
              </a:rPr>
              <a:t>발행주식수  </a:t>
            </a:r>
            <a:r>
              <a:rPr sz="1100" lang="ko-KR" altLang="en-US">
                <a:solidFill>
                  <a:srgbClr val="202124"/>
                </a:solidFill>
                <a:latin typeface="에스코어 드림 6 Bold"/>
                <a:ea typeface="에스코어 드림 6 Bold"/>
              </a:rPr>
              <a:t>122.3억주</a:t>
            </a:r>
          </a:p>
        </p:txBody>
      </p:sp>
      <p:sp>
        <p:nvSpPr>
          <p:cNvPr id="14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Yahoo Finance, SEC 10-Q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3612664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alphab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33756"/>
            <a:ext cx="1280944" cy="310896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600984" y="274320"/>
            <a:ext cx="1828800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사업한줄평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492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온라인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광고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,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클라우드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솔루션,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구독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서비스 및 인앱 결제를 통해 수익 창출</a:t>
            </a:r>
          </a:p>
        </p:txBody>
      </p:sp>
      <p:pic>
        <p:nvPicPr>
          <p:cNvPr id="6" name="Picture 5" descr="googleplex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8432" y="1608327"/>
            <a:ext cx="8601230" cy="4838192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2679976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alphab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33756"/>
            <a:ext cx="1280944" cy="310896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600984" y="274320"/>
            <a:ext cx="89611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역사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492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(1995)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Larry Page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와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Sergey Brin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, 스탠포드 캠퍼스에서 조우</a:t>
            </a:r>
          </a:p>
        </p:txBody>
      </p:sp>
      <p:pic>
        <p:nvPicPr>
          <p:cNvPr id="6" name="Picture 5" descr="larry_p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2539" y="1608327"/>
            <a:ext cx="3631572" cy="4838192"/>
          </a:xfrm>
          <a:prstGeom prst="rect">
            <a:avLst/>
          </a:prstGeom>
        </p:spPr>
      </p:pic>
      <p:pic>
        <p:nvPicPr>
          <p:cNvPr id="7" name="Picture 6" descr="sergey_bri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432" y="1608327"/>
            <a:ext cx="3327123" cy="4838192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2679976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alphab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33756"/>
            <a:ext cx="1280944" cy="310896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600984" y="274320"/>
            <a:ext cx="89611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역사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8483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(2015)  지주회사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Alphabet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설립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자회사:  Google ,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Other Bets</a:t>
            </a:r>
          </a:p>
        </p:txBody>
      </p:sp>
      <p:pic>
        <p:nvPicPr>
          <p:cNvPr id="6" name="Picture 5" descr="alphab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929112"/>
            <a:ext cx="10515600" cy="2552223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2673758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alphab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33756"/>
            <a:ext cx="1280944" cy="310896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600984" y="274320"/>
            <a:ext cx="889894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CEO</a:t>
            </a:r>
          </a:p>
        </p:txBody>
      </p:sp>
      <p:pic>
        <p:nvPicPr>
          <p:cNvPr id="5" name="Picture 4" descr="sundar_picha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30" y="1005840"/>
            <a:ext cx="3625859" cy="5440679"/>
          </a:xfrm>
          <a:prstGeom prst="rect">
            <a:avLst/>
          </a:prstGeom>
        </p:spPr>
      </p:pic>
      <p:sp>
        <p:nvSpPr>
          <p:cNvPr id="6" name="본문"/>
          <p:cNvSpPr txBox="1"/>
          <p:nvPr/>
        </p:nvSpPr>
        <p:spPr>
          <a:xfrm>
            <a:off x="5120640" y="1188720"/>
            <a:ext cx="6705295" cy="37820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Sundar Pichai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(1972년생)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12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/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인도 IIT Kharagpur 금속공학 학사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미국 스탠포드 대학교 재료과학 석사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미국 펜실베니아 대학교 와튼스쿨 MBA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12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/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(2004)  구글 입사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Search, Chrome, Maps, Android, Gmail 등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12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/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(2015~)  구글 CEO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(2019~)  알파벳 CEO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3395037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alphab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33756"/>
            <a:ext cx="1280944" cy="310896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600984" y="274320"/>
            <a:ext cx="1611172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매출 구성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868680" y="1889760"/>
            <a:ext cx="1280160" cy="140208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사업부 1"/>
          <p:cNvSpPr/>
          <p:nvPr/>
        </p:nvSpPr>
        <p:spPr>
          <a:xfrm>
            <a:off x="2377440" y="1409700"/>
            <a:ext cx="3291840" cy="960120"/>
          </a:xfrm>
          <a:prstGeom prst="rect">
            <a:avLst/>
          </a:prstGeom>
          <a:solidFill>
            <a:srgbClr val="D9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1) Google Services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5852160" y="1560576"/>
            <a:ext cx="777240" cy="329184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766560" y="1277112"/>
            <a:ext cx="4967935" cy="566928"/>
          </a:xfrm>
          <a:prstGeom prst="rect">
            <a:avLst/>
          </a:prstGeom>
          <a:solidFill>
            <a:srgbClr val="D9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Advertising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52160" y="1889760"/>
            <a:ext cx="777240" cy="329184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766560" y="1935480"/>
            <a:ext cx="4967935" cy="566928"/>
          </a:xfrm>
          <a:prstGeom prst="rect">
            <a:avLst/>
          </a:prstGeom>
          <a:solidFill>
            <a:srgbClr val="D9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Subscriptions, Platforms and Devices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" y="3291840"/>
            <a:ext cx="1280160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사업부 2"/>
          <p:cNvSpPr/>
          <p:nvPr/>
        </p:nvSpPr>
        <p:spPr>
          <a:xfrm>
            <a:off x="2377440" y="2811780"/>
            <a:ext cx="3291840" cy="960120"/>
          </a:xfrm>
          <a:prstGeom prst="rect">
            <a:avLst/>
          </a:prstGeom>
          <a:solidFill>
            <a:srgbClr val="D9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2) Google Cloud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" y="3291840"/>
            <a:ext cx="1280160" cy="140208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사업부 3"/>
          <p:cNvSpPr/>
          <p:nvPr/>
        </p:nvSpPr>
        <p:spPr>
          <a:xfrm>
            <a:off x="2377440" y="4213860"/>
            <a:ext cx="3291840" cy="960120"/>
          </a:xfrm>
          <a:prstGeom prst="rect">
            <a:avLst/>
          </a:prstGeom>
          <a:solidFill>
            <a:srgbClr val="D9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3) Other Bets</a:t>
            </a:r>
          </a:p>
        </p:txBody>
      </p:sp>
      <p:pic>
        <p:nvPicPr>
          <p:cNvPr id="15" name="Picture 14" descr="youtub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5792665"/>
            <a:ext cx="1756170" cy="393309"/>
          </a:xfrm>
          <a:prstGeom prst="rect">
            <a:avLst/>
          </a:prstGeom>
        </p:spPr>
      </p:pic>
      <p:pic>
        <p:nvPicPr>
          <p:cNvPr id="16" name="Picture 15" descr="google_clou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850" y="5792665"/>
            <a:ext cx="2534071" cy="393309"/>
          </a:xfrm>
          <a:prstGeom prst="rect">
            <a:avLst/>
          </a:prstGeom>
        </p:spPr>
      </p:pic>
      <p:pic>
        <p:nvPicPr>
          <p:cNvPr id="17" name="Picture 16" descr="waymo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48242" y="5792665"/>
            <a:ext cx="556077" cy="393309"/>
          </a:xfrm>
          <a:prstGeom prst="rect">
            <a:avLst/>
          </a:prstGeom>
        </p:spPr>
      </p:pic>
      <p:sp>
        <p:nvSpPr>
          <p:cNvPr id="18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Alphabet 10-K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4420994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alphab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33756"/>
            <a:ext cx="1280944" cy="310896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600984" y="274320"/>
            <a:ext cx="2637129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연도별 실적 추이</a:t>
            </a:r>
          </a:p>
        </p:txBody>
      </p:sp>
      <p:graphicFrame>
        <p:nvGraphicFramePr>
          <p:cNvPr id="5" name="매출"/>
          <p:cNvGraphicFramePr>
            <a:graphicFrameLocks noGrp="1"/>
          </p:cNvGraphicFramePr>
          <p:nvPr/>
        </p:nvGraphicFramePr>
        <p:xfrm>
          <a:off x="841248" y="914400"/>
          <a:ext cx="3322320" cy="5532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희석 EPS"/>
          <p:cNvGraphicFramePr>
            <a:graphicFrameLocks noGrp="1"/>
          </p:cNvGraphicFramePr>
          <p:nvPr/>
        </p:nvGraphicFramePr>
        <p:xfrm>
          <a:off x="4437888" y="914400"/>
          <a:ext cx="3322320" cy="55321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희석 주식수 (억주)"/>
          <p:cNvGraphicFramePr>
            <a:graphicFrameLocks noGrp="1"/>
          </p:cNvGraphicFramePr>
          <p:nvPr/>
        </p:nvGraphicFramePr>
        <p:xfrm>
          <a:off x="8034528" y="914400"/>
          <a:ext cx="3322320" cy="55321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8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SEC 10-K (XBRL)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3395037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alphab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33756"/>
            <a:ext cx="1280944" cy="310896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600984" y="274320"/>
            <a:ext cx="1611172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주식 종류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841248" y="914400"/>
          <a:ext cx="10515598" cy="1303017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179134"/>
                <a:gridCol w="2445488"/>
                <a:gridCol w="2445488"/>
                <a:gridCol w="2445488"/>
              </a:tblGrid>
              <a:tr h="434339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Class A (GOOGL)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Class B (비상장)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Class C (GOOG)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AF2D0"/>
                    </a:solidFill>
                  </a:tcPr>
                </a:tc>
              </a:tr>
              <a:tr h="434339"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의결권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1주당 1표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1주당 10표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없음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4339"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경제적 지분, 배당 권리 등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AF2D0"/>
                    </a:solidFill>
                  </a:tcPr>
                </a:tc>
                <a:tc gridSpan="3"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동일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822960" y="2011680"/>
            <a:ext cx="1051560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8800" lang="ko-KR" altLang="en-US">
                <a:solidFill>
                  <a:srgbClr val="000000"/>
                </a:solidFill>
                <a:latin typeface="여기어때 잘난체 고딕"/>
                <a:ea typeface="여기어때 잘난체 고딕"/>
              </a:rPr>
              <a:t>2026-1분기 실적</a:t>
            </a:r>
          </a:p>
          <a:p>
            <a:r>
              <a:rPr sz="2400" lang="ko-KR" altLang="en-US">
                <a:solidFill>
                  <a:srgbClr val="5F6368"/>
                </a:solidFill>
                <a:latin typeface="에스코어 드림 6 Bold"/>
                <a:ea typeface="에스코어 드림 6 Bold"/>
              </a:rPr>
              <a:t>Alphabet Q1 2026 Earnings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5471822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alphab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33756"/>
            <a:ext cx="1280944" cy="310896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600984" y="274320"/>
            <a:ext cx="3687958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2026-1분기 손익계산서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6675120" cy="40487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매출: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$1,099억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(YoY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+22%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12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/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매출총이익: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$686억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(YoY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+27%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12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/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영업이익: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$397억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(YoY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+30%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영업이익률: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36.1%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(YoY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+2.2%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연구개발비:  $170억  (YoY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+26%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12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/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당기순이익: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$626억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(YoY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+81%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비시장성 증권 평가이익: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$367억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(YoY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+278%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12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/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희석 EPS: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$5.11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(YoY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+81%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90688" y="914400"/>
            <a:ext cx="3943807" cy="23977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7927848" y="1051560"/>
          <a:ext cx="3669485" cy="212343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4743"/>
                <a:gridCol w="917371"/>
                <a:gridCol w="917371"/>
              </a:tblGrid>
              <a:tr h="265429">
                <a:tc>
                  <a:txBody>
                    <a:bodyPr wrap="square"/>
                    <a:lstStyle/>
                    <a:p>
                      <a:pPr algn="l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7 ExtraBold"/>
                          <a:ea typeface="에스코어 드림 7 ExtraBold"/>
                        </a:rPr>
                        <a:t>(단위: 백만 달러)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7 ExtraBold"/>
                          <a:ea typeface="에스코어 드림 7 ExtraBold"/>
                        </a:rPr>
                        <a:t>1Q25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7 ExtraBold"/>
                          <a:ea typeface="에스코어 드림 7 ExtraBold"/>
                        </a:rPr>
                        <a:t>1Q26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429">
                <a:tc>
                  <a:txBody>
                    <a:bodyPr wrap="square"/>
                    <a:lstStyle/>
                    <a:p>
                      <a:pPr algn="l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Revenues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90,234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109,896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429">
                <a:tc>
                  <a:txBody>
                    <a:bodyPr wrap="square"/>
                    <a:lstStyle/>
                    <a:p>
                      <a:pPr algn="l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Cost of revenues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36,361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41,271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429">
                <a:tc>
                  <a:txBody>
                    <a:bodyPr wrap="square"/>
                    <a:lstStyle/>
                    <a:p>
                      <a:pPr algn="l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Research and development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13,556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highlight>
                            <a:srgbClr val="FFFF00"/>
                          </a:highlight>
                          <a:latin typeface="에스코어 드림 6 Bold"/>
                          <a:ea typeface="에스코어 드림 6 Bold"/>
                        </a:rPr>
                        <a:t>17,032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429">
                <a:tc>
                  <a:txBody>
                    <a:bodyPr wrap="square"/>
                    <a:lstStyle/>
                    <a:p>
                      <a:pPr algn="l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Income from operations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30,606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highlight>
                            <a:srgbClr val="FFFF00"/>
                          </a:highlight>
                          <a:latin typeface="에스코어 드림 6 Bold"/>
                          <a:ea typeface="에스코어 드림 6 Bold"/>
                        </a:rPr>
                        <a:t>39,696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429">
                <a:tc>
                  <a:txBody>
                    <a:bodyPr wrap="square"/>
                    <a:lstStyle/>
                    <a:p>
                      <a:pPr algn="l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Other income (expense), net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11,183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highlight>
                            <a:srgbClr val="FFFF00"/>
                          </a:highlight>
                          <a:latin typeface="에스코어 드림 6 Bold"/>
                          <a:ea typeface="에스코어 드림 6 Bold"/>
                        </a:rPr>
                        <a:t>37,716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429">
                <a:tc>
                  <a:txBody>
                    <a:bodyPr wrap="square"/>
                    <a:lstStyle/>
                    <a:p>
                      <a:pPr algn="l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Net income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34,540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highlight>
                            <a:srgbClr val="FFFF00"/>
                          </a:highlight>
                          <a:latin typeface="에스코어 드림 6 Bold"/>
                          <a:ea typeface="에스코어 드림 6 Bold"/>
                        </a:rPr>
                        <a:t>62,578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429">
                <a:tc>
                  <a:txBody>
                    <a:bodyPr wrap="square"/>
                    <a:lstStyle/>
                    <a:p>
                      <a:pPr algn="l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Diluted EPS ($)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2.81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highlight>
                            <a:srgbClr val="FFFF00"/>
                          </a:highlight>
                          <a:latin typeface="에스코어 드림 6 Bold"/>
                          <a:ea typeface="에스코어 드림 6 Bold"/>
                        </a:rPr>
                        <a:t>5.11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Alphabet 2026-1Q 10-Q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5042786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alphab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33756"/>
            <a:ext cx="1280944" cy="310896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600984" y="274320"/>
            <a:ext cx="325892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CapEx 가이던스 상향</a:t>
            </a:r>
          </a:p>
        </p:txBody>
      </p:sp>
      <p:graphicFrame>
        <p:nvGraphicFramePr>
          <p:cNvPr id="5" name="막대그래프"/>
          <p:cNvGraphicFramePr>
            <a:graphicFrameLocks noGrp="1"/>
          </p:cNvGraphicFramePr>
          <p:nvPr/>
        </p:nvGraphicFramePr>
        <p:xfrm>
          <a:off x="841248" y="914400"/>
          <a:ext cx="10515600" cy="5532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Alphabet 10-K, 2026-1Q 실적발표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4240674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alphab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33756"/>
            <a:ext cx="1280944" cy="310896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600984" y="274320"/>
            <a:ext cx="2456809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투자 리스크 (1)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8483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급증하는 CapEx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매출액 대비 CapEx 급증</a:t>
            </a:r>
          </a:p>
        </p:txBody>
      </p:sp>
      <p:graphicFrame>
        <p:nvGraphicFramePr>
          <p:cNvPr id="6" name="막대그래프"/>
          <p:cNvGraphicFramePr>
            <a:graphicFrameLocks noGrp="1"/>
          </p:cNvGraphicFramePr>
          <p:nvPr/>
        </p:nvGraphicFramePr>
        <p:xfrm>
          <a:off x="841248" y="1963928"/>
          <a:ext cx="10515600" cy="448259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SEC 10-K, 회사 가이던스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822960" y="2011680"/>
            <a:ext cx="1051560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8800" lang="ko-KR" altLang="en-US">
                <a:solidFill>
                  <a:srgbClr val="000000"/>
                </a:solidFill>
                <a:latin typeface="여기어때 잘난체 고딕"/>
                <a:ea typeface="여기어때 잘난체 고딕"/>
              </a:rPr>
              <a:t>Q &amp; A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2860296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alphab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33756"/>
            <a:ext cx="1280944" cy="310896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600984" y="274320"/>
            <a:ext cx="107643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Q &amp; A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21793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548640" indent="-548640"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Q1.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구글 검색 쿼리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가 사상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최고치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를 기록 중인데, 그 이유가 무엇인가요?</a:t>
            </a:r>
          </a:p>
          <a:p>
            <a:r>
              <a:rPr sz="12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/>
            </a:r>
          </a:p>
          <a:p>
            <a:pPr marL="548640" indent="-548640">
              <a:lnSpc>
                <a:spcPct val="105000"/>
              </a:lnSpc>
              <a:spcBef>
                <a:spcPts val="2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A.   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‘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AI 개요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’와 ‘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AI 모드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’가 검색 쿼리 증가를 견인하고 있습니다.</a:t>
            </a:r>
          </a:p>
          <a:p>
            <a:pPr marL="548640" indent="0">
              <a:lnSpc>
                <a:spcPct val="105000"/>
              </a:lnSpc>
              <a:spcBef>
                <a:spcPts val="2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역사적으로 광고를 노출해 온 쿼리 비중이 약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20%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수준이었는데,</a:t>
            </a:r>
          </a:p>
          <a:p>
            <a:pPr marL="548640" indent="0">
              <a:lnSpc>
                <a:spcPct val="105000"/>
              </a:lnSpc>
              <a:spcBef>
                <a:spcPts val="2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AI가 사용자의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검색 의도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를 더 잘 이해하게 됨에 따라</a:t>
            </a:r>
          </a:p>
          <a:p>
            <a:pPr marL="548640" indent="0">
              <a:lnSpc>
                <a:spcPct val="105000"/>
              </a:lnSpc>
              <a:spcBef>
                <a:spcPts val="2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향후에 광고 커버리지가 더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확대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될 수 있다고 생각합니다.</a:t>
            </a:r>
          </a:p>
        </p:txBody>
      </p:sp>
      <p:sp>
        <p:nvSpPr>
          <p:cNvPr id="6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Alphabet 2026-1Q 어닝콜</a:t>
            </a: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4240674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alphab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33756"/>
            <a:ext cx="1280944" cy="310896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600984" y="274320"/>
            <a:ext cx="2456809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투자 포인트 (1)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8483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수직계열화된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AI 풀 스택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플랫폼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모델(Gemini) · 칩(TPU) · 클라우드 · 플랫폼(Search, YouTube, Gmail)</a:t>
            </a:r>
          </a:p>
        </p:txBody>
      </p:sp>
      <p:pic>
        <p:nvPicPr>
          <p:cNvPr id="6" name="Picture 5" descr="google_clou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735788"/>
            <a:ext cx="6049107" cy="938871"/>
          </a:xfrm>
          <a:prstGeom prst="rect">
            <a:avLst/>
          </a:prstGeom>
        </p:spPr>
      </p:pic>
      <p:pic>
        <p:nvPicPr>
          <p:cNvPr id="7" name="Picture 6" descr="youtub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4675" y="3735788"/>
            <a:ext cx="4192172" cy="938871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oog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447" y="998458"/>
            <a:ext cx="8686800" cy="2940843"/>
          </a:xfrm>
          <a:prstGeom prst="rect">
            <a:avLst/>
          </a:prstGeom>
        </p:spPr>
      </p:pic>
      <p:sp>
        <p:nvSpPr>
          <p:cNvPr id="3" name="제목"/>
          <p:cNvSpPr txBox="1"/>
          <p:nvPr/>
        </p:nvSpPr>
        <p:spPr>
          <a:xfrm>
            <a:off x="457200" y="4480560"/>
            <a:ext cx="11277295" cy="1463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6600" lang="ko-KR" altLang="en-US">
                <a:solidFill>
                  <a:srgbClr val="FFFFFF"/>
                </a:solidFill>
                <a:latin typeface="여기어때 잘난체 고딕"/>
                <a:ea typeface="여기어때 잘난체 고딕"/>
              </a:rPr>
              <a:t>감사합니다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구글 기업분석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