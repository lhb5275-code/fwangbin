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FFFF00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$465.54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+94%</a:t>
                    </a:r>
                  </a:p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$903.80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지난 분석 (2/4)</c:v>
                </c:pt>
                <c:pt idx="1">
                  <c:v>현재 (5/8)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465.54</c:v>
                </c:pt>
                <c:pt idx="1">
                  <c:v>903.8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4.136320440468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종가</c:v>
                </c:pt>
              </c:strCache>
            </c:strRef>
          </c:tx>
          <c:spPr>
            <a:ln w="22225">
              <a:solidFill>
                <a:srgbClr val="D93025"/>
              </a:solidFill>
            </a:ln>
          </c:spPr>
          <c:marker>
            <c:symbol val="none"/>
          </c:marker>
          <c:cat>
            <c:strRef>
              <c:f>Sheet1!$A$2:$A$253</c:f>
              <c:strCache>
                <c:ptCount val="252"/>
                <c:pt idx="0">
                  <c:v>25.05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25.06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25.07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>25.08</c:v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>25.09</c:v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25.10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>25.11</c:v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>25.12</c:v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>26.01</c:v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>26.02</c:v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  <c:pt idx="200">
                  <c:v/>
                </c:pt>
                <c:pt idx="201">
                  <c:v/>
                </c:pt>
                <c:pt idx="202">
                  <c:v/>
                </c:pt>
                <c:pt idx="203">
                  <c:v>26.03</c:v>
                </c:pt>
                <c:pt idx="204">
                  <c:v/>
                </c:pt>
                <c:pt idx="205">
                  <c:v/>
                </c:pt>
                <c:pt idx="206">
                  <c:v/>
                </c:pt>
                <c:pt idx="207">
                  <c:v/>
                </c:pt>
                <c:pt idx="208">
                  <c:v/>
                </c:pt>
                <c:pt idx="209">
                  <c:v/>
                </c:pt>
                <c:pt idx="210">
                  <c:v/>
                </c:pt>
                <c:pt idx="211">
                  <c:v/>
                </c:pt>
                <c:pt idx="212">
                  <c:v/>
                </c:pt>
                <c:pt idx="213">
                  <c:v/>
                </c:pt>
                <c:pt idx="214">
                  <c:v/>
                </c:pt>
                <c:pt idx="215">
                  <c:v/>
                </c:pt>
                <c:pt idx="216">
                  <c:v/>
                </c:pt>
                <c:pt idx="217">
                  <c:v/>
                </c:pt>
                <c:pt idx="218">
                  <c:v/>
                </c:pt>
                <c:pt idx="219">
                  <c:v/>
                </c:pt>
                <c:pt idx="220">
                  <c:v/>
                </c:pt>
                <c:pt idx="221">
                  <c:v/>
                </c:pt>
                <c:pt idx="222">
                  <c:v/>
                </c:pt>
                <c:pt idx="223">
                  <c:v/>
                </c:pt>
                <c:pt idx="224">
                  <c:v/>
                </c:pt>
                <c:pt idx="225">
                  <c:v>26.04</c:v>
                </c:pt>
                <c:pt idx="226">
                  <c:v/>
                </c:pt>
                <c:pt idx="227">
                  <c:v/>
                </c:pt>
                <c:pt idx="228">
                  <c:v/>
                </c:pt>
                <c:pt idx="229">
                  <c:v/>
                </c:pt>
                <c:pt idx="230">
                  <c:v/>
                </c:pt>
                <c:pt idx="231">
                  <c:v/>
                </c:pt>
                <c:pt idx="232">
                  <c:v/>
                </c:pt>
                <c:pt idx="233">
                  <c:v/>
                </c:pt>
                <c:pt idx="234">
                  <c:v/>
                </c:pt>
                <c:pt idx="235">
                  <c:v/>
                </c:pt>
                <c:pt idx="236">
                  <c:v/>
                </c:pt>
                <c:pt idx="237">
                  <c:v/>
                </c:pt>
                <c:pt idx="238">
                  <c:v/>
                </c:pt>
                <c:pt idx="239">
                  <c:v/>
                </c:pt>
                <c:pt idx="240">
                  <c:v/>
                </c:pt>
                <c:pt idx="241">
                  <c:v/>
                </c:pt>
                <c:pt idx="242">
                  <c:v/>
                </c:pt>
                <c:pt idx="243">
                  <c:v/>
                </c:pt>
                <c:pt idx="244">
                  <c:v/>
                </c:pt>
                <c:pt idx="245">
                  <c:v/>
                </c:pt>
                <c:pt idx="246">
                  <c:v>26.05</c:v>
                </c:pt>
                <c:pt idx="247">
                  <c:v/>
                </c:pt>
                <c:pt idx="248">
                  <c:v/>
                </c:pt>
                <c:pt idx="249">
                  <c:v/>
                </c:pt>
                <c:pt idx="250">
                  <c:v/>
                </c:pt>
                <c:pt idx="251">
                  <c:v/>
                </c:pt>
              </c:strCache>
            </c:strRef>
          </c:cat>
          <c:val>
            <c:numRef>
              <c:f>Sheet1!$B$2:$B$253</c:f>
              <c:numCache>
                <c:formatCode>General</c:formatCode>
                <c:ptCount val="252"/>
                <c:pt idx="0">
                  <c:v>65.66</c:v>
                </c:pt>
                <c:pt idx="1">
                  <c:v>64.87</c:v>
                </c:pt>
                <c:pt idx="2">
                  <c:v>71.73</c:v>
                </c:pt>
                <c:pt idx="3">
                  <c:v>74.51</c:v>
                </c:pt>
                <c:pt idx="4">
                  <c:v>78.29</c:v>
                </c:pt>
                <c:pt idx="5">
                  <c:v>77.76</c:v>
                </c:pt>
                <c:pt idx="6">
                  <c:v>77.95</c:v>
                </c:pt>
                <c:pt idx="7">
                  <c:v>77.87</c:v>
                </c:pt>
                <c:pt idx="8">
                  <c:v>77.11</c:v>
                </c:pt>
                <c:pt idx="9">
                  <c:v>75.95</c:v>
                </c:pt>
                <c:pt idx="10">
                  <c:v>75.88</c:v>
                </c:pt>
                <c:pt idx="11">
                  <c:v>75.77</c:v>
                </c:pt>
                <c:pt idx="12">
                  <c:v>78.37</c:v>
                </c:pt>
                <c:pt idx="13">
                  <c:v>77.9</c:v>
                </c:pt>
                <c:pt idx="14">
                  <c:v>75.41</c:v>
                </c:pt>
                <c:pt idx="15">
                  <c:v>72.28</c:v>
                </c:pt>
                <c:pt idx="16">
                  <c:v>75.86</c:v>
                </c:pt>
                <c:pt idx="17">
                  <c:v>77.65</c:v>
                </c:pt>
                <c:pt idx="18">
                  <c:v>80.28</c:v>
                </c:pt>
                <c:pt idx="19">
                  <c:v>81.64</c:v>
                </c:pt>
                <c:pt idx="20">
                  <c:v>81.46</c:v>
                </c:pt>
                <c:pt idx="21">
                  <c:v>82.11</c:v>
                </c:pt>
                <c:pt idx="22">
                  <c:v>81.96</c:v>
                </c:pt>
                <c:pt idx="23">
                  <c:v>82.36</c:v>
                </c:pt>
                <c:pt idx="24">
                  <c:v>85.5</c:v>
                </c:pt>
                <c:pt idx="25">
                  <c:v>82.46</c:v>
                </c:pt>
                <c:pt idx="26">
                  <c:v>85.78</c:v>
                </c:pt>
                <c:pt idx="27">
                  <c:v>86.35</c:v>
                </c:pt>
                <c:pt idx="28">
                  <c:v>88.46</c:v>
                </c:pt>
                <c:pt idx="29">
                  <c:v>89.66</c:v>
                </c:pt>
                <c:pt idx="30">
                  <c:v>89.16</c:v>
                </c:pt>
                <c:pt idx="31">
                  <c:v>91.81</c:v>
                </c:pt>
                <c:pt idx="32">
                  <c:v>91.77</c:v>
                </c:pt>
                <c:pt idx="33">
                  <c:v>94.71</c:v>
                </c:pt>
                <c:pt idx="34">
                  <c:v>94.75</c:v>
                </c:pt>
                <c:pt idx="35">
                  <c:v>95.06</c:v>
                </c:pt>
                <c:pt idx="36">
                  <c:v>91.49</c:v>
                </c:pt>
                <c:pt idx="37">
                  <c:v>91.24</c:v>
                </c:pt>
                <c:pt idx="38">
                  <c:v>92.75</c:v>
                </c:pt>
                <c:pt idx="39">
                  <c:v>91.08</c:v>
                </c:pt>
                <c:pt idx="40">
                  <c:v>91.31</c:v>
                </c:pt>
                <c:pt idx="41">
                  <c:v>90.44</c:v>
                </c:pt>
                <c:pt idx="42">
                  <c:v>92.62</c:v>
                </c:pt>
                <c:pt idx="43">
                  <c:v>92.99</c:v>
                </c:pt>
                <c:pt idx="44">
                  <c:v>92.24</c:v>
                </c:pt>
                <c:pt idx="45">
                  <c:v>98.14</c:v>
                </c:pt>
                <c:pt idx="46">
                  <c:v>99.63</c:v>
                </c:pt>
                <c:pt idx="47">
                  <c:v>102.64</c:v>
                </c:pt>
                <c:pt idx="48">
                  <c:v>102.22</c:v>
                </c:pt>
                <c:pt idx="49">
                  <c:v>103.84</c:v>
                </c:pt>
                <c:pt idx="50">
                  <c:v>99.63</c:v>
                </c:pt>
                <c:pt idx="51">
                  <c:v>102.13</c:v>
                </c:pt>
                <c:pt idx="52">
                  <c:v>102.85</c:v>
                </c:pt>
                <c:pt idx="53">
                  <c:v>104.52</c:v>
                </c:pt>
                <c:pt idx="54">
                  <c:v>107.17</c:v>
                </c:pt>
                <c:pt idx="55">
                  <c:v>109.48</c:v>
                </c:pt>
                <c:pt idx="56">
                  <c:v>109.85</c:v>
                </c:pt>
                <c:pt idx="57">
                  <c:v>110.08</c:v>
                </c:pt>
                <c:pt idx="58">
                  <c:v>106.68</c:v>
                </c:pt>
                <c:pt idx="59">
                  <c:v>111.13</c:v>
                </c:pt>
                <c:pt idx="60">
                  <c:v>108.15</c:v>
                </c:pt>
                <c:pt idx="61">
                  <c:v>110.01</c:v>
                </c:pt>
                <c:pt idx="62">
                  <c:v>111.13</c:v>
                </c:pt>
                <c:pt idx="63">
                  <c:v>116.27</c:v>
                </c:pt>
                <c:pt idx="64">
                  <c:v>115.03</c:v>
                </c:pt>
                <c:pt idx="65">
                  <c:v>119.66</c:v>
                </c:pt>
                <c:pt idx="66">
                  <c:v>120.23</c:v>
                </c:pt>
                <c:pt idx="67">
                  <c:v>114.62</c:v>
                </c:pt>
                <c:pt idx="68">
                  <c:v>115.86</c:v>
                </c:pt>
                <c:pt idx="69">
                  <c:v>118.98</c:v>
                </c:pt>
                <c:pt idx="70">
                  <c:v>117.96</c:v>
                </c:pt>
                <c:pt idx="71">
                  <c:v>115.89</c:v>
                </c:pt>
                <c:pt idx="72">
                  <c:v>117.43</c:v>
                </c:pt>
                <c:pt idx="73">
                  <c:v>119.34</c:v>
                </c:pt>
                <c:pt idx="74">
                  <c:v>123.42</c:v>
                </c:pt>
                <c:pt idx="75">
                  <c:v>124.62</c:v>
                </c:pt>
                <c:pt idx="76">
                  <c:v>125.84</c:v>
                </c:pt>
                <c:pt idx="77">
                  <c:v>135.55</c:v>
                </c:pt>
                <c:pt idx="78">
                  <c:v>132.81</c:v>
                </c:pt>
                <c:pt idx="79">
                  <c:v>132.55</c:v>
                </c:pt>
                <c:pt idx="80">
                  <c:v>134.12</c:v>
                </c:pt>
                <c:pt idx="81">
                  <c:v>141.91</c:v>
                </c:pt>
                <c:pt idx="82">
                  <c:v>149.46</c:v>
                </c:pt>
                <c:pt idx="83">
                  <c:v>149.4</c:v>
                </c:pt>
                <c:pt idx="84">
                  <c:v>151.73</c:v>
                </c:pt>
                <c:pt idx="85">
                  <c:v>164.88</c:v>
                </c:pt>
                <c:pt idx="86">
                  <c:v>164.88</c:v>
                </c:pt>
                <c:pt idx="87">
                  <c:v>163.02</c:v>
                </c:pt>
                <c:pt idx="88">
                  <c:v>168.77</c:v>
                </c:pt>
                <c:pt idx="89">
                  <c:v>170.9</c:v>
                </c:pt>
                <c:pt idx="90">
                  <c:v>163.34</c:v>
                </c:pt>
                <c:pt idx="91">
                  <c:v>171.5</c:v>
                </c:pt>
                <c:pt idx="92">
                  <c:v>168.73</c:v>
                </c:pt>
                <c:pt idx="93">
                  <c:v>164.71</c:v>
                </c:pt>
                <c:pt idx="94">
                  <c:v>163.99</c:v>
                </c:pt>
                <c:pt idx="95">
                  <c:v>152.75</c:v>
                </c:pt>
                <c:pt idx="96">
                  <c:v>159.11</c:v>
                </c:pt>
                <c:pt idx="97">
                  <c:v>160.75</c:v>
                </c:pt>
                <c:pt idx="98">
                  <c:v>162.58</c:v>
                </c:pt>
                <c:pt idx="99">
                  <c:v>162.71</c:v>
                </c:pt>
                <c:pt idx="100">
                  <c:v>171.4</c:v>
                </c:pt>
                <c:pt idx="101">
                  <c:v>169.75</c:v>
                </c:pt>
                <c:pt idx="102">
                  <c:v>163.81</c:v>
                </c:pt>
                <c:pt idx="103">
                  <c:v>160.6</c:v>
                </c:pt>
                <c:pt idx="104">
                  <c:v>157.15</c:v>
                </c:pt>
                <c:pt idx="105">
                  <c:v>163.09</c:v>
                </c:pt>
                <c:pt idx="106">
                  <c:v>159.76</c:v>
                </c:pt>
                <c:pt idx="107">
                  <c:v>149.61</c:v>
                </c:pt>
                <c:pt idx="108">
                  <c:v>160.56</c:v>
                </c:pt>
                <c:pt idx="109">
                  <c:v>156.78</c:v>
                </c:pt>
                <c:pt idx="110">
                  <c:v>156.57</c:v>
                </c:pt>
                <c:pt idx="111">
                  <c:v>163.23</c:v>
                </c:pt>
                <c:pt idx="112">
                  <c:v>164.77</c:v>
                </c:pt>
                <c:pt idx="113">
                  <c:v>161.0</c:v>
                </c:pt>
                <c:pt idx="114">
                  <c:v>162.95</c:v>
                </c:pt>
                <c:pt idx="115">
                  <c:v>158.06</c:v>
                </c:pt>
                <c:pt idx="116">
                  <c:v>168.5</c:v>
                </c:pt>
                <c:pt idx="117">
                  <c:v>179.3</c:v>
                </c:pt>
                <c:pt idx="118">
                  <c:v>193.8</c:v>
                </c:pt>
                <c:pt idx="119">
                  <c:v>198.39</c:v>
                </c:pt>
                <c:pt idx="120">
                  <c:v>214.28</c:v>
                </c:pt>
                <c:pt idx="121">
                  <c:v>200.13</c:v>
                </c:pt>
                <c:pt idx="122">
                  <c:v>201.56</c:v>
                </c:pt>
                <c:pt idx="123">
                  <c:v>199.58</c:v>
                </c:pt>
                <c:pt idx="124">
                  <c:v>188.36</c:v>
                </c:pt>
                <c:pt idx="125">
                  <c:v>232.75</c:v>
                </c:pt>
                <c:pt idx="126">
                  <c:v>239.68</c:v>
                </c:pt>
                <c:pt idx="127">
                  <c:v>240.11</c:v>
                </c:pt>
                <c:pt idx="128">
                  <c:v>259.89</c:v>
                </c:pt>
                <c:pt idx="129">
                  <c:v>252.47</c:v>
                </c:pt>
                <c:pt idx="130">
                  <c:v>253.81</c:v>
                </c:pt>
                <c:pt idx="131">
                  <c:v>226.86</c:v>
                </c:pt>
                <c:pt idx="132">
                  <c:v>232.15</c:v>
                </c:pt>
                <c:pt idx="133">
                  <c:v>242.07</c:v>
                </c:pt>
                <c:pt idx="134">
                  <c:v>247.43</c:v>
                </c:pt>
                <c:pt idx="135">
                  <c:v>268.92</c:v>
                </c:pt>
                <c:pt idx="136">
                  <c:v>233.24</c:v>
                </c:pt>
                <c:pt idx="137">
                  <c:v>255.59</c:v>
                </c:pt>
                <c:pt idx="138">
                  <c:v>299.36</c:v>
                </c:pt>
                <c:pt idx="139">
                  <c:v>291.27</c:v>
                </c:pt>
                <c:pt idx="140">
                  <c:v>308.28</c:v>
                </c:pt>
                <c:pt idx="141">
                  <c:v>325.16</c:v>
                </c:pt>
                <c:pt idx="142">
                  <c:v>317.93</c:v>
                </c:pt>
                <c:pt idx="143">
                  <c:v>302.81</c:v>
                </c:pt>
                <c:pt idx="144">
                  <c:v>302.98</c:v>
                </c:pt>
                <c:pt idx="145">
                  <c:v>327.85</c:v>
                </c:pt>
                <c:pt idx="146">
                  <c:v>331.41</c:v>
                </c:pt>
                <c:pt idx="147">
                  <c:v>342.56</c:v>
                </c:pt>
                <c:pt idx="148">
                  <c:v>360.33</c:v>
                </c:pt>
                <c:pt idx="149">
                  <c:v>366.0</c:v>
                </c:pt>
                <c:pt idx="150">
                  <c:v>372.09</c:v>
                </c:pt>
                <c:pt idx="151">
                  <c:v>324.35</c:v>
                </c:pt>
                <c:pt idx="152">
                  <c:v>334.69</c:v>
                </c:pt>
                <c:pt idx="153">
                  <c:v>316.15</c:v>
                </c:pt>
                <c:pt idx="154">
                  <c:v>320.25</c:v>
                </c:pt>
                <c:pt idx="155">
                  <c:v>337.13</c:v>
                </c:pt>
                <c:pt idx="156">
                  <c:v>371.43</c:v>
                </c:pt>
                <c:pt idx="157">
                  <c:v>389.88</c:v>
                </c:pt>
                <c:pt idx="158">
                  <c:v>387.41</c:v>
                </c:pt>
                <c:pt idx="159">
                  <c:v>395.92</c:v>
                </c:pt>
                <c:pt idx="160">
                  <c:v>390.77</c:v>
                </c:pt>
                <c:pt idx="161">
                  <c:v>372.61</c:v>
                </c:pt>
                <c:pt idx="162">
                  <c:v>371.18</c:v>
                </c:pt>
                <c:pt idx="163">
                  <c:v>368.59</c:v>
                </c:pt>
                <c:pt idx="164">
                  <c:v>386.11</c:v>
                </c:pt>
                <c:pt idx="165">
                  <c:v>357.05</c:v>
                </c:pt>
                <c:pt idx="166">
                  <c:v>397.42</c:v>
                </c:pt>
                <c:pt idx="167">
                  <c:v>392.88</c:v>
                </c:pt>
                <c:pt idx="168">
                  <c:v>348.26</c:v>
                </c:pt>
                <c:pt idx="169">
                  <c:v>351.42</c:v>
                </c:pt>
                <c:pt idx="170">
                  <c:v>339.87</c:v>
                </c:pt>
                <c:pt idx="171">
                  <c:v>361.33</c:v>
                </c:pt>
                <c:pt idx="172">
                  <c:v>331.62</c:v>
                </c:pt>
                <c:pt idx="173">
                  <c:v>343.27</c:v>
                </c:pt>
                <c:pt idx="174">
                  <c:v>324.25</c:v>
                </c:pt>
                <c:pt idx="175">
                  <c:v>356.83</c:v>
                </c:pt>
                <c:pt idx="176">
                  <c:v>362.44</c:v>
                </c:pt>
                <c:pt idx="177">
                  <c:v>354.49</c:v>
                </c:pt>
                <c:pt idx="178">
                  <c:v>339.19</c:v>
                </c:pt>
                <c:pt idx="179">
                  <c:v>332.45</c:v>
                </c:pt>
                <c:pt idx="180">
                  <c:v>370.66</c:v>
                </c:pt>
                <c:pt idx="181">
                  <c:v>385.0</c:v>
                </c:pt>
                <c:pt idx="182">
                  <c:v>381.44</c:v>
                </c:pt>
                <c:pt idx="183">
                  <c:v>391.84</c:v>
                </c:pt>
                <c:pt idx="184">
                  <c:v>423.42</c:v>
                </c:pt>
                <c:pt idx="185">
                  <c:v>435.1</c:v>
                </c:pt>
                <c:pt idx="186">
                  <c:v>465.54</c:v>
                </c:pt>
                <c:pt idx="187">
                  <c:v>504.42</c:v>
                </c:pt>
                <c:pt idx="188">
                  <c:v>551.99</c:v>
                </c:pt>
                <c:pt idx="189">
                  <c:v>577.15</c:v>
                </c:pt>
                <c:pt idx="190">
                  <c:v>561.13</c:v>
                </c:pt>
                <c:pt idx="191">
                  <c:v>574.11</c:v>
                </c:pt>
                <c:pt idx="192">
                  <c:v>583.46</c:v>
                </c:pt>
                <c:pt idx="193">
                  <c:v>562.74</c:v>
                </c:pt>
                <c:pt idx="194">
                  <c:v>600.42</c:v>
                </c:pt>
                <c:pt idx="195">
                  <c:v>594.26</c:v>
                </c:pt>
                <c:pt idx="196">
                  <c:v>635.64</c:v>
                </c:pt>
                <c:pt idx="197">
                  <c:v>667.77</c:v>
                </c:pt>
                <c:pt idx="198">
                  <c:v>674.73</c:v>
                </c:pt>
                <c:pt idx="199">
                  <c:v>688.27</c:v>
                </c:pt>
                <c:pt idx="200">
                  <c:v>723.39</c:v>
                </c:pt>
                <c:pt idx="201">
                  <c:v>677.0</c:v>
                </c:pt>
                <c:pt idx="202">
                  <c:v>700.91</c:v>
                </c:pt>
                <c:pt idx="203">
                  <c:v>783.25</c:v>
                </c:pt>
                <c:pt idx="204">
                  <c:v>694.43</c:v>
                </c:pt>
                <c:pt idx="205">
                  <c:v>680.8</c:v>
                </c:pt>
                <c:pt idx="206">
                  <c:v>650.82</c:v>
                </c:pt>
                <c:pt idx="207">
                  <c:v>558.44</c:v>
                </c:pt>
                <c:pt idx="208">
                  <c:v>640.69</c:v>
                </c:pt>
                <c:pt idx="209">
                  <c:v>672.0</c:v>
                </c:pt>
                <c:pt idx="210">
                  <c:v>672.0</c:v>
                </c:pt>
                <c:pt idx="211">
                  <c:v>616.09</c:v>
                </c:pt>
                <c:pt idx="212">
                  <c:v>622.5</c:v>
                </c:pt>
                <c:pt idx="213">
                  <c:v>624.84</c:v>
                </c:pt>
                <c:pt idx="214">
                  <c:v>649.56</c:v>
                </c:pt>
                <c:pt idx="215">
                  <c:v>700.81</c:v>
                </c:pt>
                <c:pt idx="216">
                  <c:v>772.13</c:v>
                </c:pt>
                <c:pt idx="217">
                  <c:v>706.35</c:v>
                </c:pt>
                <c:pt idx="218">
                  <c:v>728.95</c:v>
                </c:pt>
                <c:pt idx="219">
                  <c:v>801.99</c:v>
                </c:pt>
                <c:pt idx="220">
                  <c:v>777.17</c:v>
                </c:pt>
                <c:pt idx="221">
                  <c:v>688.8</c:v>
                </c:pt>
                <c:pt idx="222">
                  <c:v>702.73</c:v>
                </c:pt>
                <c:pt idx="223">
                  <c:v>654.79</c:v>
                </c:pt>
                <c:pt idx="224">
                  <c:v>702.76</c:v>
                </c:pt>
                <c:pt idx="225">
                  <c:v>764.65</c:v>
                </c:pt>
                <c:pt idx="226">
                  <c:v>826.88</c:v>
                </c:pt>
                <c:pt idx="227">
                  <c:v>772.28</c:v>
                </c:pt>
                <c:pt idx="228">
                  <c:v>815.75</c:v>
                </c:pt>
                <c:pt idx="229">
                  <c:v>896.02</c:v>
                </c:pt>
                <c:pt idx="230">
                  <c:v>894.13</c:v>
                </c:pt>
                <c:pt idx="231">
                  <c:v>897.3</c:v>
                </c:pt>
                <c:pt idx="232">
                  <c:v>871.18</c:v>
                </c:pt>
                <c:pt idx="233">
                  <c:v>852.79</c:v>
                </c:pt>
                <c:pt idx="234">
                  <c:v>824.01</c:v>
                </c:pt>
                <c:pt idx="235">
                  <c:v>891.22</c:v>
                </c:pt>
                <c:pt idx="236">
                  <c:v>894.07</c:v>
                </c:pt>
                <c:pt idx="237">
                  <c:v>895.11</c:v>
                </c:pt>
                <c:pt idx="238">
                  <c:v>836.92</c:v>
                </c:pt>
                <c:pt idx="239">
                  <c:v>873.6</c:v>
                </c:pt>
                <c:pt idx="240">
                  <c:v>846.89</c:v>
                </c:pt>
                <c:pt idx="241">
                  <c:v>881.64</c:v>
                </c:pt>
                <c:pt idx="242">
                  <c:v>859.68</c:v>
                </c:pt>
                <c:pt idx="243">
                  <c:v>791.37</c:v>
                </c:pt>
                <c:pt idx="244">
                  <c:v>858.32</c:v>
                </c:pt>
                <c:pt idx="245">
                  <c:v>902.32</c:v>
                </c:pt>
                <c:pt idx="246">
                  <c:v>949.93</c:v>
                </c:pt>
                <c:pt idx="247">
                  <c:v>976.18</c:v>
                </c:pt>
                <c:pt idx="248">
                  <c:v>994.56</c:v>
                </c:pt>
                <c:pt idx="249">
                  <c:v>944.28</c:v>
                </c:pt>
                <c:pt idx="250">
                  <c:v>892.58</c:v>
                </c:pt>
                <c:pt idx="251">
                  <c:v>903.8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ADCE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tickLblSkip val="1"/>
        <c:tickMarkSkip val="21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8EAE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70757A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Pt>
            <c:idx val="3"/>
            <c:spPr>
              <a:solidFill>
                <a:srgbClr val="CAEEFB"/>
              </a:solidFill>
              <a:ln>
                <a:noFill/>
              </a:ln>
            </c:spPr>
          </c:dPt>
          <c:dPt>
            <c:idx val="4"/>
            <c:spPr>
              <a:solidFill>
                <a:srgbClr val="CAEEFB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6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$4.25억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6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$4.81억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6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$5.34억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16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$6.66억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/>
                  <a:lstStyle/>
                  <a:p>
                    <a:r>
                      <a:rPr sz="16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$8.08억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3Q25</c:v>
                </c:pt>
                <c:pt idx="1">
                  <c:v>4Q25</c:v>
                </c:pt>
                <c:pt idx="2">
                  <c:v>1Q26</c:v>
                </c:pt>
                <c:pt idx="3">
                  <c:v>2Q26</c:v>
                </c:pt>
                <c:pt idx="4">
                  <c:v>3Q26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4.252</c:v>
                </c:pt>
                <c:pt idx="1">
                  <c:v>4.807</c:v>
                </c:pt>
                <c:pt idx="2">
                  <c:v>5.338</c:v>
                </c:pt>
                <c:pt idx="3">
                  <c:v>6.655</c:v>
                </c:pt>
                <c:pt idx="4">
                  <c:v>8.084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152111009628612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6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FFFF00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13명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4명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0명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매수</c:v>
                </c:pt>
                <c:pt idx="1">
                  <c:v>중립</c:v>
                </c:pt>
                <c:pt idx="2">
                  <c:v>매도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13.0</c:v>
                </c:pt>
                <c:pt idx="1">
                  <c:v>4.0</c:v>
                </c:pt>
                <c:pt idx="2">
                  <c:v>0.0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860144510698003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2026년 5월에 발표된 루멘텀의</a:t>
            </a:r>
          </a:p>
          <a:p>
            <a:r>
              <a:t>3분기 실적을 정리해드리겠습니다.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3달 전에 2분기 실적을 분석했는데</a:t>
            </a:r>
          </a:p>
          <a:p>
            <a:r>
              <a:t>그때 주가가 465달러였습니다.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2026년 5월 8일 기준</a:t>
            </a:r>
          </a:p>
          <a:p>
            <a:r>
              <a:t>주가는 900달러이고</a:t>
            </a:r>
          </a:p>
          <a:p>
            <a:r>
              <a:t>시가총액은 700억 달러 수준입니다.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1년동안 주가가 무려</a:t>
            </a:r>
          </a:p>
          <a:p>
            <a:r>
              <a:t>14배나 올랐는데</a:t>
            </a:r>
          </a:p>
          <a:p>
            <a:r>
              <a:t>그 이유가 뭘까요?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3분기 매출은 8억 8백만 달러를 기록해</a:t>
            </a:r>
          </a:p>
          <a:p>
            <a:r>
              <a:t>가이던스를 충족했고,</a:t>
            </a:r>
          </a:p>
          <a:p>
            <a:r>
              <a:t>논갭 기준 희석 EPS는 2.37 달러를 기록해</a:t>
            </a:r>
          </a:p>
          <a:p>
            <a:r>
              <a:t>가이던스를 소폭 상회했습니다.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3분기 마진 확대는 주로</a:t>
            </a:r>
          </a:p>
          <a:p>
            <a:r>
              <a:t>Scale-out 포트폴리오가 주도했지만</a:t>
            </a:r>
          </a:p>
          <a:p>
            <a:r>
              <a:t>앞으로 scale-across 제품군을</a:t>
            </a:r>
          </a:p>
          <a:p>
            <a:r>
              <a:t>주목해야 한다.</a:t>
            </a:r>
          </a:p>
          <a:p>
            <a:r>
              <a:t>어닝콜 초반에 루멘텀 CEO가 한 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루멘텀의 펌프 레이저는</a:t>
            </a:r>
          </a:p>
          <a:p>
            <a:r>
              <a:t>4개, 8개 또는 16개의 광섬유 쌍에 걸쳐</a:t>
            </a:r>
          </a:p>
          <a:p>
            <a:r>
              <a:t>동시에 광신호를 증폭합니다.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앞으로는 차세대 멀티레일 기술이</a:t>
            </a:r>
          </a:p>
          <a:p>
            <a:r>
              <a:t>스케일 어크로스 네트워크가 요구하는</a:t>
            </a:r>
          </a:p>
          <a:p>
            <a:r>
              <a:t>높은 병렬성을 충족하는데</a:t>
            </a:r>
          </a:p>
          <a:p>
            <a:r>
              <a:t>핵심적인 역할을 수행할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사업별 성과를 살펴보겠습니다.</a:t>
            </a:r>
          </a:p>
          <a:p>
            <a:r>
              <a:t>부품 사업의 경우</a:t>
            </a:r>
          </a:p>
          <a:p>
            <a:r>
              <a:t>5.3억 달러 매출을 기록해</a:t>
            </a:r>
          </a:p>
          <a:p>
            <a:r>
              <a:t>직전분기대비 20%, 전년동기대비 77% 성장했습니다.</a:t>
            </a:r>
          </a:p>
          <a:p>
            <a:r>
              <a:t>시스템 사업의 경우</a:t>
            </a:r>
          </a:p>
          <a:p>
            <a:r>
              <a:t>2.8억 달러 매출을 기록해</a:t>
            </a:r>
          </a:p>
          <a:p>
            <a:r>
              <a:t>직전분기대비 24%, 전년동기대비 121% 성장했습니다.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손익계산서를 보겠습니다.</a:t>
            </a:r>
          </a:p>
          <a:p>
            <a:r>
              <a:t>3분기 매출은 8.1억 달러를 기록해</a:t>
            </a:r>
          </a:p>
          <a:p>
            <a:r>
              <a:t>전년대비 90% 폭증했습니다.</a:t>
            </a:r>
          </a:p>
          <a:p>
            <a:r>
              <a:t>매출총이익은 190% 폭증해 3.6억 달러를 기록했고</a:t>
            </a:r>
          </a:p>
          <a:p>
            <a:r>
              <a:t>그로스마진은 무려 44%를 기록했습니다.</a:t>
            </a:r>
          </a:p>
          <a:p>
            <a:r>
              <a:t>영업이익은 1.7억 달러를 기록해 흑자로 돌아섰습니다.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다가오는 4분기 매출은</a:t>
            </a:r>
          </a:p>
          <a:p>
            <a:r>
              <a:t>직전분기대비 22% 성장한 9.6억 에서</a:t>
            </a:r>
          </a:p>
          <a:p>
            <a:r>
              <a:t>10.1억 달러를 전망했습니다.</a:t>
            </a:r>
          </a:p>
          <a:p>
            <a:r>
              <a:t>최근 네 분기동안의 매출 성장률을 비교해보면</a:t>
            </a:r>
          </a:p>
          <a:p>
            <a:r>
              <a:t>+11%, +25%, +21% 에 이어 +22%입니다.</a:t>
            </a:r>
          </a:p>
          <a:p>
            <a:r>
              <a:t>영업이익률과 논갭 희석 EPS 역시</a:t>
            </a:r>
          </a:p>
          <a:p>
            <a:r>
              <a:t>네 분기 연속 증가할 것으로 예상합니다.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어닝콜 후 경영진과 애널리스트 간에 Q&amp;A가 있었습니다.</a:t>
            </a:r>
          </a:p>
          <a:p>
            <a:r>
              <a:t>주요 문답을 정리해드리겠습니다.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첫번째 질문은 레이저 공급 현황이었습니다.</a:t>
            </a:r>
          </a:p>
          <a:p>
            <a:r>
              <a:t>경영진은 수급 불균형이 25%에서 30% 이상으로</a:t>
            </a:r>
          </a:p>
          <a:p>
            <a:r>
              <a:t>오히려 커졌다고 답했습니다.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목표주가는 얼마일까요?</a:t>
            </a:r>
          </a:p>
          <a:p>
            <a:r>
              <a:t>17명의 애널리스트 중 13명이 매수 의견</a:t>
            </a:r>
          </a:p>
          <a:p>
            <a:r>
              <a:t>그리고 4명이 중립 의견을 제시했습니다.</a:t>
            </a:r>
          </a:p>
          <a:p>
            <a:r>
              <a:t>12개월 뒤 평균목표주가는 1,064달러이고</a:t>
            </a:r>
          </a:p>
          <a:p>
            <a:r>
              <a:t>현재 주가보다 17% 높습니다.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밸류에이션을 보겠습니다.</a:t>
            </a:r>
          </a:p>
          <a:p>
            <a:r>
              <a:t>루멘텀의 트레일링 PER은 159,</a:t>
            </a:r>
          </a:p>
          <a:p>
            <a:r>
              <a:t>포워드 PER은 무려 59입니다.</a:t>
            </a:r>
          </a:p>
          <a:p>
            <a:r>
              <a:t>절대 싸다고 말할 수 없는 가격입니다.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총정리를 해보겠습니다.</a:t>
            </a:r>
          </a:p>
          <a:p>
            <a:r>
              <a:t>3분기 실적은 부분적으로 어닝 서프라이즈였습니다.</a:t>
            </a:r>
          </a:p>
          <a:p>
            <a:r>
              <a:t>왜 부분적이냐면,</a:t>
            </a:r>
          </a:p>
          <a:p>
            <a:r>
              <a:t>논갭 영업이익률과 희석 EPS는 가이던스를 상회했지만</a:t>
            </a:r>
          </a:p>
          <a:p>
            <a:r>
              <a:t>매출이 가이던스 상단을 넘지 못했기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어닝콜 내용 중</a:t>
            </a:r>
          </a:p>
          <a:p>
            <a:r>
              <a:t>가장 인상깊었던 것은</a:t>
            </a:r>
          </a:p>
          <a:p>
            <a:r>
              <a:t>수요 공급 불균형이 지난 분기대비 심해져</a:t>
            </a:r>
          </a:p>
          <a:p>
            <a:r>
              <a:t>30% 이상까지 격차가 벌어졌다는 점입니다.</a:t>
            </a:r>
          </a:p>
          <a:p>
            <a:r>
              <a:t>다만 리스크가 전혀 없는 것은 아닙니다.</a:t>
            </a:r>
          </a:p>
          <a:p>
            <a:r>
              <a:t>현명한 투자하시길 바라겠습니다.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이상 루멘텀 홀딩스의 2026 회계연도</a:t>
            </a:r>
          </a:p>
          <a:p>
            <a:r>
              <a:t>3분기 실적 리뷰를 마치겠습니다.</a:t>
            </a:r>
          </a:p>
          <a:p>
            <a:r>
              <a:t>영상이 도움되셨다면 구독, 좋아요, 댓글 꼭 부탁드립니다.</a:t>
            </a:r>
          </a:p>
          <a:p>
            <a:r>
              <a:t>큰 힘이 됩니다.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2E7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배경" descr="server_room.jpg"/>
          <p:cNvPicPr>
            <a:picLocks noChangeAspect="1"/>
          </p:cNvPicPr>
          <p:nvPr/>
        </p:nvPicPr>
        <p:blipFill>
          <a:blip r:embed="rId2"/>
          <a:srcRect t="4708" b="1098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어둡게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제목"/>
          <p:cNvSpPr txBox="1"/>
          <p:nvPr/>
        </p:nvSpPr>
        <p:spPr>
          <a:xfrm>
            <a:off x="914400" y="411480"/>
            <a:ext cx="10607040" cy="5943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000" lang="ko-KR" altLang="en-US">
                <a:solidFill>
                  <a:srgbClr val="FFFF00"/>
                </a:solidFill>
                <a:effectLst>
                  <a:glow rad="127000">
                    <a:srgbClr val="000000"/>
                  </a:glow>
                </a:effectLst>
                <a:latin typeface="여기어때 잘난체 고딕"/>
                <a:ea typeface="여기어때 잘난체 고딕"/>
              </a:rPr>
              <a:t>루멘텀</a:t>
            </a:r>
          </a:p>
          <a:p>
            <a:pPr>
              <a:spcBef>
                <a:spcPts val="5949"/>
              </a:spcBef>
            </a:pPr>
            <a:r>
              <a:rPr sz="14000" lang="ko-KR" altLang="en-US">
                <a:solidFill>
                  <a:srgbClr val="FFFF00"/>
                </a:solidFill>
                <a:effectLst>
                  <a:glow rad="127000">
                    <a:srgbClr val="000000"/>
                  </a:glow>
                </a:effectLst>
                <a:latin typeface="여기어때 잘난체 고딕"/>
                <a:ea typeface="여기어때 잘난체 고딕"/>
              </a:rPr>
              <a:t>$1,300</a:t>
            </a:r>
            <a:r>
              <a:rPr sz="9800" lang="ko-KR" altLang="en-US">
                <a:solidFill>
                  <a:srgbClr val="FFFFFF"/>
                </a:solidFill>
                <a:effectLst>
                  <a:glow rad="127000">
                    <a:srgbClr val="000000"/>
                  </a:glow>
                </a:effectLst>
                <a:latin typeface="여기어때 잘난체 고딕"/>
                <a:ea typeface="여기어때 잘난체 고딕"/>
              </a:rPr>
              <a:t> 간다?</a:t>
            </a:r>
          </a:p>
        </p:txBody>
      </p:sp>
      <p:pic>
        <p:nvPicPr>
          <p:cNvPr id="5" name="작은 로고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6469951"/>
            <a:ext cx="822959" cy="159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577132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47472"/>
            <a:ext cx="1463040" cy="283464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611172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지난 분석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492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3달 전 2분기 실적 리뷰 (2026.02.04) 당시 주가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$465.54</a:t>
            </a:r>
          </a:p>
        </p:txBody>
      </p:sp>
      <p:graphicFrame>
        <p:nvGraphicFramePr>
          <p:cNvPr id="6" name="막대그래프"/>
          <p:cNvGraphicFramePr>
            <a:graphicFrameLocks noGrp="1"/>
          </p:cNvGraphicFramePr>
          <p:nvPr/>
        </p:nvGraphicFramePr>
        <p:xfrm>
          <a:off x="841248" y="1608327"/>
          <a:ext cx="10515600" cy="483819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Yahoo Finance 종가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577132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47472"/>
            <a:ext cx="1463040" cy="283464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611172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주가 흐름</a:t>
            </a:r>
          </a:p>
        </p:txBody>
      </p:sp>
      <p:sp>
        <p:nvSpPr>
          <p:cNvPr id="5" name="주가 카드"/>
          <p:cNvSpPr/>
          <p:nvPr/>
        </p:nvSpPr>
        <p:spPr>
          <a:xfrm>
            <a:off x="841248" y="914400"/>
            <a:ext cx="1051560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051560"/>
            <a:ext cx="10058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Lumentum Holdings Inc. (LITE) · NasdaqGS</a:t>
            </a:r>
          </a:p>
          <a:p>
            <a:r>
              <a:rPr sz="2600" lang="ko-KR" altLang="en-US">
                <a:solidFill>
                  <a:srgbClr val="202124"/>
                </a:solidFill>
                <a:latin typeface="에스코어 드림 7 ExtraBold"/>
                <a:ea typeface="에스코어 드림 7 ExtraBold"/>
              </a:rPr>
              <a:t>903.80 USD</a:t>
            </a:r>
          </a:p>
          <a:p>
            <a:r>
              <a:rPr sz="1300" lang="ko-KR" altLang="en-US">
                <a:solidFill>
                  <a:srgbClr val="D93025"/>
                </a:solidFill>
                <a:latin typeface="에스코어 드림 6 Bold"/>
                <a:ea typeface="에스코어 드림 6 Bold"/>
              </a:rPr>
              <a:t>+838.14 (+1276.5%) 1년 · 2026-05-08 종가</a:t>
            </a:r>
          </a:p>
        </p:txBody>
      </p:sp>
      <p:graphicFrame>
        <p:nvGraphicFramePr>
          <p:cNvPr id="7" name="주가 그래프"/>
          <p:cNvGraphicFramePr>
            <a:graphicFrameLocks noGrp="1"/>
          </p:cNvGraphicFramePr>
          <p:nvPr/>
        </p:nvGraphicFramePr>
        <p:xfrm>
          <a:off x="932688" y="2148840"/>
          <a:ext cx="10332720" cy="37764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69848" y="6016752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시가총액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$700억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2647" y="6016752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52주 최고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994.56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5448" y="6016752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52주 최저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64.87</a:t>
            </a:r>
          </a:p>
        </p:txBody>
      </p:sp>
      <p:sp>
        <p:nvSpPr>
          <p:cNvPr id="11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Yahoo Finance</a:t>
            </a:r>
          </a:p>
        </p:txBody>
      </p:sp>
      <p:sp>
        <p:nvSpPr>
          <p:cNvPr id="12" name="기준일"/>
          <p:cNvSpPr txBox="1"/>
          <p:nvPr/>
        </p:nvSpPr>
        <p:spPr>
          <a:xfrm>
            <a:off x="9052560" y="320040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lang="ko-KR" altLang="en-US">
                <a:solidFill>
                  <a:srgbClr val="FFFFFF"/>
                </a:solidFill>
                <a:latin typeface="에스코어 드림 4 Regular"/>
                <a:ea typeface="에스코어 드림 4 Regular"/>
              </a:rPr>
              <a:t>(2026-05-08)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전면 사진" descr="building.jpg"/>
          <p:cNvPicPr>
            <a:picLocks noChangeAspect="1"/>
          </p:cNvPicPr>
          <p:nvPr/>
        </p:nvPicPr>
        <p:blipFill>
          <a:blip r:embed="rId2"/>
          <a:srcRect t="4588" b="1070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72123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47472"/>
            <a:ext cx="1463040" cy="283464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2755270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2026-3분기 실적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848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매출: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$808M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                  (가이던스 $780-830M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충족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Non-GAAP 희석 EPS: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$2.37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 (가이던스 $2.15-2.35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상회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</p:txBody>
      </p:sp>
      <p:graphicFrame>
        <p:nvGraphicFramePr>
          <p:cNvPr id="6" name="막대그래프"/>
          <p:cNvGraphicFramePr>
            <a:graphicFrameLocks noGrp="1"/>
          </p:cNvGraphicFramePr>
          <p:nvPr/>
        </p:nvGraphicFramePr>
        <p:xfrm>
          <a:off x="841248" y="1963928"/>
          <a:ext cx="10515600" cy="448259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Lumentum Q3 FY26 실적발표, SEC 10-Q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인물 사진" descr="building.jpg"/>
          <p:cNvPicPr>
            <a:picLocks noChangeAspect="1"/>
          </p:cNvPicPr>
          <p:nvPr/>
        </p:nvPicPr>
        <p:blipFill>
          <a:blip r:embed="rId2"/>
          <a:srcRect l="21224" r="21224"/>
          <a:stretch>
            <a:fillRect/>
          </a:stretch>
        </p:blipFill>
        <p:spPr>
          <a:xfrm>
            <a:off x="6248095" y="0"/>
            <a:ext cx="5943600" cy="6858000"/>
          </a:xfrm>
          <a:prstGeom prst="rect">
            <a:avLst/>
          </a:prstGeom>
        </p:spPr>
      </p:pic>
      <p:sp>
        <p:nvSpPr>
          <p:cNvPr id="3" name="인용문"/>
          <p:cNvSpPr txBox="1"/>
          <p:nvPr/>
        </p:nvSpPr>
        <p:spPr>
          <a:xfrm>
            <a:off x="1005840" y="822960"/>
            <a:ext cx="7498079" cy="4937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lnSpc>
                <a:spcPct val="105000"/>
              </a:lnSpc>
            </a:pPr>
            <a:r>
              <a:rPr sz="3000" lang="ko-KR" altLang="en-US">
                <a:solidFill>
                  <a:srgbClr val="FFFFFF"/>
                </a:solidFill>
                <a:effectLst>
                  <a:glow rad="76200">
                    <a:srgbClr val="000000"/>
                  </a:glow>
                </a:effectLst>
                <a:latin typeface="에스코어 드림 6 Bold"/>
                <a:ea typeface="에스코어 드림 6 Bold"/>
              </a:rPr>
              <a:t>“ 3분기 마진 확대는 주로</a:t>
            </a:r>
          </a:p>
          <a:p>
            <a:pPr>
              <a:lnSpc>
                <a:spcPct val="105000"/>
              </a:lnSpc>
            </a:pPr>
            <a:r>
              <a:rPr sz="3000" lang="ko-KR" altLang="en-US">
                <a:solidFill>
                  <a:srgbClr val="FFFFFF"/>
                </a:solidFill>
                <a:effectLst>
                  <a:glow rad="76200">
                    <a:srgbClr val="000000"/>
                  </a:glow>
                </a:effectLst>
                <a:latin typeface="에스코어 드림 6 Bold"/>
                <a:ea typeface="에스코어 드림 6 Bold"/>
              </a:rPr>
              <a:t>   scale-out 포트폴리오가 주도했지만,</a:t>
            </a:r>
          </a:p>
          <a:p>
            <a:pPr>
              <a:lnSpc>
                <a:spcPct val="105000"/>
              </a:lnSpc>
            </a:pPr>
            <a:r>
              <a:rPr sz="3000" lang="ko-KR" altLang="en-US">
                <a:solidFill>
                  <a:srgbClr val="FFFFFF"/>
                </a:solidFill>
                <a:effectLst>
                  <a:glow rad="76200">
                    <a:srgbClr val="000000"/>
                  </a:glow>
                </a:effectLst>
                <a:latin typeface="에스코어 드림 6 Bold"/>
                <a:ea typeface="에스코어 드림 6 Bold"/>
              </a:rPr>
              <a:t>   앞으로 </a:t>
            </a:r>
            <a:r>
              <a:rPr sz="3600" lang="ko-KR" altLang="en-US">
                <a:solidFill>
                  <a:srgbClr val="FFFF00"/>
                </a:solidFill>
                <a:effectLst>
                  <a:glow rad="76200">
                    <a:srgbClr val="000000"/>
                  </a:glow>
                </a:effectLst>
                <a:latin typeface="에스코어 드림 6 Bold"/>
                <a:ea typeface="에스코어 드림 6 Bold"/>
              </a:rPr>
              <a:t>scale-across</a:t>
            </a:r>
            <a:r>
              <a:rPr sz="3000" lang="ko-KR" altLang="en-US">
                <a:solidFill>
                  <a:srgbClr val="FFFFFF"/>
                </a:solidFill>
                <a:effectLst>
                  <a:glow rad="76200">
                    <a:srgbClr val="000000"/>
                  </a:glow>
                </a:effectLst>
                <a:latin typeface="에스코어 드림 6 Bold"/>
                <a:ea typeface="에스코어 드림 6 Bold"/>
              </a:rPr>
              <a:t> 제품군을</a:t>
            </a:r>
          </a:p>
          <a:p>
            <a:pPr>
              <a:lnSpc>
                <a:spcPct val="105000"/>
              </a:lnSpc>
            </a:pPr>
            <a:r>
              <a:rPr sz="3000" lang="ko-KR" altLang="en-US">
                <a:solidFill>
                  <a:srgbClr val="FFFFFF"/>
                </a:solidFill>
                <a:effectLst>
                  <a:glow rad="76200">
                    <a:srgbClr val="000000"/>
                  </a:glow>
                </a:effectLst>
                <a:latin typeface="에스코어 드림 6 Bold"/>
                <a:ea typeface="에스코어 드림 6 Bold"/>
              </a:rPr>
              <a:t>   주목해야 한다. ”</a:t>
            </a:r>
          </a:p>
          <a:p>
            <a:pPr>
              <a:spcBef>
                <a:spcPts val="1800"/>
              </a:spcBef>
            </a:pPr>
            <a:r>
              <a:rPr sz="1800" lang="ko-KR" altLang="en-US">
                <a:solidFill>
                  <a:srgbClr val="BFBFBF"/>
                </a:solidFill>
                <a:effectLst>
                  <a:glow rad="76200">
                    <a:srgbClr val="000000"/>
                  </a:glow>
                </a:effectLst>
                <a:latin typeface="에스코어 드림 4 Regular"/>
                <a:ea typeface="에스코어 드림 4 Regular"/>
              </a:rPr>
              <a:t>— Lumentum CEO, Q3 FY26 어닝콜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304629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47472"/>
            <a:ext cx="1463040" cy="283464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233866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Scale-across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492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펌프 레이저</a:t>
            </a:r>
          </a:p>
        </p:txBody>
      </p:sp>
      <p:pic>
        <p:nvPicPr>
          <p:cNvPr id="6" name="Picture 5" descr="fiber_connecto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710" y="1608327"/>
            <a:ext cx="5152674" cy="48381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304629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47472"/>
            <a:ext cx="1463040" cy="283464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233866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Scale-across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492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Multi-rail 기술</a:t>
            </a:r>
          </a:p>
        </p:txBody>
      </p:sp>
      <p:pic>
        <p:nvPicPr>
          <p:cNvPr id="6" name="Picture 5" descr="fiber_cab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0990"/>
            <a:ext cx="10515600" cy="29328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343022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47472"/>
            <a:ext cx="1463040" cy="283464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3377062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2026-3분기 사업성과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36042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부품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사업: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매출: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$5.3억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(QoQ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+20%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+77%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펌프 레이저:  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+80%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협대역 선폭 레이저:  9분기 연속 성장,  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+120%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레이저 칩:  EML 출하량 역대 최고치  (200G 매출:  QoQ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+100%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시스템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사업: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매출: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$2.8억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(QoQ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+24%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+121%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클라우드 트랜시버:  QoQ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+40%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(4분기부터 1.6T 제품 양산 예정)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OCS:  최근 $수십억 규모 다년 계약 체결  (그러나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공급 &lt;&lt; 수요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</p:txBody>
      </p:sp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Lumentum Q3 FY26 어닝콜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65391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47472"/>
            <a:ext cx="1463040" cy="283464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368795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2026-3분기 손익계산서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6400800" cy="2626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총매출: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$8.1억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+90%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매출총이익: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$3.6억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+191%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매출총이익률: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44.2%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+15.4%p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영업이익: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$1.7억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흑자전환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R&amp;D 비용:  $0.9억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+19%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당기순이익: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$1.4억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흑자전환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희석 EPS: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$1.50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(1년 전:  -$0.64)</a:t>
            </a:r>
          </a:p>
        </p:txBody>
      </p:sp>
      <p:sp>
        <p:nvSpPr>
          <p:cNvPr id="6" name="Rectangle 5"/>
          <p:cNvSpPr/>
          <p:nvPr/>
        </p:nvSpPr>
        <p:spPr>
          <a:xfrm>
            <a:off x="7516368" y="914400"/>
            <a:ext cx="4218127" cy="2132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7653528" y="1051560"/>
          <a:ext cx="3943805" cy="1858003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71903"/>
                <a:gridCol w="985951"/>
                <a:gridCol w="985951"/>
              </a:tblGrid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(단위: 백만 달러)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3Q FY25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3Q FY26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Net revenue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425.2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808.4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Gross profit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122.5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357.0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Research and development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75.9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90.6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Income (loss) from operations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(37.7)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174.5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Net income (loss)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(44.1)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144.2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Diluted EPS ($)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(0.64)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1.50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Lumentum Q3 FY26 10-Q (SEC XBRL)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343022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47472"/>
            <a:ext cx="1463040" cy="283464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3377062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2026-4분기 가이던스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051560"/>
            <a:ext cx="457200" cy="155448"/>
          </a:xfrm>
          <a:prstGeom prst="rect">
            <a:avLst/>
          </a:prstGeom>
          <a:solidFill>
            <a:srgbClr val="C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19072" y="1051560"/>
            <a:ext cx="457200" cy="155448"/>
          </a:xfrm>
          <a:prstGeom prst="rect">
            <a:avLst/>
          </a:prstGeom>
          <a:solidFill>
            <a:srgbClr val="F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9424" y="960120"/>
            <a:ext cx="649224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1800" lang="ko-KR" altLang="en-US">
                <a:solidFill>
                  <a:srgbClr val="CAEEFB"/>
                </a:solidFill>
                <a:latin typeface="에스코어 드림 6 Bold"/>
                <a:ea typeface="에스코어 드림 6 Bold"/>
              </a:rPr>
              <a:t>매출</a:t>
            </a:r>
          </a:p>
        </p:txBody>
      </p:sp>
      <p:sp>
        <p:nvSpPr>
          <p:cNvPr id="8" name="Oval 7"/>
          <p:cNvSpPr/>
          <p:nvPr/>
        </p:nvSpPr>
        <p:spPr>
          <a:xfrm>
            <a:off x="3218688" y="1051560"/>
            <a:ext cx="164592" cy="164592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8" y="960120"/>
            <a:ext cx="2537917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1800" lang="ko-KR" altLang="en-US">
                <a:solidFill>
                  <a:srgbClr val="FF0000"/>
                </a:solidFill>
                <a:latin typeface="에스코어 드림 6 Bold"/>
                <a:ea typeface="에스코어 드림 6 Bold"/>
              </a:rPr>
              <a:t>Non-GAAP 영업이익률</a:t>
            </a:r>
          </a:p>
        </p:txBody>
      </p:sp>
      <p:sp>
        <p:nvSpPr>
          <p:cNvPr id="10" name="Oval 9"/>
          <p:cNvSpPr/>
          <p:nvPr/>
        </p:nvSpPr>
        <p:spPr>
          <a:xfrm>
            <a:off x="6305245" y="1051560"/>
            <a:ext cx="164592" cy="164592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3845" y="960120"/>
            <a:ext cx="2370033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1800" lang="ko-KR" altLang="en-US">
                <a:solidFill>
                  <a:srgbClr val="00B050"/>
                </a:solidFill>
                <a:latin typeface="에스코어 드림 6 Bold"/>
                <a:ea typeface="에스코어 드림 6 Bold"/>
              </a:rPr>
              <a:t>Non-GAAP 희석 EPS</a:t>
            </a:r>
          </a:p>
        </p:txBody>
      </p:sp>
      <p:sp>
        <p:nvSpPr>
          <p:cNvPr id="12" name="막대 25-4Q"/>
          <p:cNvSpPr/>
          <p:nvPr/>
        </p:nvSpPr>
        <p:spPr>
          <a:xfrm>
            <a:off x="1682496" y="3886200"/>
            <a:ext cx="822960" cy="1600200"/>
          </a:xfrm>
          <a:prstGeom prst="rect">
            <a:avLst/>
          </a:prstGeom>
          <a:solidFill>
            <a:srgbClr val="C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02152"/>
            <a:ext cx="1993392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CAEEFB"/>
                </a:solidFill>
                <a:latin typeface="에스코어 드림 6 Bold"/>
                <a:ea typeface="에스코어 드림 6 Bold"/>
              </a:rPr>
              <a:t>$481M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522976"/>
            <a:ext cx="1993392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CAEEFB"/>
                </a:solidFill>
                <a:latin typeface="에스코어 드림 6 Bold"/>
                <a:ea typeface="에스코어 드림 6 Bold"/>
              </a:rPr>
              <a:t>25-4Q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50791"/>
            <a:ext cx="1993392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00" lang="ko-KR" altLang="en-US">
                <a:solidFill>
                  <a:srgbClr val="FF0000"/>
                </a:solidFill>
                <a:latin typeface="에스코어 드림 6 Bold"/>
                <a:ea typeface="에스코어 드림 6 Bold"/>
              </a:rPr>
              <a:t>15%</a:t>
            </a:r>
          </a:p>
        </p:txBody>
      </p:sp>
      <p:sp>
        <p:nvSpPr>
          <p:cNvPr id="16" name="Oval 15"/>
          <p:cNvSpPr/>
          <p:nvPr/>
        </p:nvSpPr>
        <p:spPr>
          <a:xfrm>
            <a:off x="1997964" y="4379976"/>
            <a:ext cx="192024" cy="19202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007107" y="4654296"/>
            <a:ext cx="173736" cy="155448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37176"/>
            <a:ext cx="1993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lang="ko-KR" altLang="en-US">
                <a:solidFill>
                  <a:srgbClr val="00B050"/>
                </a:solidFill>
                <a:latin typeface="에스코어 드림 6 Bold"/>
                <a:ea typeface="에스코어 드림 6 Bold"/>
              </a:rPr>
              <a:t>$0.88</a:t>
            </a:r>
          </a:p>
        </p:txBody>
      </p:sp>
      <p:sp>
        <p:nvSpPr>
          <p:cNvPr id="19" name="막대 26-1Q"/>
          <p:cNvSpPr/>
          <p:nvPr/>
        </p:nvSpPr>
        <p:spPr>
          <a:xfrm>
            <a:off x="3675888" y="3800933"/>
            <a:ext cx="822960" cy="1685466"/>
          </a:xfrm>
          <a:prstGeom prst="rect">
            <a:avLst/>
          </a:prstGeom>
          <a:solidFill>
            <a:srgbClr val="C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416885"/>
            <a:ext cx="1993392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CAEEFB"/>
                </a:solidFill>
                <a:latin typeface="에스코어 드림 6 Bold"/>
                <a:ea typeface="에스코어 드림 6 Bold"/>
              </a:rPr>
              <a:t>$534M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0672" y="5522976"/>
            <a:ext cx="1993392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CAEEFB"/>
                </a:solidFill>
                <a:latin typeface="에스코어 드림 6 Bold"/>
                <a:ea typeface="에스코어 드림 6 Bold"/>
              </a:rPr>
              <a:t>26-1Q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3965525"/>
            <a:ext cx="1993392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00" lang="ko-KR" altLang="en-US">
                <a:solidFill>
                  <a:srgbClr val="FF0000"/>
                </a:solidFill>
                <a:latin typeface="에스코어 드림 6 Bold"/>
                <a:ea typeface="에스코어 드림 6 Bold"/>
              </a:rPr>
              <a:t>18.7%</a:t>
            </a:r>
          </a:p>
        </p:txBody>
      </p:sp>
      <p:sp>
        <p:nvSpPr>
          <p:cNvPr id="23" name="Oval 22"/>
          <p:cNvSpPr/>
          <p:nvPr/>
        </p:nvSpPr>
        <p:spPr>
          <a:xfrm>
            <a:off x="3991356" y="4294709"/>
            <a:ext cx="192024" cy="19202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000500" y="4569029"/>
            <a:ext cx="173736" cy="155448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0672" y="4751909"/>
            <a:ext cx="1993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lang="ko-KR" altLang="en-US">
                <a:solidFill>
                  <a:srgbClr val="00B050"/>
                </a:solidFill>
                <a:latin typeface="에스코어 드림 6 Bold"/>
                <a:ea typeface="에스코어 드림 6 Bold"/>
              </a:rPr>
              <a:t>$1.1</a:t>
            </a:r>
          </a:p>
        </p:txBody>
      </p:sp>
      <p:sp>
        <p:nvSpPr>
          <p:cNvPr id="26" name="막대 26-2Q"/>
          <p:cNvSpPr/>
          <p:nvPr/>
        </p:nvSpPr>
        <p:spPr>
          <a:xfrm>
            <a:off x="5669280" y="3384301"/>
            <a:ext cx="822960" cy="2102098"/>
          </a:xfrm>
          <a:prstGeom prst="rect">
            <a:avLst/>
          </a:prstGeom>
          <a:solidFill>
            <a:srgbClr val="C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84064" y="3000253"/>
            <a:ext cx="1993392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CAEEFB"/>
                </a:solidFill>
                <a:latin typeface="에스코어 드림 6 Bold"/>
                <a:ea typeface="에스코어 드림 6 Bold"/>
              </a:rPr>
              <a:t>$666M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4064" y="5522976"/>
            <a:ext cx="1993392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CAEEFB"/>
                </a:solidFill>
                <a:latin typeface="에스코어 드림 6 Bold"/>
                <a:ea typeface="에스코어 드림 6 Bold"/>
              </a:rPr>
              <a:t>26-2Q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4064" y="3548893"/>
            <a:ext cx="1993392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00" lang="ko-KR" altLang="en-US">
                <a:solidFill>
                  <a:srgbClr val="FF0000"/>
                </a:solidFill>
                <a:latin typeface="에스코어 드림 6 Bold"/>
                <a:ea typeface="에스코어 드림 6 Bold"/>
              </a:rPr>
              <a:t>25.2%</a:t>
            </a:r>
          </a:p>
        </p:txBody>
      </p:sp>
      <p:sp>
        <p:nvSpPr>
          <p:cNvPr id="30" name="Oval 29"/>
          <p:cNvSpPr/>
          <p:nvPr/>
        </p:nvSpPr>
        <p:spPr>
          <a:xfrm>
            <a:off x="5984748" y="3878077"/>
            <a:ext cx="192024" cy="19202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93892" y="4152397"/>
            <a:ext cx="173736" cy="155448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84064" y="4335277"/>
            <a:ext cx="1993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lang="ko-KR" altLang="en-US">
                <a:solidFill>
                  <a:srgbClr val="00B050"/>
                </a:solidFill>
                <a:latin typeface="에스코어 드림 6 Bold"/>
                <a:ea typeface="에스코어 드림 6 Bold"/>
              </a:rPr>
              <a:t>$1.67</a:t>
            </a:r>
          </a:p>
        </p:txBody>
      </p:sp>
      <p:sp>
        <p:nvSpPr>
          <p:cNvPr id="33" name="막대 26-3Q"/>
          <p:cNvSpPr/>
          <p:nvPr/>
        </p:nvSpPr>
        <p:spPr>
          <a:xfrm>
            <a:off x="7662672" y="2936105"/>
            <a:ext cx="822960" cy="2550294"/>
          </a:xfrm>
          <a:prstGeom prst="rect">
            <a:avLst/>
          </a:prstGeom>
          <a:solidFill>
            <a:srgbClr val="C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77456" y="2552057"/>
            <a:ext cx="1993392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CAEEFB"/>
                </a:solidFill>
                <a:latin typeface="에스코어 드림 6 Bold"/>
                <a:ea typeface="에스코어 드림 6 Bold"/>
              </a:rPr>
              <a:t>$808M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77456" y="5522976"/>
            <a:ext cx="1993392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CAEEFB"/>
                </a:solidFill>
                <a:latin typeface="에스코어 드림 6 Bold"/>
                <a:ea typeface="에스코어 드림 6 Bold"/>
              </a:rPr>
              <a:t>26-3Q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77456" y="3100697"/>
            <a:ext cx="1993392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00" lang="ko-KR" altLang="en-US">
                <a:solidFill>
                  <a:srgbClr val="FF0000"/>
                </a:solidFill>
                <a:latin typeface="에스코어 드림 6 Bold"/>
                <a:ea typeface="에스코어 드림 6 Bold"/>
              </a:rPr>
              <a:t>32.2%</a:t>
            </a:r>
          </a:p>
        </p:txBody>
      </p:sp>
      <p:sp>
        <p:nvSpPr>
          <p:cNvPr id="37" name="Oval 36"/>
          <p:cNvSpPr/>
          <p:nvPr/>
        </p:nvSpPr>
        <p:spPr>
          <a:xfrm>
            <a:off x="7978140" y="3429881"/>
            <a:ext cx="192024" cy="19202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87283" y="3704201"/>
            <a:ext cx="173736" cy="155448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77456" y="3887081"/>
            <a:ext cx="1993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lang="ko-KR" altLang="en-US">
                <a:solidFill>
                  <a:srgbClr val="00B050"/>
                </a:solidFill>
                <a:latin typeface="에스코어 드림 6 Bold"/>
                <a:ea typeface="에스코어 드림 6 Bold"/>
              </a:rPr>
              <a:t>$2.37</a:t>
            </a:r>
          </a:p>
        </p:txBody>
      </p:sp>
      <p:sp>
        <p:nvSpPr>
          <p:cNvPr id="40" name="막대 26-4Q"/>
          <p:cNvSpPr/>
          <p:nvPr/>
        </p:nvSpPr>
        <p:spPr>
          <a:xfrm>
            <a:off x="9656064" y="2377440"/>
            <a:ext cx="822960" cy="3108960"/>
          </a:xfrm>
          <a:prstGeom prst="rect">
            <a:avLst/>
          </a:prstGeom>
          <a:solidFill>
            <a:srgbClr val="F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70848" y="1993392"/>
            <a:ext cx="1993392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F6C6AD"/>
                </a:solidFill>
                <a:latin typeface="에스코어 드림 6 Bold"/>
                <a:ea typeface="에스코어 드림 6 Bold"/>
              </a:rPr>
              <a:t>$960-1,010M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0848" y="5522976"/>
            <a:ext cx="1993392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F6C6AD"/>
                </a:solidFill>
                <a:latin typeface="에스코어 드림 6 Bold"/>
                <a:ea typeface="에스코어 드림 6 Bold"/>
              </a:rPr>
              <a:t>26-4Q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0848" y="2542032"/>
            <a:ext cx="1993392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00" lang="ko-KR" altLang="en-US">
                <a:solidFill>
                  <a:srgbClr val="FF0000"/>
                </a:solidFill>
                <a:latin typeface="에스코어 드림 6 Bold"/>
                <a:ea typeface="에스코어 드림 6 Bold"/>
              </a:rPr>
              <a:t>35-36%</a:t>
            </a:r>
          </a:p>
        </p:txBody>
      </p:sp>
      <p:sp>
        <p:nvSpPr>
          <p:cNvPr id="44" name="Oval 43"/>
          <p:cNvSpPr/>
          <p:nvPr/>
        </p:nvSpPr>
        <p:spPr>
          <a:xfrm>
            <a:off x="9971532" y="2871216"/>
            <a:ext cx="192024" cy="19202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980676" y="3145536"/>
            <a:ext cx="173736" cy="155448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70848" y="3328416"/>
            <a:ext cx="199339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lang="ko-KR" altLang="en-US">
                <a:solidFill>
                  <a:srgbClr val="00B050"/>
                </a:solidFill>
                <a:latin typeface="에스코어 드림 6 Bold"/>
                <a:ea typeface="에스코어 드림 6 Bold"/>
              </a:rPr>
              <a:t>$2.85-</a:t>
            </a:r>
          </a:p>
          <a:p>
            <a:pPr algn="ctr"/>
            <a:r>
              <a:rPr sz="1600" lang="ko-KR" altLang="en-US">
                <a:solidFill>
                  <a:srgbClr val="00B050"/>
                </a:solidFill>
                <a:latin typeface="에스코어 드림 6 Bold"/>
                <a:ea typeface="에스코어 드림 6 Bold"/>
              </a:rPr>
              <a:t>3.05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3976" y="2996261"/>
            <a:ext cx="1993392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+11%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87368" y="2579629"/>
            <a:ext cx="1993392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+25%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2131433"/>
            <a:ext cx="1993392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+21%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74152" y="1572768"/>
            <a:ext cx="1993392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+22%</a:t>
            </a:r>
          </a:p>
        </p:txBody>
      </p:sp>
      <p:sp>
        <p:nvSpPr>
          <p:cNvPr id="51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Lumentum 분기 실적발표 (Non-GAAP)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822960" y="2011680"/>
            <a:ext cx="1051560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8800" lang="ko-KR" altLang="en-US">
                <a:solidFill>
                  <a:srgbClr val="000000"/>
                </a:solidFill>
                <a:latin typeface="여기어때 잘난체 고딕"/>
                <a:ea typeface="여기어때 잘난체 고딕"/>
              </a:rPr>
              <a:t>Q &amp; 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042391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47472"/>
            <a:ext cx="1463040" cy="283464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07643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Q &amp; A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8618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548640" indent="-548640"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Q1.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EML과 레이저의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수요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는 문제가 없는 것 같은데,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공급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현황은 어떤가요?</a:t>
            </a:r>
          </a:p>
          <a:p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548640" indent="-54864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A. 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지난 분기에 연간 50% 공급 증가를 목표로 제시했듯이 공급을 꾸준히 늘리고 있지만,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여전히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수요를 따라가지 못하고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있습니다.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지난 어닝콜 때 수급 불균형이 25% 수준이라고 말했는데, 현재는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30% 이상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입니다.</a:t>
            </a:r>
          </a:p>
        </p:txBody>
      </p:sp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Lumentum Q3 FY26 어닝콜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48386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47472"/>
            <a:ext cx="1463040" cy="283464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517904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목표주가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848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애널리스트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17명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:  매수 13 · 중립 4 · 매도 0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평균 목표주가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$1,064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(현재가 대비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+17%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</p:txBody>
      </p:sp>
      <p:graphicFrame>
        <p:nvGraphicFramePr>
          <p:cNvPr id="6" name="막대그래프"/>
          <p:cNvGraphicFramePr>
            <a:graphicFrameLocks noGrp="1"/>
          </p:cNvGraphicFramePr>
          <p:nvPr/>
        </p:nvGraphicFramePr>
        <p:xfrm>
          <a:off x="841248" y="1963928"/>
          <a:ext cx="10515600" cy="448259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TipRanks (2026.5.10, 예시 덱 기준)</a:t>
            </a:r>
          </a:p>
        </p:txBody>
      </p:sp>
      <p:sp>
        <p:nvSpPr>
          <p:cNvPr id="8" name="기준일"/>
          <p:cNvSpPr txBox="1"/>
          <p:nvPr/>
        </p:nvSpPr>
        <p:spPr>
          <a:xfrm>
            <a:off x="9052560" y="320040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lang="ko-KR" altLang="en-US">
                <a:solidFill>
                  <a:srgbClr val="FFFFFF"/>
                </a:solidFill>
                <a:latin typeface="에스코어 드림 4 Regular"/>
                <a:ea typeface="에스코어 드림 4 Regular"/>
              </a:rPr>
              <a:t>(2026-05-10)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79476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47472"/>
            <a:ext cx="1463040" cy="283464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828800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밸류에이션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2441448" y="914400"/>
            <a:ext cx="731520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2578608" y="1051560"/>
          <a:ext cx="7040880" cy="3200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520440"/>
                <a:gridCol w="352044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지표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Trailing P/E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159배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Forward P/E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59배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P/S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30배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P/B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23배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Yahoo Finance (2026.5.10, 예시 덱 기준)</a:t>
            </a:r>
          </a:p>
        </p:txBody>
      </p:sp>
      <p:sp>
        <p:nvSpPr>
          <p:cNvPr id="8" name="기준일"/>
          <p:cNvSpPr txBox="1"/>
          <p:nvPr/>
        </p:nvSpPr>
        <p:spPr>
          <a:xfrm>
            <a:off x="9052560" y="320040"/>
            <a:ext cx="2743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lang="ko-KR" altLang="en-US">
                <a:solidFill>
                  <a:srgbClr val="FFFFFF"/>
                </a:solidFill>
                <a:latin typeface="에스코어 드림 4 Regular"/>
                <a:ea typeface="에스코어 드림 4 Regular"/>
              </a:rPr>
              <a:t>(2026-05-10)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17296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47472"/>
            <a:ext cx="1463040" cy="283464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20700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총정리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28041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3분기 실적:  ( </a:t>
            </a:r>
            <a:r>
              <a:rPr sz="2000" lang="ko-KR" altLang="en-US">
                <a:solidFill>
                  <a:srgbClr val="F6C6AD"/>
                </a:solidFill>
                <a:latin typeface="에스코어 드림 6 Bold"/>
                <a:ea typeface="에스코어 드림 6 Bold"/>
              </a:rPr>
              <a:t>부분적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인 ) 어닝 </a:t>
            </a:r>
            <a:r>
              <a:rPr sz="2000" lang="ko-KR" altLang="en-US">
                <a:solidFill>
                  <a:srgbClr val="F6C6AD"/>
                </a:solidFill>
                <a:latin typeface="에스코어 드림 6 Bold"/>
                <a:ea typeface="에스코어 드림 6 Bold"/>
              </a:rPr>
              <a:t>서프라이즈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매출:  $8.1억  (QoQ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+21%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.  가이던스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충족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Non-GAAP 영업이익률:  32.2%  (QoQ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+7%p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.  가이던스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상회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Non-GAAP 희석 EPS:  $2.37  (QoQ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+42%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.  가이던스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상회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엔비디아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루멘텀에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$20억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투자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루멘텀,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S&amp;P 500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지수 편입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17296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로고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347472"/>
            <a:ext cx="1463040" cy="283464"/>
          </a:xfrm>
          <a:prstGeom prst="rect">
            <a:avLst/>
          </a:prstGeom>
        </p:spPr>
      </p:pic>
      <p:sp>
        <p:nvSpPr>
          <p:cNvPr id="4" name="제목"/>
          <p:cNvSpPr txBox="1"/>
          <p:nvPr/>
        </p:nvSpPr>
        <p:spPr>
          <a:xfrm>
            <a:off x="1783080" y="274320"/>
            <a:ext cx="120700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총정리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28041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수요-공급 불균형: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30% 이상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Scale-across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의 비중이 아직 작은데, 천천히 지켜보자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리스크: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상위 2개 고객사가 전체 매출의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38%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차지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중국 경쟁사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높은 밸류에이션 (Forward PER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59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전면 사진" descr="server_room.jpg"/>
          <p:cNvPicPr>
            <a:picLocks noChangeAspect="1"/>
          </p:cNvPicPr>
          <p:nvPr/>
        </p:nvPicPr>
        <p:blipFill>
          <a:blip r:embed="rId2"/>
          <a:srcRect t="4708" b="1098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"/>
            <a:ext cx="210312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루멘텀 2026-3분기 실적 리뷰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