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종가</c:v>
                </c:pt>
              </c:strCache>
            </c:strRef>
          </c:tx>
          <c:spPr>
            <a:ln w="22225">
              <a:solidFill>
                <a:srgbClr val="D93025"/>
              </a:solidFill>
            </a:ln>
          </c:spPr>
          <c:marker>
            <c:symbol val="none"/>
          </c:marker>
          <c:cat>
            <c:strRef>
              <c:f>Sheet1!$A$2:$A$252</c:f>
              <c:strCache>
                <c:ptCount val="251"/>
                <c:pt idx="0">
                  <c:v>25.10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25.11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25.12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>26.01</c:v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>26.02</c:v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>26.03</c:v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>26.04</c:v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>26.05</c:v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>26.06</c:v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>26.07</c:v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  <c:pt idx="200">
                  <c:v/>
                </c:pt>
                <c:pt idx="201">
                  <c:v/>
                </c:pt>
                <c:pt idx="202">
                  <c:v/>
                </c:pt>
                <c:pt idx="203">
                  <c:v/>
                </c:pt>
                <c:pt idx="204">
                  <c:v/>
                </c:pt>
                <c:pt idx="205">
                  <c:v/>
                </c:pt>
                <c:pt idx="206">
                  <c:v/>
                </c:pt>
                <c:pt idx="207">
                  <c:v>26.08</c:v>
                </c:pt>
                <c:pt idx="208">
                  <c:v/>
                </c:pt>
                <c:pt idx="209">
                  <c:v/>
                </c:pt>
                <c:pt idx="210">
                  <c:v/>
                </c:pt>
                <c:pt idx="211">
                  <c:v/>
                </c:pt>
                <c:pt idx="212">
                  <c:v/>
                </c:pt>
                <c:pt idx="213">
                  <c:v/>
                </c:pt>
                <c:pt idx="214">
                  <c:v/>
                </c:pt>
                <c:pt idx="215">
                  <c:v/>
                </c:pt>
                <c:pt idx="216">
                  <c:v/>
                </c:pt>
                <c:pt idx="217">
                  <c:v/>
                </c:pt>
                <c:pt idx="218">
                  <c:v/>
                </c:pt>
                <c:pt idx="219">
                  <c:v/>
                </c:pt>
                <c:pt idx="220">
                  <c:v/>
                </c:pt>
                <c:pt idx="221">
                  <c:v/>
                </c:pt>
                <c:pt idx="222">
                  <c:v/>
                </c:pt>
                <c:pt idx="223">
                  <c:v/>
                </c:pt>
                <c:pt idx="224">
                  <c:v/>
                </c:pt>
                <c:pt idx="225">
                  <c:v/>
                </c:pt>
                <c:pt idx="226">
                  <c:v/>
                </c:pt>
                <c:pt idx="227">
                  <c:v/>
                </c:pt>
                <c:pt idx="228">
                  <c:v>26.09</c:v>
                </c:pt>
                <c:pt idx="229">
                  <c:v/>
                </c:pt>
                <c:pt idx="230">
                  <c:v/>
                </c:pt>
                <c:pt idx="231">
                  <c:v/>
                </c:pt>
                <c:pt idx="232">
                  <c:v/>
                </c:pt>
                <c:pt idx="233">
                  <c:v/>
                </c:pt>
                <c:pt idx="234">
                  <c:v/>
                </c:pt>
                <c:pt idx="235">
                  <c:v/>
                </c:pt>
                <c:pt idx="236">
                  <c:v/>
                </c:pt>
                <c:pt idx="237">
                  <c:v/>
                </c:pt>
                <c:pt idx="238">
                  <c:v/>
                </c:pt>
                <c:pt idx="239">
                  <c:v/>
                </c:pt>
                <c:pt idx="240">
                  <c:v/>
                </c:pt>
                <c:pt idx="241">
                  <c:v/>
                </c:pt>
                <c:pt idx="242">
                  <c:v/>
                </c:pt>
                <c:pt idx="243">
                  <c:v/>
                </c:pt>
                <c:pt idx="244">
                  <c:v/>
                </c:pt>
                <c:pt idx="245">
                  <c:v/>
                </c:pt>
                <c:pt idx="246">
                  <c:v/>
                </c:pt>
                <c:pt idx="247">
                  <c:v/>
                </c:pt>
                <c:pt idx="248">
                  <c:v/>
                </c:pt>
                <c:pt idx="249">
                  <c:v>26.10</c:v>
                </c:pt>
                <c:pt idx="250">
                  <c:v/>
                </c:pt>
              </c:strCache>
            </c:strRef>
          </c:cat>
          <c:val>
            <c:numRef>
              <c:f>Sheet1!$B$2:$B$252</c:f>
              <c:numCache>
                <c:formatCode>General</c:formatCode>
                <c:ptCount val="251"/>
                <c:pt idx="0">
                  <c:v>77.13</c:v>
                </c:pt>
                <c:pt idx="1">
                  <c:v>78.34</c:v>
                </c:pt>
                <c:pt idx="2">
                  <c:v>77.55</c:v>
                </c:pt>
                <c:pt idx="3">
                  <c:v>78.5</c:v>
                </c:pt>
                <c:pt idx="4">
                  <c:v>83.85</c:v>
                </c:pt>
                <c:pt idx="5">
                  <c:v>82.8</c:v>
                </c:pt>
                <c:pt idx="6">
                  <c:v>86.96</c:v>
                </c:pt>
                <c:pt idx="7">
                  <c:v>86.95</c:v>
                </c:pt>
                <c:pt idx="8">
                  <c:v>93.12</c:v>
                </c:pt>
                <c:pt idx="9">
                  <c:v>87.58</c:v>
                </c:pt>
                <c:pt idx="10">
                  <c:v>87.06</c:v>
                </c:pt>
                <c:pt idx="11">
                  <c:v>88.82</c:v>
                </c:pt>
                <c:pt idx="12">
                  <c:v>89.7</c:v>
                </c:pt>
                <c:pt idx="13">
                  <c:v>87.55</c:v>
                </c:pt>
                <c:pt idx="14">
                  <c:v>90.38</c:v>
                </c:pt>
                <c:pt idx="15">
                  <c:v>98.28</c:v>
                </c:pt>
                <c:pt idx="16">
                  <c:v>98.55</c:v>
                </c:pt>
                <c:pt idx="17">
                  <c:v>97.0</c:v>
                </c:pt>
                <c:pt idx="18">
                  <c:v>102.67</c:v>
                </c:pt>
                <c:pt idx="19">
                  <c:v>99.12</c:v>
                </c:pt>
                <c:pt idx="20">
                  <c:v>101.22</c:v>
                </c:pt>
                <c:pt idx="21">
                  <c:v>101.5</c:v>
                </c:pt>
                <c:pt idx="22">
                  <c:v>99.81</c:v>
                </c:pt>
                <c:pt idx="23">
                  <c:v>111.84</c:v>
                </c:pt>
                <c:pt idx="24">
                  <c:v>106.54</c:v>
                </c:pt>
                <c:pt idx="25">
                  <c:v>104.63</c:v>
                </c:pt>
                <c:pt idx="26">
                  <c:v>107.43</c:v>
                </c:pt>
                <c:pt idx="27">
                  <c:v>105.83</c:v>
                </c:pt>
                <c:pt idx="28">
                  <c:v>96.5</c:v>
                </c:pt>
                <c:pt idx="29">
                  <c:v>88.09</c:v>
                </c:pt>
                <c:pt idx="30">
                  <c:v>93.75</c:v>
                </c:pt>
                <c:pt idx="31">
                  <c:v>89.4</c:v>
                </c:pt>
                <c:pt idx="32">
                  <c:v>90.55</c:v>
                </c:pt>
                <c:pt idx="33">
                  <c:v>89.64</c:v>
                </c:pt>
                <c:pt idx="34">
                  <c:v>85.82</c:v>
                </c:pt>
                <c:pt idx="35">
                  <c:v>87.13</c:v>
                </c:pt>
                <c:pt idx="36">
                  <c:v>86.86</c:v>
                </c:pt>
                <c:pt idx="37">
                  <c:v>90.06</c:v>
                </c:pt>
                <c:pt idx="38">
                  <c:v>90.67</c:v>
                </c:pt>
                <c:pt idx="39">
                  <c:v>91.62</c:v>
                </c:pt>
                <c:pt idx="40">
                  <c:v>87.44</c:v>
                </c:pt>
                <c:pt idx="41">
                  <c:v>86.6</c:v>
                </c:pt>
                <c:pt idx="42">
                  <c:v>86.88</c:v>
                </c:pt>
                <c:pt idx="43">
                  <c:v>90.65</c:v>
                </c:pt>
                <c:pt idx="44">
                  <c:v>90.58</c:v>
                </c:pt>
                <c:pt idx="45">
                  <c:v>89.7</c:v>
                </c:pt>
                <c:pt idx="46">
                  <c:v>88.58</c:v>
                </c:pt>
                <c:pt idx="47">
                  <c:v>89.39</c:v>
                </c:pt>
                <c:pt idx="48">
                  <c:v>93.43</c:v>
                </c:pt>
                <c:pt idx="49">
                  <c:v>86.75</c:v>
                </c:pt>
                <c:pt idx="50">
                  <c:v>87.16</c:v>
                </c:pt>
                <c:pt idx="51">
                  <c:v>88.0</c:v>
                </c:pt>
                <c:pt idx="52">
                  <c:v>85.83</c:v>
                </c:pt>
                <c:pt idx="53">
                  <c:v>87.39</c:v>
                </c:pt>
                <c:pt idx="54">
                  <c:v>88.7</c:v>
                </c:pt>
                <c:pt idx="55">
                  <c:v>92.39</c:v>
                </c:pt>
                <c:pt idx="56">
                  <c:v>91.04</c:v>
                </c:pt>
                <c:pt idx="57">
                  <c:v>91.16</c:v>
                </c:pt>
                <c:pt idx="58">
                  <c:v>91.24</c:v>
                </c:pt>
                <c:pt idx="59">
                  <c:v>90.21</c:v>
                </c:pt>
                <c:pt idx="60">
                  <c:v>87.04</c:v>
                </c:pt>
                <c:pt idx="61">
                  <c:v>87.11</c:v>
                </c:pt>
                <c:pt idx="62">
                  <c:v>92.78</c:v>
                </c:pt>
                <c:pt idx="63">
                  <c:v>89.6</c:v>
                </c:pt>
                <c:pt idx="64">
                  <c:v>91.51</c:v>
                </c:pt>
                <c:pt idx="65">
                  <c:v>88.81</c:v>
                </c:pt>
                <c:pt idx="66">
                  <c:v>89.22</c:v>
                </c:pt>
                <c:pt idx="67">
                  <c:v>91.17</c:v>
                </c:pt>
                <c:pt idx="68">
                  <c:v>99.08</c:v>
                </c:pt>
                <c:pt idx="69">
                  <c:v>100.24</c:v>
                </c:pt>
                <c:pt idx="70">
                  <c:v>94.71</c:v>
                </c:pt>
                <c:pt idx="71">
                  <c:v>98.65</c:v>
                </c:pt>
                <c:pt idx="72">
                  <c:v>96.36</c:v>
                </c:pt>
                <c:pt idx="73">
                  <c:v>96.28</c:v>
                </c:pt>
                <c:pt idx="74">
                  <c:v>100.32</c:v>
                </c:pt>
                <c:pt idx="75">
                  <c:v>105.18</c:v>
                </c:pt>
                <c:pt idx="76">
                  <c:v>105.0</c:v>
                </c:pt>
                <c:pt idx="77">
                  <c:v>107.28</c:v>
                </c:pt>
                <c:pt idx="78">
                  <c:v>105.91</c:v>
                </c:pt>
                <c:pt idx="79">
                  <c:v>119.97</c:v>
                </c:pt>
                <c:pt idx="80">
                  <c:v>121.08</c:v>
                </c:pt>
                <c:pt idx="81">
                  <c:v>117.09</c:v>
                </c:pt>
                <c:pt idx="82">
                  <c:v>115.6</c:v>
                </c:pt>
                <c:pt idx="83">
                  <c:v>119.85</c:v>
                </c:pt>
                <c:pt idx="84">
                  <c:v>116.72</c:v>
                </c:pt>
                <c:pt idx="85">
                  <c:v>114.44</c:v>
                </c:pt>
                <c:pt idx="86">
                  <c:v>121.37</c:v>
                </c:pt>
                <c:pt idx="87">
                  <c:v>121.87</c:v>
                </c:pt>
                <c:pt idx="88">
                  <c:v>117.94</c:v>
                </c:pt>
                <c:pt idx="89">
                  <c:v>119.9</c:v>
                </c:pt>
                <c:pt idx="90">
                  <c:v>114.24</c:v>
                </c:pt>
                <c:pt idx="91">
                  <c:v>116.44</c:v>
                </c:pt>
                <c:pt idx="92">
                  <c:v>122.59</c:v>
                </c:pt>
                <c:pt idx="93">
                  <c:v>124.49</c:v>
                </c:pt>
                <c:pt idx="94">
                  <c:v>116.05</c:v>
                </c:pt>
                <c:pt idx="95">
                  <c:v>119.34</c:v>
                </c:pt>
                <c:pt idx="96">
                  <c:v>116.99</c:v>
                </c:pt>
                <c:pt idx="97">
                  <c:v>120.58</c:v>
                </c:pt>
                <c:pt idx="98">
                  <c:v>116.51</c:v>
                </c:pt>
                <c:pt idx="99">
                  <c:v>106.86</c:v>
                </c:pt>
                <c:pt idx="100">
                  <c:v>105.1</c:v>
                </c:pt>
                <c:pt idx="101">
                  <c:v>103.72</c:v>
                </c:pt>
                <c:pt idx="102">
                  <c:v>101.16</c:v>
                </c:pt>
                <c:pt idx="103">
                  <c:v>103.88</c:v>
                </c:pt>
                <c:pt idx="104">
                  <c:v>103.4</c:v>
                </c:pt>
                <c:pt idx="105">
                  <c:v>101.43</c:v>
                </c:pt>
                <c:pt idx="106">
                  <c:v>108.13</c:v>
                </c:pt>
                <c:pt idx="107">
                  <c:v>113.73</c:v>
                </c:pt>
                <c:pt idx="108">
                  <c:v>116.69</c:v>
                </c:pt>
                <c:pt idx="109">
                  <c:v>115.9</c:v>
                </c:pt>
                <c:pt idx="110">
                  <c:v>119.64</c:v>
                </c:pt>
                <c:pt idx="111">
                  <c:v>118.09</c:v>
                </c:pt>
                <c:pt idx="112">
                  <c:v>121.84</c:v>
                </c:pt>
                <c:pt idx="113">
                  <c:v>115.38</c:v>
                </c:pt>
                <c:pt idx="114">
                  <c:v>118.74</c:v>
                </c:pt>
                <c:pt idx="115">
                  <c:v>114.39</c:v>
                </c:pt>
                <c:pt idx="116">
                  <c:v>116.91</c:v>
                </c:pt>
                <c:pt idx="117">
                  <c:v>124.86</c:v>
                </c:pt>
                <c:pt idx="118">
                  <c:v>130.42</c:v>
                </c:pt>
                <c:pt idx="119">
                  <c:v>119.85</c:v>
                </c:pt>
                <c:pt idx="120">
                  <c:v>120.03</c:v>
                </c:pt>
                <c:pt idx="121">
                  <c:v>112.51</c:v>
                </c:pt>
                <c:pt idx="122">
                  <c:v>120.55</c:v>
                </c:pt>
                <c:pt idx="123">
                  <c:v>120.38</c:v>
                </c:pt>
                <c:pt idx="124">
                  <c:v>113.08</c:v>
                </c:pt>
                <c:pt idx="125">
                  <c:v>108.06</c:v>
                </c:pt>
                <c:pt idx="126">
                  <c:v>109.18</c:v>
                </c:pt>
                <c:pt idx="127">
                  <c:v>116.41</c:v>
                </c:pt>
                <c:pt idx="128">
                  <c:v>113.59</c:v>
                </c:pt>
                <c:pt idx="129">
                  <c:v>117.97</c:v>
                </c:pt>
                <c:pt idx="130">
                  <c:v>111.55</c:v>
                </c:pt>
                <c:pt idx="131">
                  <c:v>114.92</c:v>
                </c:pt>
                <c:pt idx="132">
                  <c:v>110.12</c:v>
                </c:pt>
                <c:pt idx="133">
                  <c:v>106.83</c:v>
                </c:pt>
                <c:pt idx="134">
                  <c:v>111.39</c:v>
                </c:pt>
                <c:pt idx="135">
                  <c:v>106.49</c:v>
                </c:pt>
                <c:pt idx="136">
                  <c:v>108.05</c:v>
                </c:pt>
                <c:pt idx="137">
                  <c:v>116.19</c:v>
                </c:pt>
                <c:pt idx="138">
                  <c:v>124.36</c:v>
                </c:pt>
                <c:pt idx="139">
                  <c:v>121.41</c:v>
                </c:pt>
                <c:pt idx="140">
                  <c:v>122.58</c:v>
                </c:pt>
                <c:pt idx="141">
                  <c:v>116.54</c:v>
                </c:pt>
                <c:pt idx="142">
                  <c:v>114.27</c:v>
                </c:pt>
                <c:pt idx="143">
                  <c:v>119.13</c:v>
                </c:pt>
                <c:pt idx="144">
                  <c:v>119.93</c:v>
                </c:pt>
                <c:pt idx="145">
                  <c:v>116.93</c:v>
                </c:pt>
                <c:pt idx="146">
                  <c:v>123.34</c:v>
                </c:pt>
                <c:pt idx="147">
                  <c:v>126.08</c:v>
                </c:pt>
                <c:pt idx="148">
                  <c:v>120.86</c:v>
                </c:pt>
                <c:pt idx="149">
                  <c:v>125.91</c:v>
                </c:pt>
                <c:pt idx="150">
                  <c:v>126.26</c:v>
                </c:pt>
                <c:pt idx="151">
                  <c:v>125.37</c:v>
                </c:pt>
                <c:pt idx="152">
                  <c:v>136.37</c:v>
                </c:pt>
                <c:pt idx="153">
                  <c:v>142.75</c:v>
                </c:pt>
                <c:pt idx="154">
                  <c:v>144.29</c:v>
                </c:pt>
                <c:pt idx="155">
                  <c:v>134.48</c:v>
                </c:pt>
                <c:pt idx="156">
                  <c:v>127.12</c:v>
                </c:pt>
                <c:pt idx="157">
                  <c:v>125.42</c:v>
                </c:pt>
                <c:pt idx="158">
                  <c:v>121.02</c:v>
                </c:pt>
                <c:pt idx="159">
                  <c:v>130.5</c:v>
                </c:pt>
                <c:pt idx="160">
                  <c:v>131.21</c:v>
                </c:pt>
                <c:pt idx="161">
                  <c:v>135.78</c:v>
                </c:pt>
                <c:pt idx="162">
                  <c:v>137.17</c:v>
                </c:pt>
                <c:pt idx="163">
                  <c:v>156.4</c:v>
                </c:pt>
                <c:pt idx="164">
                  <c:v>145.02</c:v>
                </c:pt>
                <c:pt idx="165">
                  <c:v>152.22</c:v>
                </c:pt>
                <c:pt idx="166">
                  <c:v>146.47</c:v>
                </c:pt>
                <c:pt idx="167">
                  <c:v>150.32</c:v>
                </c:pt>
                <c:pt idx="168">
                  <c:v>131.57</c:v>
                </c:pt>
                <c:pt idx="169">
                  <c:v>125.65</c:v>
                </c:pt>
                <c:pt idx="170">
                  <c:v>119.27</c:v>
                </c:pt>
                <c:pt idx="171">
                  <c:v>111.95</c:v>
                </c:pt>
                <c:pt idx="172">
                  <c:v>119.68</c:v>
                </c:pt>
                <c:pt idx="173">
                  <c:v>121.88</c:v>
                </c:pt>
                <c:pt idx="174">
                  <c:v>125.83</c:v>
                </c:pt>
                <c:pt idx="175">
                  <c:v>125.62</c:v>
                </c:pt>
                <c:pt idx="176">
                  <c:v>123.31</c:v>
                </c:pt>
                <c:pt idx="177">
                  <c:v>125.9</c:v>
                </c:pt>
                <c:pt idx="178">
                  <c:v>129.07</c:v>
                </c:pt>
                <c:pt idx="179">
                  <c:v>120.64</c:v>
                </c:pt>
                <c:pt idx="180">
                  <c:v>116.67</c:v>
                </c:pt>
                <c:pt idx="181">
                  <c:v>113.18</c:v>
                </c:pt>
                <c:pt idx="182">
                  <c:v>106.95</c:v>
                </c:pt>
                <c:pt idx="183">
                  <c:v>110.66</c:v>
                </c:pt>
                <c:pt idx="184">
                  <c:v>119.14</c:v>
                </c:pt>
                <c:pt idx="185">
                  <c:v>116.15</c:v>
                </c:pt>
                <c:pt idx="186">
                  <c:v>112.84</c:v>
                </c:pt>
                <c:pt idx="187">
                  <c:v>115.03</c:v>
                </c:pt>
                <c:pt idx="188">
                  <c:v>108.85</c:v>
                </c:pt>
                <c:pt idx="189">
                  <c:v>109.74</c:v>
                </c:pt>
                <c:pt idx="190">
                  <c:v>112.71</c:v>
                </c:pt>
                <c:pt idx="191">
                  <c:v>111.5</c:v>
                </c:pt>
                <c:pt idx="192">
                  <c:v>99.67</c:v>
                </c:pt>
                <c:pt idx="193">
                  <c:v>104.66</c:v>
                </c:pt>
                <c:pt idx="194">
                  <c:v>109.13</c:v>
                </c:pt>
                <c:pt idx="195">
                  <c:v>106.85</c:v>
                </c:pt>
                <c:pt idx="196">
                  <c:v>103.1</c:v>
                </c:pt>
                <c:pt idx="197">
                  <c:v>100.23</c:v>
                </c:pt>
                <c:pt idx="198">
                  <c:v>105.67</c:v>
                </c:pt>
                <c:pt idx="199">
                  <c:v>104.96</c:v>
                </c:pt>
                <c:pt idx="200">
                  <c:v>104.49</c:v>
                </c:pt>
                <c:pt idx="201">
                  <c:v>100.03</c:v>
                </c:pt>
                <c:pt idx="202">
                  <c:v>103.73</c:v>
                </c:pt>
                <c:pt idx="203">
                  <c:v>95.35</c:v>
                </c:pt>
                <c:pt idx="204">
                  <c:v>92.67</c:v>
                </c:pt>
                <c:pt idx="205">
                  <c:v>96.9</c:v>
                </c:pt>
                <c:pt idx="206">
                  <c:v>89.87</c:v>
                </c:pt>
                <c:pt idx="207">
                  <c:v>90.67</c:v>
                </c:pt>
                <c:pt idx="208">
                  <c:v>98.44</c:v>
                </c:pt>
                <c:pt idx="209">
                  <c:v>99.81</c:v>
                </c:pt>
                <c:pt idx="210">
                  <c:v>98.43</c:v>
                </c:pt>
                <c:pt idx="211">
                  <c:v>103.26</c:v>
                </c:pt>
                <c:pt idx="212">
                  <c:v>102.91</c:v>
                </c:pt>
                <c:pt idx="213">
                  <c:v>104.88</c:v>
                </c:pt>
                <c:pt idx="214">
                  <c:v>103.67</c:v>
                </c:pt>
                <c:pt idx="215">
                  <c:v>104.55</c:v>
                </c:pt>
                <c:pt idx="216">
                  <c:v>101.47</c:v>
                </c:pt>
                <c:pt idx="217">
                  <c:v>99.09</c:v>
                </c:pt>
                <c:pt idx="218">
                  <c:v>91.15</c:v>
                </c:pt>
                <c:pt idx="219">
                  <c:v>92.12</c:v>
                </c:pt>
                <c:pt idx="220">
                  <c:v>87.86</c:v>
                </c:pt>
                <c:pt idx="221">
                  <c:v>86.18</c:v>
                </c:pt>
                <c:pt idx="222">
                  <c:v>84.72</c:v>
                </c:pt>
                <c:pt idx="223">
                  <c:v>84.81</c:v>
                </c:pt>
                <c:pt idx="224">
                  <c:v>87.23</c:v>
                </c:pt>
                <c:pt idx="225">
                  <c:v>89.58</c:v>
                </c:pt>
                <c:pt idx="226">
                  <c:v>85.44</c:v>
                </c:pt>
                <c:pt idx="227">
                  <c:v>82.03</c:v>
                </c:pt>
                <c:pt idx="228">
                  <c:v>83.07</c:v>
                </c:pt>
                <c:pt idx="229">
                  <c:v>82.55</c:v>
                </c:pt>
                <c:pt idx="230">
                  <c:v>83.5</c:v>
                </c:pt>
                <c:pt idx="231">
                  <c:v>84.5</c:v>
                </c:pt>
                <c:pt idx="232">
                  <c:v>85.45</c:v>
                </c:pt>
                <c:pt idx="233">
                  <c:v>82.37</c:v>
                </c:pt>
                <c:pt idx="234">
                  <c:v>81.35</c:v>
                </c:pt>
                <c:pt idx="235">
                  <c:v>82.89</c:v>
                </c:pt>
                <c:pt idx="236">
                  <c:v>82.62</c:v>
                </c:pt>
                <c:pt idx="237">
                  <c:v>79.79</c:v>
                </c:pt>
                <c:pt idx="238">
                  <c:v>78.03</c:v>
                </c:pt>
                <c:pt idx="239">
                  <c:v>83.36</c:v>
                </c:pt>
                <c:pt idx="240">
                  <c:v>80.47</c:v>
                </c:pt>
                <c:pt idx="241">
                  <c:v>83.15</c:v>
                </c:pt>
                <c:pt idx="242">
                  <c:v>82.52</c:v>
                </c:pt>
                <c:pt idx="243">
                  <c:v>81.81</c:v>
                </c:pt>
                <c:pt idx="244">
                  <c:v>79.97</c:v>
                </c:pt>
                <c:pt idx="245">
                  <c:v>80.85</c:v>
                </c:pt>
                <c:pt idx="246">
                  <c:v>79.13</c:v>
                </c:pt>
                <c:pt idx="247">
                  <c:v>79.31</c:v>
                </c:pt>
                <c:pt idx="248">
                  <c:v>77.93</c:v>
                </c:pt>
                <c:pt idx="249">
                  <c:v>79.48</c:v>
                </c:pt>
                <c:pt idx="250">
                  <c:v>84.3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ADCE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tickLblSkip val="1"/>
        <c:tickMarkSkip val="20"/>
        <c:noMultiLvlLbl val="0"/>
      </c:catAx>
      <c:valAx>
        <c:axId val="2140495176"/>
        <c:scaling>
          <c:min val="70.0"/>
        </c:scaling>
        <c:delete val="0"/>
        <c:axPos val="l"/>
        <c:majorGridlines>
          <c:spPr>
            <a:ln>
              <a:solidFill>
                <a:srgbClr val="E8EAE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70757A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미국 매출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CAEEFB"/>
              </a:solidFill>
              <a:ln>
                <a:noFill/>
              </a:ln>
            </c:spPr>
          </c:dPt>
          <c:dPt>
            <c:idx val="3"/>
            <c:spPr>
              <a:solidFill>
                <a:srgbClr val="CAEEFB"/>
              </a:solidFill>
              <a:ln>
                <a:noFill/>
              </a:ln>
            </c:spPr>
          </c:dPt>
          <c:dPt>
            <c:idx val="4"/>
            <c:spPr>
              <a:solidFill>
                <a:srgbClr val="CAEEFB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69%</a:t>
                    </a:r>
                  </a:p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$5.99억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76%</a:t>
                    </a:r>
                  </a:p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$6.87억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81%</a:t>
                    </a:r>
                  </a:p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$7.35억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81%</a:t>
                    </a:r>
                  </a:p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$7.09억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83%</a:t>
                    </a:r>
                  </a:p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$7.76억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1Q FY26</c:v>
                </c:pt>
                <c:pt idx="1">
                  <c:v>2Q</c:v>
                </c:pt>
                <c:pt idx="2">
                  <c:v>3Q</c:v>
                </c:pt>
                <c:pt idx="3">
                  <c:v>4Q</c:v>
                </c:pt>
                <c:pt idx="4">
                  <c:v>1Q FY27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599.0</c:v>
                </c:pt>
                <c:pt idx="1">
                  <c:v>687.0</c:v>
                </c:pt>
                <c:pt idx="2">
                  <c:v>735.0</c:v>
                </c:pt>
                <c:pt idx="3">
                  <c:v>709.0</c:v>
                </c:pt>
                <c:pt idx="4">
                  <c:v>776.0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매출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CAEEFB"/>
              </a:solidFill>
              <a:ln>
                <a:noFill/>
              </a:ln>
            </c:spPr>
          </c:dPt>
          <c:dPt>
            <c:idx val="3"/>
            <c:spPr>
              <a:solidFill>
                <a:srgbClr val="CAEEFB"/>
              </a:solidFill>
              <a:ln>
                <a:noFill/>
              </a:ln>
            </c:spPr>
          </c:dPt>
          <c:dPt>
            <c:idx val="4"/>
            <c:spPr>
              <a:solidFill>
                <a:srgbClr val="CAEEFB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$14.6억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$19.0억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$25.0억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$29.6억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$35.6억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14.57592</c:v>
                </c:pt>
                <c:pt idx="1">
                  <c:v>19.02137</c:v>
                </c:pt>
                <c:pt idx="2">
                  <c:v>24.99841</c:v>
                </c:pt>
                <c:pt idx="3">
                  <c:v>29.59197</c:v>
                </c:pt>
                <c:pt idx="4">
                  <c:v>35.5939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4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희석 EPS (GAAP)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CAEEFB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$3.37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$3.47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$3.84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3.37</c:v>
                </c:pt>
                <c:pt idx="1">
                  <c:v>3.47</c:v>
                </c:pt>
                <c:pt idx="2">
                  <c:v>3.84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4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잉여현금흐름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CAEEFB"/>
              </a:solidFill>
              <a:ln>
                <a:noFill/>
              </a:ln>
            </c:spPr>
          </c:dPt>
          <c:dPt>
            <c:idx val="3"/>
            <c:spPr>
              <a:solidFill>
                <a:srgbClr val="CAEEFB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$1.04억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$4.23억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$6.22억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14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$5.14억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1.04486</c:v>
                </c:pt>
                <c:pt idx="1">
                  <c:v>4.22813</c:v>
                </c:pt>
                <c:pt idx="2">
                  <c:v>6.21873</c:v>
                </c:pt>
                <c:pt idx="3">
                  <c:v>5.13634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4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FFFF00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CAEEFB"/>
              </a:solidFill>
              <a:ln>
                <a:noFill/>
              </a:ln>
            </c:spPr>
          </c:dPt>
          <c:dPt>
            <c:idx val="3"/>
            <c:spPr>
              <a:solidFill>
                <a:srgbClr val="CAEEFB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19명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7명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3명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0명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강력 매수</c:v>
                </c:pt>
                <c:pt idx="1">
                  <c:v>매수</c:v>
                </c:pt>
                <c:pt idx="2">
                  <c:v>보유</c:v>
                </c:pt>
                <c:pt idx="3">
                  <c:v>매도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19.0</c:v>
                </c:pt>
                <c:pt idx="1">
                  <c:v>7.0</c:v>
                </c:pt>
                <c:pt idx="2">
                  <c:v>3.0</c:v>
                </c:pt>
                <c:pt idx="3">
                  <c:v>0.0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CAEEFB"/>
              </a:solidFill>
              <a:ln>
                <a:noFill/>
              </a:ln>
            </c:spPr>
          </c:dPt>
          <c:dPt>
            <c:idx val="3"/>
            <c:spPr>
              <a:solidFill>
                <a:srgbClr val="CAEEFB"/>
              </a:solidFill>
              <a:ln>
                <a:noFill/>
              </a:ln>
            </c:spPr>
          </c:dPt>
          <c:dPt>
            <c:idx val="4"/>
            <c:spPr>
              <a:solidFill>
                <a:srgbClr val="CAEEFB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6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$8.64억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6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$9.05억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6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$9.09억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16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$8.81억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wrap="none"/>
                  <a:lstStyle/>
                  <a:p>
                    <a:r>
                      <a:rPr sz="16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$9.35억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1Q26</c:v>
                </c:pt>
                <c:pt idx="1">
                  <c:v>2Q26</c:v>
                </c:pt>
                <c:pt idx="2">
                  <c:v>3Q26</c:v>
                </c:pt>
                <c:pt idx="3">
                  <c:v>4Q26</c:v>
                </c:pt>
                <c:pt idx="4">
                  <c:v>1Q27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8.64253</c:v>
                </c:pt>
                <c:pt idx="1">
                  <c:v>9.05268</c:v>
                </c:pt>
                <c:pt idx="2">
                  <c:v>9.09352</c:v>
                </c:pt>
                <c:pt idx="3">
                  <c:v>8.80517</c:v>
                </c:pt>
                <c:pt idx="4">
                  <c:v>9.3517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6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CAEEFB"/>
              </a:solidFill>
              <a:ln>
                <a:noFill/>
              </a:ln>
            </c:spPr>
          </c:dPt>
          <c:dPt>
            <c:idx val="3"/>
            <c:spPr>
              <a:solidFill>
                <a:srgbClr val="CAEEFB"/>
              </a:solidFill>
              <a:ln>
                <a:noFill/>
              </a:ln>
            </c:spPr>
          </c:dPt>
          <c:dPt>
            <c:idx val="4"/>
            <c:spPr>
              <a:solidFill>
                <a:srgbClr val="FFFF00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25%</a:t>
                    </a:r>
                  </a:p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$2.15억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25%</a:t>
                    </a:r>
                  </a:p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$2.24억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23%</a:t>
                    </a:r>
                  </a:p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$2.14억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23%</a:t>
                    </a:r>
                  </a:p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$2.02억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25%</a:t>
                    </a:r>
                  </a:p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$2.33억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1Q FY26</c:v>
                </c:pt>
                <c:pt idx="1">
                  <c:v>2Q</c:v>
                </c:pt>
                <c:pt idx="2">
                  <c:v>3Q</c:v>
                </c:pt>
                <c:pt idx="3">
                  <c:v>4Q</c:v>
                </c:pt>
                <c:pt idx="4">
                  <c:v>1Q FY27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215.0</c:v>
                </c:pt>
                <c:pt idx="1">
                  <c:v>224.0</c:v>
                </c:pt>
                <c:pt idx="2">
                  <c:v>214.0</c:v>
                </c:pt>
                <c:pt idx="3">
                  <c:v>202.0</c:v>
                </c:pt>
                <c:pt idx="4">
                  <c:v>233.0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CAEEFB"/>
              </a:solidFill>
              <a:ln>
                <a:noFill/>
              </a:ln>
            </c:spPr>
          </c:dPt>
          <c:dPt>
            <c:idx val="3"/>
            <c:spPr>
              <a:solidFill>
                <a:srgbClr val="F6C6AD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$25.0억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$29.6억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$35.6억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6C6AD"/>
                        </a:solidFill>
                        <a:latin typeface="에스코어 드림 6 Bold"/>
                        <a:ea typeface="에스코어 드림 6 Bold"/>
                      </a:rPr>
                      <a:t>$41~44억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24.99841</c:v>
                </c:pt>
                <c:pt idx="1">
                  <c:v>29.59197</c:v>
                </c:pt>
                <c:pt idx="2">
                  <c:v>35.5939</c:v>
                </c:pt>
                <c:pt idx="3">
                  <c:v>42.5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FFFF00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37%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46%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1Q FY26</c:v>
                </c:pt>
                <c:pt idx="1">
                  <c:v>1Q FY27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37.0</c:v>
                </c:pt>
                <c:pt idx="1">
                  <c:v>46.0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공부할 기업은 넥스트파워 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넥스트파워 주가는 2026년 10월 2일 기준</a:t>
            </a:r>
          </a:p>
          <a:p>
            <a:r>
              <a:t>84.3달러에 거래되고 있고</a:t>
            </a:r>
          </a:p>
          <a:p>
            <a:r>
              <a:t>시가총액은 약 128억 달러입니다.</a:t>
            </a:r>
          </a:p>
          <a:p>
            <a:r>
              <a:t>(나)</a:t>
            </a:r>
          </a:p>
          <a:p>
            <a:r>
              <a:t>지난 5월 말 156달러까지 올랐다가</a:t>
            </a:r>
          </a:p>
          <a:p>
            <a:r>
              <a:t>넉 달 만에 절반 가까이 빠진 상태입니다.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넥스트파워는 대형 태양광 발전소에 들어가는</a:t>
            </a:r>
          </a:p>
          <a:p>
            <a:r>
              <a:t>태양광 트래커, 즉 해를 따라 패널을 돌려주는 구조물을</a:t>
            </a:r>
          </a:p>
          <a:p>
            <a:r>
              <a:t>세계에서 가장 많이 파는 회사입니다.</a:t>
            </a:r>
          </a:p>
          <a:p>
            <a:r>
              <a:t>(나)</a:t>
            </a:r>
          </a:p>
          <a:p>
            <a:r>
              <a:t>최근에는 기초 구조물, 전기 설비, 인버터, 배터리까지</a:t>
            </a:r>
          </a:p>
          <a:p>
            <a:r>
              <a:t>발전소에 필요한 장비를 묶어서 공급하는</a:t>
            </a:r>
          </a:p>
          <a:p>
            <a:r>
              <a:t>에너지 인프라 플랫폼으로 변신하고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트래커가 뭔지 먼저 짚고 가겠습니다.</a:t>
            </a:r>
          </a:p>
          <a:p>
            <a:r>
              <a:t>고정식 태양광은 패널이 한 방향만 보고 있지만</a:t>
            </a:r>
          </a:p>
          <a:p>
            <a:r>
              <a:t>트래커는 아침부터 저녁까지 해를 따라 패널을 돌립니다.</a:t>
            </a:r>
          </a:p>
          <a:p>
            <a:r>
              <a:t>(나)</a:t>
            </a:r>
          </a:p>
          <a:p>
            <a:r>
              <a:t>그래서 같은 땅에서 더 많은 전기를 만들 수 있고</a:t>
            </a:r>
          </a:p>
          <a:p>
            <a:r>
              <a:t>미국 대형 발전소에서는 사실상 표준이 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회사 역사를 설명드리겠습니다.</a:t>
            </a:r>
          </a:p>
          <a:p>
            <a:r>
              <a:t>2013년, 30년 가까이 태양광 업계에 몸담았던</a:t>
            </a:r>
          </a:p>
          <a:p>
            <a:r>
              <a:t>댄 슈가가 넥스트파워의 전신인 넥스트래커를 세웠습니다.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2015년, 전자제품 위탁생산 기업 플렉스가</a:t>
            </a:r>
          </a:p>
          <a:p>
            <a:r>
              <a:t>넥스트래커를 3억 3천만 달러에 인수했습니다.</a:t>
            </a:r>
          </a:p>
          <a:p>
            <a:r>
              <a:t>(나)</a:t>
            </a:r>
          </a:p>
          <a:p>
            <a:r>
              <a:t>이듬해에는 머신러닝 회사 브라이트박스를 인수해</a:t>
            </a:r>
          </a:p>
          <a:p>
            <a:r>
              <a:t>트래커 한 줄 한 줄을 따로 제어하는</a:t>
            </a:r>
          </a:p>
          <a:p>
            <a:r>
              <a:t>트루캡처 소프트웨어를 만들었습니다.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2023년 2월, 나스닥에 상장했습니다.</a:t>
            </a:r>
          </a:p>
          <a:p>
            <a:r>
              <a:t>(나)</a:t>
            </a:r>
          </a:p>
          <a:p>
            <a:r>
              <a:t>그리고 2024년 1월, 플렉스가 보유 지분을</a:t>
            </a:r>
          </a:p>
          <a:p>
            <a:r>
              <a:t>자기 주주들에게 나눠주면서</a:t>
            </a:r>
          </a:p>
          <a:p>
            <a:r>
              <a:t>넥스트래커는 완전히 독립한 회사가 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이후 트래커 주변 제품들을 하나씩 인수했습니다.</a:t>
            </a:r>
          </a:p>
          <a:p>
            <a:r>
              <a:t>기초 구조물 회사 오죠, 전기 설비 회사 벤텍,</a:t>
            </a:r>
          </a:p>
          <a:p>
            <a:r>
              <a:t>로봇 시공 회사 온사이트 등입니다.</a:t>
            </a:r>
          </a:p>
          <a:p>
            <a:r>
              <a:t>(나)</a:t>
            </a:r>
          </a:p>
          <a:p>
            <a:r>
              <a:t>그리고 2025년 11월,</a:t>
            </a:r>
          </a:p>
          <a:p>
            <a:r>
              <a:t>트래커 회사라는 이름을 버리고</a:t>
            </a:r>
          </a:p>
          <a:p>
            <a:r>
              <a:t>넥스트파워로 사명을 바꿨습니다.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올해 7월에는 굵직한 인수가 두 건 마무리됐습니다.</a:t>
            </a:r>
          </a:p>
          <a:p>
            <a:r>
              <a:t>배터리 에너지저장장치 회사 프레발론,</a:t>
            </a:r>
          </a:p>
          <a:p>
            <a:r>
              <a:t>그리고 인버터 회사 지고르와 에이펙스입니다.</a:t>
            </a:r>
          </a:p>
          <a:p>
            <a:r>
              <a:t>(나)</a:t>
            </a:r>
          </a:p>
          <a:p>
            <a:r>
              <a:t>독일의 고정식 구조물 회사</a:t>
            </a:r>
          </a:p>
          <a:p>
            <a:r>
              <a:t>짐머만 인수도 진행 중입니다.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넥스트파워는 우드맥킨지 조사에서</a:t>
            </a:r>
          </a:p>
          <a:p>
            <a:r>
              <a:t>11년 연속 트래커 점유율 1위를 차지했습니다.</a:t>
            </a:r>
          </a:p>
          <a:p>
            <a:r>
              <a:t>(나)</a:t>
            </a:r>
          </a:p>
          <a:p>
            <a:r>
              <a:t>미국에서는 55%, 전 세계에서는 30%입니다.</a:t>
            </a:r>
          </a:p>
          <a:p>
            <a:r>
              <a:t>(나)</a:t>
            </a:r>
          </a:p>
          <a:p>
            <a:r>
              <a:t>지금까지 약 2천 개 프로젝트,</a:t>
            </a:r>
          </a:p>
          <a:p>
            <a:r>
              <a:t>160기가와트가 넘는 발전소에 장비를 공급했습니다.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CEO는 누구일까요?</a:t>
            </a:r>
          </a:p>
          <a:p>
            <a:r>
              <a:t>(나)</a:t>
            </a:r>
          </a:p>
          <a:p>
            <a:r>
              <a:t>창업자 댄 슈가는 63세로</a:t>
            </a:r>
          </a:p>
          <a:p>
            <a:r>
              <a:t>렌셀러 공대에서 전기전자공학을 전공했습니다.</a:t>
            </a:r>
          </a:p>
          <a:p>
            <a:r>
              <a:t>(나)</a:t>
            </a:r>
          </a:p>
          <a:p>
            <a:r>
              <a:t>1988년부터 태양광 업계에서 일했고</a:t>
            </a:r>
          </a:p>
          <a:p>
            <a:r>
              <a:t>파워라이트 사장, 선파워 시스템즈 사장,</a:t>
            </a:r>
          </a:p>
          <a:p>
            <a:r>
              <a:t>솔라리아 CEO를 거쳤습니다.</a:t>
            </a:r>
          </a:p>
          <a:p>
            <a:r>
              <a:t>(나)</a:t>
            </a:r>
          </a:p>
          <a:p>
            <a:r>
              <a:t>2013년부터 넥스트파워를 이끌고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사장 하워드 웽거는 슈가와</a:t>
            </a:r>
          </a:p>
          <a:p>
            <a:r>
              <a:t>파워라이트, 선파워 시절부터 함께 일한 동료입니다.</a:t>
            </a:r>
          </a:p>
          <a:p>
            <a:r>
              <a:t>(나)</a:t>
            </a:r>
          </a:p>
          <a:p>
            <a:r>
              <a:t>CFO 척 보인턴은 이사회 멤버로 있다가</a:t>
            </a:r>
          </a:p>
          <a:p>
            <a:r>
              <a:t>2024년 5월 CFO로 합류했습니다.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넥스트파워는 돈을 어떻게 벌까요?</a:t>
            </a:r>
          </a:p>
          <a:p>
            <a:r>
              <a:t>(나)</a:t>
            </a:r>
          </a:p>
          <a:p>
            <a:r>
              <a:t>매출의 86%는 아직 트래커입니다.</a:t>
            </a:r>
          </a:p>
          <a:p>
            <a:r>
              <a:t>(나)</a:t>
            </a:r>
          </a:p>
          <a:p>
            <a:r>
              <a:t>나머지 14%는 트루캡처 소프트웨어,</a:t>
            </a:r>
          </a:p>
          <a:p>
            <a:r>
              <a:t>전기 설비인 eBOS, 기초 구조물 같은 비트래커 제품인데</a:t>
            </a:r>
          </a:p>
          <a:p>
            <a:r>
              <a:t>트래커보다 더 빠르게 성장하고 있습니다.</a:t>
            </a:r>
          </a:p>
          <a:p>
            <a:r>
              <a:t>(나)</a:t>
            </a:r>
          </a:p>
          <a:p>
            <a:r>
              <a:t>그리고 이번 회계연도부터</a:t>
            </a:r>
          </a:p>
          <a:p>
            <a:r>
              <a:t>인버터와 배터리라는 새 사업이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지역별로 보면 미국 비중이 83%까지 올라왔습니다.</a:t>
            </a:r>
          </a:p>
          <a:p>
            <a:r>
              <a:t>1년 전에는 69%였습니다.</a:t>
            </a:r>
          </a:p>
          <a:p>
            <a:r>
              <a:t>(나)</a:t>
            </a:r>
          </a:p>
          <a:p>
            <a:r>
              <a:t>반대로 해외 매출은 1년 전보다 40% 줄었습니다.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연도별 실적 추이를 보겠습니다.</a:t>
            </a:r>
          </a:p>
          <a:p>
            <a:r>
              <a:t>넥스트파워 회계연도는 3월에 끝납니다.</a:t>
            </a:r>
          </a:p>
          <a:p>
            <a:r>
              <a:t>(나)</a:t>
            </a:r>
          </a:p>
          <a:p>
            <a:r>
              <a:t>매출은 FY22 14.6억 달러에서</a:t>
            </a:r>
          </a:p>
          <a:p>
            <a:r>
              <a:t>FY26 35.6억 달러로 4년 만에 2.4배가 됐습니다.</a:t>
            </a:r>
          </a:p>
          <a:p>
            <a:r>
              <a:t>(나)</a:t>
            </a:r>
          </a:p>
          <a:p>
            <a:r>
              <a:t>희석 EPS는 FY24 3.37달러에서 FY26 3.84달러로 늘었고</a:t>
            </a:r>
          </a:p>
          <a:p>
            <a:r>
              <a:t>(나)</a:t>
            </a:r>
          </a:p>
          <a:p>
            <a:r>
              <a:t>잉여현금흐름은 FY25 6.2억, FY26 5.1억 달러를 기록했습니다.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주요 주주는 누구일까요?</a:t>
            </a:r>
          </a:p>
          <a:p>
            <a:r>
              <a:t>올해 7월 공개된 위임장 설명서에 따르면</a:t>
            </a:r>
          </a:p>
          <a:p>
            <a:r>
              <a:t>(나)</a:t>
            </a:r>
          </a:p>
          <a:p>
            <a:r>
              <a:t>블랙록이 13.48%, 피델리티가 13.37%로</a:t>
            </a:r>
          </a:p>
          <a:p>
            <a:r>
              <a:t>두 기관이 4분의 1 이상을 갖고 있습니다.</a:t>
            </a:r>
          </a:p>
          <a:p>
            <a:r>
              <a:t>(나)</a:t>
            </a:r>
          </a:p>
          <a:p>
            <a:r>
              <a:t>창업자 댄 슈가는 약 63만 주로 1%가 안 되고</a:t>
            </a:r>
          </a:p>
          <a:p>
            <a:r>
              <a:t>이사와 임원을 다 합쳐도 1% 미만입니다.</a:t>
            </a:r>
          </a:p>
          <a:p>
            <a:r>
              <a:t>플렉스에서 분사한 회사라 창업자 지분이 작은 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넥스트파워는 배당을 주지 않습니다.</a:t>
            </a:r>
          </a:p>
          <a:p>
            <a:r>
              <a:t>(나)</a:t>
            </a:r>
          </a:p>
          <a:p>
            <a:r>
              <a:t>올해 1월 5억 달러 자사주 매입을 승인받았지만</a:t>
            </a:r>
          </a:p>
          <a:p>
            <a:r>
              <a:t>1분기에는 사지 않았습니다.</a:t>
            </a:r>
          </a:p>
          <a:p>
            <a:r>
              <a:t>(나)</a:t>
            </a:r>
          </a:p>
          <a:p>
            <a:r>
              <a:t>회사는 내부 투자, 인수합병, 주주환원 순으로</a:t>
            </a:r>
          </a:p>
          <a:p>
            <a:r>
              <a:t>돈을 쓰겠다고 밝혔습니다.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밸류에이션은 어떨까요?</a:t>
            </a:r>
          </a:p>
          <a:p>
            <a:r>
              <a:t>(나)</a:t>
            </a:r>
          </a:p>
          <a:p>
            <a:r>
              <a:t>트레일링 PER은 21.8배,</a:t>
            </a:r>
          </a:p>
          <a:p>
            <a:r>
              <a:t>컨센서스 EPS 기준 포워드 PER은 18배입니다.</a:t>
            </a:r>
          </a:p>
          <a:p>
            <a:r>
              <a:t>(나)</a:t>
            </a:r>
          </a:p>
          <a:p>
            <a:r>
              <a:t>부채 없이 현금이 12억 달러 넘게 있다는 점도</a:t>
            </a:r>
          </a:p>
          <a:p>
            <a:r>
              <a:t>기억해 둘 만합니다.</a:t>
            </a:r>
          </a:p>
          <a:p>
            <a:r>
              <a:t>주가가 빠지면서 1년 전보다 부담이 꽤 줄었습니다.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목표주가는 얼마일까요?</a:t>
            </a:r>
          </a:p>
          <a:p>
            <a:r>
              <a:t>10월 2일 기준</a:t>
            </a:r>
          </a:p>
          <a:p>
            <a:r>
              <a:t>29명의 애널리스트 중 26명이 매수 의견,</a:t>
            </a:r>
          </a:p>
          <a:p>
            <a:r>
              <a:t>3명이 보유 의견을 냈습니다.</a:t>
            </a:r>
          </a:p>
          <a:p>
            <a:r>
              <a:t>(나)</a:t>
            </a:r>
          </a:p>
          <a:p>
            <a:r>
              <a:t>평균 목표주가는 139달러로</a:t>
            </a:r>
          </a:p>
          <a:p>
            <a:r>
              <a:t>현재 주가보다 65% 높습니다.</a:t>
            </a:r>
          </a:p>
          <a:p>
            <a:r>
              <a:t>다만 최저 70달러부터 최고 175달러까지 의견이 크게 갈립니다.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실적 발표 이후 목표가를 낮춘 곳도 있습니다.</a:t>
            </a:r>
          </a:p>
          <a:p>
            <a:r>
              <a:t>(나)</a:t>
            </a:r>
          </a:p>
          <a:p>
            <a:r>
              <a:t>제프리스는 7월 31일 목표가를 131달러로 낮췄고</a:t>
            </a:r>
          </a:p>
          <a:p>
            <a:r>
              <a:t>아르거스는 9월 30일 75달러까지 낮췄습니다.</a:t>
            </a:r>
          </a:p>
          <a:p>
            <a:r>
              <a:t>인수합병으로 마진이 낮아질 수 있다는 걱정이 반영된 것으로 보입니다.</a:t>
            </a:r>
          </a:p>
          <a:p>
            <a:r>
              <a:t>(원문 리포트는 확인하지 못했고 보도 내용을 옮겼습니다.)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그럼 실적이 어떻게 나왔을까요?</a:t>
            </a:r>
          </a:p>
          <a:p>
            <a:r>
              <a:t>7월 30일에 발표된 1분기 실적을 정리해드리겠습니다.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1분기 매출은 9억 3,500만 달러로</a:t>
            </a:r>
          </a:p>
          <a:p>
            <a:r>
              <a:t>분기 기준 사상 최대를 기록했습니다.</a:t>
            </a:r>
          </a:p>
          <a:p>
            <a:r>
              <a:t>(나)</a:t>
            </a:r>
          </a:p>
          <a:p>
            <a:r>
              <a:t>조정 EBITDA는 2억 3,300만 달러,</a:t>
            </a:r>
          </a:p>
          <a:p>
            <a:r>
              <a:t>조정 EPS는 1.2달러입니다.</a:t>
            </a:r>
          </a:p>
          <a:p>
            <a:r>
              <a:t>(나)</a:t>
            </a:r>
          </a:p>
          <a:p>
            <a:r>
              <a:t>수주잔고도 55억 달러를 넘어 사상 최대이고</a:t>
            </a:r>
          </a:p>
          <a:p>
            <a:r>
              <a:t>프레발론 인수로 3억 달러 이상이 더해집니다.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수익성을 보겠습니다.</a:t>
            </a:r>
          </a:p>
          <a:p>
            <a:r>
              <a:t>조정 매출총이익률은 36.6%로</a:t>
            </a:r>
          </a:p>
          <a:p>
            <a:r>
              <a:t>회사 목표인 30% 초반을 크게 넘었습니다.</a:t>
            </a:r>
          </a:p>
          <a:p>
            <a:r>
              <a:t>(나)</a:t>
            </a:r>
          </a:p>
          <a:p>
            <a:r>
              <a:t>올해 2월 대법원이 IEEPA 관세를 위법으로 판결하면서 돌려받은 관세 환급,</a:t>
            </a:r>
          </a:p>
          <a:p>
            <a:r>
              <a:t>트루캡처 매출 증가 덕분입니다.</a:t>
            </a:r>
          </a:p>
          <a:p>
            <a:r>
              <a:t>(나)</a:t>
            </a:r>
          </a:p>
          <a:p>
            <a:r>
              <a:t>반면 인수한 회사들 인건비와 연구개발비가 늘면서</a:t>
            </a:r>
          </a:p>
          <a:p>
            <a:r>
              <a:t>영업비용이 56% 증가해 매출의 12%가 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GAAP 손익계산서를 보겠습니다.</a:t>
            </a:r>
          </a:p>
          <a:p>
            <a:r>
              <a:t>(나)</a:t>
            </a:r>
          </a:p>
          <a:p>
            <a:r>
              <a:t>매출은 8% 늘었는데 매출원가는 3%만 늘어서</a:t>
            </a:r>
          </a:p>
          <a:p>
            <a:r>
              <a:t>매출총이익은 19% 증가했습니다.</a:t>
            </a:r>
          </a:p>
          <a:p>
            <a:r>
              <a:t>(나)</a:t>
            </a:r>
          </a:p>
          <a:p>
            <a:r>
              <a:t>하지만 연구개발비가 두 배로 늘면서</a:t>
            </a:r>
          </a:p>
          <a:p>
            <a:r>
              <a:t>영업이익은 3% 증가에 그쳤고</a:t>
            </a:r>
          </a:p>
          <a:p>
            <a:r>
              <a:t>영업이익률은 20.4%로 1년 전보다 조금 낮아졌습니다.</a:t>
            </a:r>
          </a:p>
          <a:p>
            <a:r>
              <a:t>(나)</a:t>
            </a:r>
          </a:p>
          <a:p>
            <a:r>
              <a:t>희석 EPS는 1.07달러입니다.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꼭 알아야 할 숫자가 있습니다.</a:t>
            </a:r>
          </a:p>
          <a:p>
            <a:r>
              <a:t>미국에서 만든 부품에 주는 45X 세액공제가</a:t>
            </a:r>
          </a:p>
          <a:p>
            <a:r>
              <a:t>1분기에만 1억 달러가 넘었습니다.</a:t>
            </a:r>
          </a:p>
          <a:p>
            <a:r>
              <a:t>(나)</a:t>
            </a:r>
          </a:p>
          <a:p>
            <a:r>
              <a:t>45X와 관세 효과를 합치면 약 9,900만 달러로</a:t>
            </a:r>
          </a:p>
          <a:p>
            <a:r>
              <a:t>조정 EBITDA의 40%가 넘는 규모입니다.</a:t>
            </a:r>
          </a:p>
          <a:p>
            <a:r>
              <a:t>정책이 실적에 미치는 영향이 그만큼 크다는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재무상태표를 보겠습니다.</a:t>
            </a:r>
          </a:p>
          <a:p>
            <a:r>
              <a:t>(나)</a:t>
            </a:r>
          </a:p>
          <a:p>
            <a:r>
              <a:t>총자산은 42.6억 달러이고</a:t>
            </a:r>
          </a:p>
          <a:p>
            <a:r>
              <a:t>그중 현금이 12억 달러가 넘습니다.</a:t>
            </a:r>
          </a:p>
          <a:p>
            <a:r>
              <a:t>(나)</a:t>
            </a:r>
          </a:p>
          <a:p>
            <a:r>
              <a:t>차입금은 하나도 없습니다.</a:t>
            </a:r>
          </a:p>
          <a:p>
            <a:r>
              <a:t>(나)</a:t>
            </a:r>
          </a:p>
          <a:p>
            <a:r>
              <a:t>유동비율은 269%로 아주 탄탄합니다.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현금흐름입니다.</a:t>
            </a:r>
          </a:p>
          <a:p>
            <a:r>
              <a:t>(나)</a:t>
            </a:r>
          </a:p>
          <a:p>
            <a:r>
              <a:t>영업활동으로 1억 2,100만 달러가 들어왔고</a:t>
            </a:r>
          </a:p>
          <a:p>
            <a:r>
              <a:t>설비 투자는 1,600만 달러에 그쳤습니다.</a:t>
            </a:r>
          </a:p>
          <a:p>
            <a:r>
              <a:t>(나)</a:t>
            </a:r>
          </a:p>
          <a:p>
            <a:r>
              <a:t>그래서 조정 잉여현금흐름이 1억 500만 달러로</a:t>
            </a:r>
          </a:p>
          <a:p>
            <a:r>
              <a:t>1년 전보다 50% 늘었습니다.</a:t>
            </a:r>
          </a:p>
          <a:p>
            <a:r>
              <a:t>공장이 많이 필요 없는 가벼운 사업 구조라는 점이 드러납니다.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1분기 사업성과를 보겠습니다.</a:t>
            </a:r>
          </a:p>
          <a:p>
            <a:r>
              <a:t>전기 설비 사업인 eBOS는</a:t>
            </a:r>
          </a:p>
          <a:p>
            <a:r>
              <a:t>인수 1년여 만에 연 매출 1억 달러를 넘길 전망입니다.</a:t>
            </a:r>
          </a:p>
          <a:p>
            <a:r>
              <a:t>(나)</a:t>
            </a:r>
          </a:p>
          <a:p>
            <a:r>
              <a:t>기초 구조물 매출은 50% 늘었고</a:t>
            </a:r>
          </a:p>
          <a:p>
            <a:r>
              <a:t>(나)</a:t>
            </a:r>
          </a:p>
          <a:p>
            <a:r>
              <a:t>트루캡처도 분기 사상 최대 매출을 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인버터 사업도 속도를 내고 있습니다.</a:t>
            </a:r>
          </a:p>
          <a:p>
            <a:r>
              <a:t>에이펙스 인버터가 미국 UL 인증을 받았고</a:t>
            </a:r>
          </a:p>
          <a:p>
            <a:r>
              <a:t>(나)</a:t>
            </a:r>
          </a:p>
          <a:p>
            <a:r>
              <a:t>내년 여름까지 미국에 10기가와트 넘는 생산능력을 갖출 계획입니다.</a:t>
            </a:r>
          </a:p>
          <a:p>
            <a:r>
              <a:t>(나)</a:t>
            </a:r>
          </a:p>
          <a:p>
            <a:r>
              <a:t>이를 위해 앞으로 1년 동안 약 5천만 달러를 투자합니다.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프레발론 인수로 에너지저장 사업부가 생겼습니다.</a:t>
            </a:r>
          </a:p>
          <a:p>
            <a:r>
              <a:t>(나)</a:t>
            </a:r>
          </a:p>
          <a:p>
            <a:r>
              <a:t>이미 6기가와트시 넘게 설치하거나 계약했고</a:t>
            </a:r>
          </a:p>
          <a:p>
            <a:r>
              <a:t>(나)</a:t>
            </a:r>
          </a:p>
          <a:p>
            <a:r>
              <a:t>대형 하이퍼스케일러의 1기가와트급 프로젝트도 진행 중입니다.</a:t>
            </a:r>
          </a:p>
          <a:p>
            <a:r>
              <a:t>(나)</a:t>
            </a:r>
          </a:p>
          <a:p>
            <a:r>
              <a:t>데이터센터 전력 변동에 10밀리초 안에 대응하는</a:t>
            </a:r>
          </a:p>
          <a:p>
            <a:r>
              <a:t>전력 안정화 장치도 갖고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유럽에서는 독일 짐머만 인수를 진행하고 있습니다.</a:t>
            </a:r>
          </a:p>
          <a:p>
            <a:r>
              <a:t>(나)</a:t>
            </a:r>
          </a:p>
          <a:p>
            <a:r>
              <a:t>유럽 지상형 태양광의 절반은 고정식인데</a:t>
            </a:r>
          </a:p>
          <a:p>
            <a:r>
              <a:t>넥스트파워는 그동안 이 시장에 약했습니다.</a:t>
            </a:r>
          </a:p>
          <a:p>
            <a:r>
              <a:t>짐머만이 들어오면 제품이 5종 늘고</a:t>
            </a:r>
          </a:p>
          <a:p>
            <a:r>
              <a:t>15개 나라가 추가됩니다.</a:t>
            </a:r>
          </a:p>
          <a:p>
            <a:r>
              <a:t>(나)</a:t>
            </a:r>
          </a:p>
          <a:p>
            <a:r>
              <a:t>연 매출 약 3억 유로 규모이고</a:t>
            </a:r>
          </a:p>
          <a:p>
            <a:r>
              <a:t>아직 가이던스에는 들어가 있지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회사는 올해 가이던스를 올렸습니다.</a:t>
            </a:r>
          </a:p>
          <a:p>
            <a:r>
              <a:t>매출은 41억에서 44억 달러,</a:t>
            </a:r>
          </a:p>
          <a:p>
            <a:r>
              <a:t>조정 EPS는 4.42에서 4.73달러입니다.</a:t>
            </a:r>
          </a:p>
          <a:p>
            <a:r>
              <a:t>(나)</a:t>
            </a:r>
          </a:p>
          <a:p>
            <a:r>
              <a:t>다만 상단은 그대로 두고 하단만 올렸습니다.</a:t>
            </a:r>
          </a:p>
          <a:p>
            <a:r>
              <a:t>짐머만 실적도 아직 빠져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어닝콜 후 경영진과 애널리스트 간의 Q&amp;A 가 있었습니다.</a:t>
            </a:r>
          </a:p>
          <a:p>
            <a:r>
              <a:t>주요 문답을 정리해드리겠습니다.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첫번째 질문입니다.</a:t>
            </a:r>
          </a:p>
          <a:p>
            <a:r>
              <a:t>미국 연방통신위원회가 수입 인버터 규제를 발표했는데</a:t>
            </a:r>
          </a:p>
          <a:p>
            <a:r>
              <a:t>인버터 사업 기회가 얼마나 커졌는지 물었습니다.</a:t>
            </a:r>
          </a:p>
          <a:p>
            <a:r>
              <a:t>(나)</a:t>
            </a:r>
          </a:p>
          <a:p>
            <a:r>
              <a:t>슈가 CEO는 2년 전부터 준비해 온 사업이고</a:t>
            </a:r>
          </a:p>
          <a:p>
            <a:r>
              <a:t>가장 안정적으로 돌아가는 인버터를 만들겠다고 답했습니다.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두번째 질문은 인수 통합과 하이퍼스케일러였습니다.</a:t>
            </a:r>
          </a:p>
          <a:p>
            <a:r>
              <a:t>(나)</a:t>
            </a:r>
          </a:p>
          <a:p>
            <a:r>
              <a:t>회사는 eBOS 사례를 들며 인수 통합 능력을 강조했고</a:t>
            </a:r>
          </a:p>
          <a:p>
            <a:r>
              <a:t>데이터센터 고객과 직접 거래도 하고 있다고 답했습니다.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세번째 질문은 마진이었습니다.</a:t>
            </a:r>
          </a:p>
          <a:p>
            <a:r>
              <a:t>(나)</a:t>
            </a:r>
          </a:p>
          <a:p>
            <a:r>
              <a:t>CFO는 이번 마진 서프라이즈의 주인공은</a:t>
            </a:r>
          </a:p>
          <a:p>
            <a:r>
              <a:t>트루캡처보다 관세 환급이었다고 솔직하게 답했습니다.</a:t>
            </a:r>
          </a:p>
          <a:p>
            <a:r>
              <a:t>일회성 요인이 섞여 있다는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네번째 질문은 왜 가이던스 상단을 안 올렸냐는 것이었습니다.</a:t>
            </a:r>
          </a:p>
          <a:p>
            <a:r>
              <a:t>(나)</a:t>
            </a:r>
          </a:p>
          <a:p>
            <a:r>
              <a:t>CFO는 짐머만이 아직 반영되지 않았고</a:t>
            </a:r>
          </a:p>
          <a:p>
            <a:r>
              <a:t>1분기만 지났기 때문에 신중하게 잡았다고 답했습니다.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질문은 ESS 사업의 걸림돌이었습니다.</a:t>
            </a:r>
          </a:p>
          <a:p>
            <a:r>
              <a:t>(나)</a:t>
            </a:r>
          </a:p>
          <a:p>
            <a:r>
              <a:t>슈가 CEO는 걸림돌이 없다고 자신하면서</a:t>
            </a:r>
          </a:p>
          <a:p>
            <a:r>
              <a:t>올해 상반기 미국에 새로 들어선 발전설비의 91%가</a:t>
            </a:r>
          </a:p>
          <a:p>
            <a:r>
              <a:t>태양광과 ESS였다고 강조했습니다.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투자포인트와 리스크를 생각해보겠습니다.</a:t>
            </a:r>
          </a:p>
          <a:p>
            <a:r>
              <a:t>첫번째 투자포인트는 압도적인 1위 트래커 위에</a:t>
            </a:r>
          </a:p>
          <a:p>
            <a:r>
              <a:t>다른 제품을 얹어 파는 번들 전략입니다.</a:t>
            </a:r>
          </a:p>
          <a:p>
            <a:r>
              <a:t>(나)</a:t>
            </a:r>
          </a:p>
          <a:p>
            <a:r>
              <a:t>이미 고객 관계가 있으니</a:t>
            </a:r>
          </a:p>
          <a:p>
            <a:r>
              <a:t>eBOS나 기초 구조물을 같이 팔기 쉽고</a:t>
            </a:r>
          </a:p>
          <a:p>
            <a:r>
              <a:t>실제로 비트래커 매출이 더 빠르게 늘고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두번째 투자포인트는 새로운 시장입니다.</a:t>
            </a:r>
          </a:p>
          <a:p>
            <a:r>
              <a:t>(나)</a:t>
            </a:r>
          </a:p>
          <a:p>
            <a:r>
              <a:t>미국이 중국산 인버터를 막을수록</a:t>
            </a:r>
          </a:p>
          <a:p>
            <a:r>
              <a:t>미국에서 인버터를 만드는 넥스트파워에게 기회가 됩니다.</a:t>
            </a:r>
          </a:p>
          <a:p>
            <a:r>
              <a:t>(나)</a:t>
            </a:r>
          </a:p>
          <a:p>
            <a:r>
              <a:t>경영진은 인버터가 트래커보다 마진이 높은 사업이라고 했고</a:t>
            </a:r>
          </a:p>
          <a:p>
            <a:r>
              <a:t>11월 16일 투자자의 날에서</a:t>
            </a:r>
          </a:p>
          <a:p>
            <a:r>
              <a:t>2030년 전망을 크게 올리겠다고 예고했습니다.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세번째 투자포인트는 튼튼한 재무구조입니다.</a:t>
            </a:r>
          </a:p>
          <a:p>
            <a:r>
              <a:t>빚이 없고 현금이 12억 달러가 넘습니다.</a:t>
            </a:r>
          </a:p>
          <a:p>
            <a:r>
              <a:t>(나)</a:t>
            </a:r>
          </a:p>
          <a:p>
            <a:r>
              <a:t>덕분에 인수합병도, 자사주 매입도 할 여력이 있습니다.</a:t>
            </a:r>
          </a:p>
          <a:p>
            <a:r>
              <a:t>(나)</a:t>
            </a:r>
          </a:p>
          <a:p>
            <a:r>
              <a:t>주가가 고점에서 절반 가까이 빠지면서</a:t>
            </a:r>
          </a:p>
          <a:p>
            <a:r>
              <a:t>포워드 PER도 18배 수준으로 내려왔습니다.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반대로 투자 리스크도 생각해보겠습니다.</a:t>
            </a:r>
          </a:p>
          <a:p>
            <a:r>
              <a:t>첫번째는 정책 리스크입니다.</a:t>
            </a:r>
          </a:p>
          <a:p>
            <a:r>
              <a:t>(나)</a:t>
            </a:r>
          </a:p>
          <a:p>
            <a:r>
              <a:t>작년 통과된 감세법으로</a:t>
            </a:r>
          </a:p>
          <a:p>
            <a:r>
              <a:t>고객들이 받는 태양광 세액공제 기한이 크게 앞당겨졌습니다.</a:t>
            </a:r>
          </a:p>
          <a:p>
            <a:r>
              <a:t>장기적으로 발전소 건설 물량이 줄 수 있습니다.</a:t>
            </a:r>
          </a:p>
          <a:p>
            <a:r>
              <a:t>(나)</a:t>
            </a:r>
          </a:p>
          <a:p>
            <a:r>
              <a:t>또 넥스트파워 이익의 상당 부분이</a:t>
            </a:r>
          </a:p>
          <a:p>
            <a:r>
              <a:t>45X 세액공제와 관세 환급에서 나오고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두번째는 인수 통합과 마진 희석입니다.</a:t>
            </a:r>
          </a:p>
          <a:p>
            <a:r>
              <a:t>(나)</a:t>
            </a:r>
          </a:p>
          <a:p>
            <a:r>
              <a:t>1년 사이 영업비용 비중이 8%에서 12%로 올랐고</a:t>
            </a:r>
          </a:p>
          <a:p>
            <a:r>
              <a:t>(나)</a:t>
            </a:r>
          </a:p>
          <a:p>
            <a:r>
              <a:t>회사도 2분기부터 인수한 회사들 영향으로</a:t>
            </a:r>
          </a:p>
          <a:p>
            <a:r>
              <a:t>마진이 낮아질 거라고 미리 밝혔습니다.</a:t>
            </a:r>
          </a:p>
          <a:p>
            <a:r>
              <a:t>ESS와 인버터는 경쟁이 치열한 시장이라</a:t>
            </a:r>
          </a:p>
          <a:p>
            <a:r>
              <a:t>계획대로 키울 수 있을지가 관건입니다.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세번째는 고객 집중입니다.</a:t>
            </a:r>
          </a:p>
          <a:p>
            <a:r>
              <a:t>(나)</a:t>
            </a:r>
          </a:p>
          <a:p>
            <a:r>
              <a:t>상위 5개 고객이 매출의 46%를 차지해</a:t>
            </a:r>
          </a:p>
          <a:p>
            <a:r>
              <a:t>1년 전보다 쏠림이 커졌습니다.</a:t>
            </a:r>
          </a:p>
          <a:p>
            <a:r>
              <a:t>(나)</a:t>
            </a:r>
          </a:p>
          <a:p>
            <a:r>
              <a:t>해외 매출은 40% 줄어</a:t>
            </a:r>
          </a:p>
          <a:p>
            <a:r>
              <a:t>미국 시장과 미국 정책에 대한 의존도가 높아졌습니다.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정리하겠습니다.</a:t>
            </a:r>
          </a:p>
          <a:p>
            <a:r>
              <a:t>넥스트파워는 트래커 1위 회사에서</a:t>
            </a:r>
          </a:p>
          <a:p>
            <a:r>
              <a:t>태양광과 배터리 발전소의 장비를 통째로 공급하는</a:t>
            </a:r>
          </a:p>
          <a:p>
            <a:r>
              <a:t>플랫폼 회사로 변신하고 있습니다.</a:t>
            </a:r>
          </a:p>
          <a:p>
            <a:r>
              <a:t>(나)</a:t>
            </a:r>
          </a:p>
          <a:p>
            <a:r>
              <a:t>앞으로 2분기 마진, 짐머만 인수 완료,</a:t>
            </a:r>
          </a:p>
          <a:p>
            <a:r>
              <a:t>그리고 11월 투자자의 날을 지켜보면 좋겠습니다.</a:t>
            </a:r>
          </a:p>
          <a:p>
            <a:r>
              <a:t>과연 넥스트파워의 변신은 성공할까요?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이상 넥스트파워의 기업분석을 마치겠습니다.</a:t>
            </a:r>
          </a:p>
          <a:p>
            <a:r>
              <a:t>영상이 도움되셨다면 구독, 좋아요, 댓글 꼭 부탁드립니다.</a:t>
            </a:r>
          </a:p>
          <a:p>
            <a:r>
              <a:t>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jp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cker_fie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139" y="320040"/>
            <a:ext cx="5663416" cy="3383280"/>
          </a:xfrm>
          <a:prstGeom prst="rect">
            <a:avLst/>
          </a:prstGeom>
        </p:spPr>
      </p:pic>
      <p:sp>
        <p:nvSpPr>
          <p:cNvPr id="3" name="제목"/>
          <p:cNvSpPr txBox="1"/>
          <p:nvPr/>
        </p:nvSpPr>
        <p:spPr>
          <a:xfrm>
            <a:off x="822960" y="3840480"/>
            <a:ext cx="10789920" cy="2651760"/>
          </a:xfrm>
          <a:prstGeom prst="rect">
            <a:avLst/>
          </a:prstGeom>
          <a:noFill/>
        </p:spPr>
        <p:txBody>
          <a:bodyPr wrap="none" anchor="b" lIns="45720" rIns="45720">
            <a:spAutoFit/>
          </a:bodyPr>
          <a:lstStyle/>
          <a:p>
            <a:r>
              <a:rPr sz="10630" lang="ko-KR" altLang="en-US">
                <a:solidFill>
                  <a:srgbClr val="FFFFFF"/>
                </a:solidFill>
                <a:latin typeface="여기어때 잘난체 고딕"/>
                <a:ea typeface="여기어때 잘난체 고딕"/>
              </a:rPr>
              <a:t>넥스트파워</a:t>
            </a:r>
            <a:r>
              <a:rPr sz="6378" lang="ko-KR" altLang="en-US">
                <a:solidFill>
                  <a:srgbClr val="FFFFFF"/>
                </a:solidFill>
                <a:latin typeface="여기어때 잘난체 고딕"/>
                <a:ea typeface="여기어때 잘난체 고딕"/>
              </a:rPr>
              <a:t>   기업분석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572286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1611172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주가 흐름</a:t>
            </a:r>
          </a:p>
        </p:txBody>
      </p:sp>
      <p:sp>
        <p:nvSpPr>
          <p:cNvPr id="5" name="주가 카드"/>
          <p:cNvSpPr/>
          <p:nvPr/>
        </p:nvSpPr>
        <p:spPr>
          <a:xfrm>
            <a:off x="841248" y="914400"/>
            <a:ext cx="1051560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051560"/>
            <a:ext cx="10058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Nextpower Inc. (NXT) · NasdaqGS</a:t>
            </a:r>
          </a:p>
          <a:p>
            <a:r>
              <a:rPr sz="2600" lang="ko-KR" altLang="en-US">
                <a:solidFill>
                  <a:srgbClr val="202124"/>
                </a:solidFill>
                <a:latin typeface="에스코어 드림 7 ExtraBold"/>
                <a:ea typeface="에스코어 드림 7 ExtraBold"/>
              </a:rPr>
              <a:t>84.30 USD</a:t>
            </a:r>
          </a:p>
          <a:p>
            <a:r>
              <a:rPr sz="1300" lang="ko-KR" altLang="en-US">
                <a:solidFill>
                  <a:srgbClr val="D93025"/>
                </a:solidFill>
                <a:latin typeface="에스코어 드림 6 Bold"/>
                <a:ea typeface="에스코어 드림 6 Bold"/>
              </a:rPr>
              <a:t>+7.17 (+9.3%) 1년 · 2026-10-02 종가</a:t>
            </a:r>
          </a:p>
        </p:txBody>
      </p:sp>
      <p:graphicFrame>
        <p:nvGraphicFramePr>
          <p:cNvPr id="7" name="주가 그래프"/>
          <p:cNvGraphicFramePr>
            <a:graphicFrameLocks noGrp="1"/>
          </p:cNvGraphicFramePr>
          <p:nvPr/>
        </p:nvGraphicFramePr>
        <p:xfrm>
          <a:off x="932688" y="2148840"/>
          <a:ext cx="10332720" cy="348386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69848" y="5724144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lang="ko-KR" altLang="en-US">
                <a:solidFill>
                  <a:srgbClr val="70757A"/>
                </a:solidFill>
                <a:latin typeface="에스코어 드림 6 Bold"/>
                <a:ea typeface="에스코어 드림 6 Bold"/>
              </a:rPr>
              <a:t>시가총액  </a:t>
            </a:r>
            <a:r>
              <a:rPr sz="11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$128억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2647" y="5724144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lang="ko-KR" altLang="en-US">
                <a:solidFill>
                  <a:srgbClr val="70757A"/>
                </a:solidFill>
                <a:latin typeface="에스코어 드림 6 Bold"/>
                <a:ea typeface="에스코어 드림 6 Bold"/>
              </a:rPr>
              <a:t>P/E  </a:t>
            </a:r>
            <a:r>
              <a:rPr sz="11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21.8배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5448" y="5724144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lang="ko-KR" altLang="en-US">
                <a:solidFill>
                  <a:srgbClr val="70757A"/>
                </a:solidFill>
                <a:latin typeface="에스코어 드림 6 Bold"/>
                <a:ea typeface="에스코어 드림 6 Bold"/>
              </a:rPr>
              <a:t>배당수익률  </a:t>
            </a:r>
            <a:r>
              <a:rPr sz="11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6016752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lang="ko-KR" altLang="en-US">
                <a:solidFill>
                  <a:srgbClr val="70757A"/>
                </a:solidFill>
                <a:latin typeface="에스코어 드림 6 Bold"/>
                <a:ea typeface="에스코어 드림 6 Bold"/>
              </a:rPr>
              <a:t>52주 최고  </a:t>
            </a:r>
            <a:r>
              <a:rPr sz="11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163.13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2647" y="6016752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lang="ko-KR" altLang="en-US">
                <a:solidFill>
                  <a:srgbClr val="70757A"/>
                </a:solidFill>
                <a:latin typeface="에스코어 드림 6 Bold"/>
                <a:ea typeface="에스코어 드림 6 Bold"/>
              </a:rPr>
              <a:t>52주 최저  </a:t>
            </a:r>
            <a:r>
              <a:rPr sz="11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76.19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5448" y="6016752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lang="ko-KR" altLang="en-US">
                <a:solidFill>
                  <a:srgbClr val="70757A"/>
                </a:solidFill>
                <a:latin typeface="에스코어 드림 6 Bold"/>
                <a:ea typeface="에스코어 드림 6 Bold"/>
              </a:rPr>
              <a:t>발행주식수  </a:t>
            </a:r>
            <a:r>
              <a:rPr sz="1100" lang="ko-KR" altLang="en-US">
                <a:solidFill>
                  <a:srgbClr val="202124"/>
                </a:solidFill>
                <a:latin typeface="에스코어 드림 6 Bold"/>
                <a:ea typeface="에스코어 드림 6 Bold"/>
              </a:rPr>
              <a:t>1.5억주</a:t>
            </a:r>
          </a:p>
        </p:txBody>
      </p:sp>
      <p:sp>
        <p:nvSpPr>
          <p:cNvPr id="14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Yahoo Finance (2026.10.2 종가), 10-Q 표지 발행주식수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78991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1828800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사업한줄평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8483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유틸리티급 태양광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트래커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세계 1위 → 기초·eBOS·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인버터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·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ESS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까지 묶어 파는 에너지 인프라 플랫폼</a:t>
            </a:r>
          </a:p>
        </p:txBody>
      </p:sp>
      <p:pic>
        <p:nvPicPr>
          <p:cNvPr id="6" name="Picture 5" descr="tracker_fie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246" y="1963928"/>
            <a:ext cx="7503602" cy="448259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597158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1636044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트래커란?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8483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태양을 따라 패널 각도를 바꾸는 구조물 → 발전량 증가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고정식 대비 단위 면적당 발전량 ↑, 대형 발전소의 표준</a:t>
            </a:r>
          </a:p>
        </p:txBody>
      </p:sp>
      <p:pic>
        <p:nvPicPr>
          <p:cNvPr id="6" name="Picture 5" descr="bifaci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428" y="1963928"/>
            <a:ext cx="3525238" cy="448259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2857225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89611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역사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492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(2013)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Dan Shugar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Nextracker 창업</a:t>
            </a:r>
          </a:p>
        </p:txBody>
      </p:sp>
      <p:pic>
        <p:nvPicPr>
          <p:cNvPr id="6" name="Picture 5" descr="shug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639" y="1608327"/>
            <a:ext cx="3866817" cy="48381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2026 Proxy Statement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2857225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89611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역사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8483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(2015)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Flex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(플렉스)가 $3.3억에 인수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(2016)  BrightBox 인수 → 발전량 최적화 소프트웨어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TrueCapture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개발</a:t>
            </a:r>
          </a:p>
        </p:txBody>
      </p:sp>
      <p:pic>
        <p:nvPicPr>
          <p:cNvPr id="6" name="Picture 5" descr="fl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653" y="1963928"/>
            <a:ext cx="5976789" cy="44825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위키백과, Q1 FY27 어닝콜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2857225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89611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역사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8483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(2023.02)  나스닥 상장 (티커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NXT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$6.4억 조달)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(2024.01)  Flex가 보유 지분을 주주에게 분배 →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완전 독립</a:t>
            </a:r>
          </a:p>
        </p:txBody>
      </p:sp>
      <p:pic>
        <p:nvPicPr>
          <p:cNvPr id="6" name="Picture 5" descr="handsh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240" y="1963928"/>
            <a:ext cx="3483614" cy="44825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위키백과, 2026 Proxy Statement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2857225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89611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역사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203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(2024~25)  기초(Ojjo), eBOS(Bentek), 로보틱스(OnSight) 등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인수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(2025.11)  사명 변경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Nextracker → Nextpower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'태양광 트래커'에서 '에너지 기술' 기업으로</a:t>
            </a:r>
          </a:p>
        </p:txBody>
      </p:sp>
      <p:pic>
        <p:nvPicPr>
          <p:cNvPr id="6" name="Picture 5" descr="engine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563" y="2319528"/>
            <a:ext cx="5114968" cy="41269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10-Q, 위키백과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2857225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89611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역사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203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(2026.07)  ESS 기업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Prevalon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인수 완료 (최대 $3.65억)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(2026.07)  인버터 기업 Zigor/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Apex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자산 인수 완료 (최대 $0.8억)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(인수 예정)  독일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Zimmermann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PV-Steel</a:t>
            </a:r>
          </a:p>
        </p:txBody>
      </p:sp>
      <p:pic>
        <p:nvPicPr>
          <p:cNvPr id="6" name="Picture 5" descr="bess_un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813963"/>
            <a:ext cx="5794180" cy="3138120"/>
          </a:xfrm>
          <a:prstGeom prst="rect">
            <a:avLst/>
          </a:prstGeom>
        </p:spPr>
      </p:pic>
      <p:pic>
        <p:nvPicPr>
          <p:cNvPr id="7" name="Picture 6" descr="inverter_pc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9748" y="2813963"/>
            <a:ext cx="4447099" cy="3138120"/>
          </a:xfrm>
          <a:prstGeom prst="rect">
            <a:avLst/>
          </a:prstGeom>
        </p:spPr>
      </p:pic>
      <p:sp>
        <p:nvSpPr>
          <p:cNvPr id="8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10-Q (후속 사건 주석), 주주서한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572286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1611172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시장 지위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203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트래커 시장 점유율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11년 연속 1위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(Wood Mackenzie, 2025)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미국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55%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전 세계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30%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누적 약 2,000개 프로젝트,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160GW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이상, 50개국 이상</a:t>
            </a:r>
          </a:p>
        </p:txBody>
      </p:sp>
      <p:pic>
        <p:nvPicPr>
          <p:cNvPr id="6" name="Picture 5" descr="solar_stor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609" y="2319528"/>
            <a:ext cx="10102876" cy="41269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Q1 FY27 주주서한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2851007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889894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CEO</a:t>
            </a:r>
          </a:p>
        </p:txBody>
      </p:sp>
      <p:pic>
        <p:nvPicPr>
          <p:cNvPr id="5" name="Picture 4" descr="shug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37971"/>
            <a:ext cx="3657600" cy="4576417"/>
          </a:xfrm>
          <a:prstGeom prst="rect">
            <a:avLst/>
          </a:prstGeom>
        </p:spPr>
      </p:pic>
      <p:sp>
        <p:nvSpPr>
          <p:cNvPr id="6" name="본문"/>
          <p:cNvSpPr txBox="1"/>
          <p:nvPr/>
        </p:nvSpPr>
        <p:spPr>
          <a:xfrm>
            <a:off x="4572000" y="1188720"/>
            <a:ext cx="7253935" cy="37820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Dan Shugar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(63세, 창업자)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RPI 전기전자공학 학사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Golden Gate University MBA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(1986~95)  PG&amp;E 등 태양광 사업부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(1996~2007)  PowerLight 사장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(2007~09)  SunPower Systems 사장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(2010~13)  Solaria CEO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(2013~)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Nextpower CEO</a:t>
            </a:r>
          </a:p>
        </p:txBody>
      </p:sp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2026 Proxy Statement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168121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1207008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경영진</a:t>
            </a:r>
          </a:p>
        </p:txBody>
      </p:sp>
      <p:pic>
        <p:nvPicPr>
          <p:cNvPr id="5" name="Picture 4" descr="weng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37971"/>
            <a:ext cx="3657600" cy="4576417"/>
          </a:xfrm>
          <a:prstGeom prst="rect">
            <a:avLst/>
          </a:prstGeom>
        </p:spPr>
      </p:pic>
      <p:sp>
        <p:nvSpPr>
          <p:cNvPr id="6" name="본문"/>
          <p:cNvSpPr txBox="1"/>
          <p:nvPr/>
        </p:nvSpPr>
        <p:spPr>
          <a:xfrm>
            <a:off x="4572000" y="1188720"/>
            <a:ext cx="7253935" cy="21818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Howard Wenger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사장 (66세)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SunPower Systems CEO, PowerLight 부사장 출신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슈가와 PowerLight·SunPower에서 20년 넘게 함께 일함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Chuck Boynton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CFO (58세)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- 2024년 5월 취임, 이전 Logitech·Poly·SunPower CFO</a:t>
            </a:r>
          </a:p>
        </p:txBody>
      </p:sp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2026 Proxy Statement, 어닝콜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572286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1611172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매출 구성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868680" y="1935480"/>
            <a:ext cx="1280160" cy="149352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업부 1"/>
          <p:cNvSpPr/>
          <p:nvPr/>
        </p:nvSpPr>
        <p:spPr>
          <a:xfrm>
            <a:off x="2377440" y="1455420"/>
            <a:ext cx="3566160" cy="960120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1) 트래커 (86%)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6126480" y="1606296"/>
            <a:ext cx="777240" cy="329184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040880" y="1322832"/>
            <a:ext cx="4693615" cy="566928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NX Horizon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1935480"/>
            <a:ext cx="777240" cy="329184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040880" y="1981200"/>
            <a:ext cx="4693615" cy="566928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NX Horizon-XTR (지형 추종형)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3429000"/>
            <a:ext cx="128016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사업부 2"/>
          <p:cNvSpPr/>
          <p:nvPr/>
        </p:nvSpPr>
        <p:spPr>
          <a:xfrm>
            <a:off x="2377440" y="2948940"/>
            <a:ext cx="3566160" cy="960120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2) 비트래커 (14%)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126480" y="3099816"/>
            <a:ext cx="777240" cy="329184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040880" y="2816352"/>
            <a:ext cx="4693615" cy="566928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TrueCapture · eBOS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0" y="3429000"/>
            <a:ext cx="777240" cy="329184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040880" y="3474720"/>
            <a:ext cx="4693615" cy="566928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기초(Foundations) · 로보틱스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" y="3429000"/>
            <a:ext cx="1280160" cy="149352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사업부 3"/>
          <p:cNvSpPr/>
          <p:nvPr/>
        </p:nvSpPr>
        <p:spPr>
          <a:xfrm>
            <a:off x="2377440" y="4442460"/>
            <a:ext cx="3566160" cy="960120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3) 신사업 (FY27~)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6126480" y="4593336"/>
            <a:ext cx="777240" cy="329184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040880" y="4309872"/>
            <a:ext cx="4693615" cy="566928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인버터·PCS (Apex/Zigor)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6480" y="4922520"/>
            <a:ext cx="777240" cy="329184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040880" y="4968240"/>
            <a:ext cx="4693615" cy="566928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ESS (Prevalon) · 유럽 고정식</a:t>
            </a:r>
          </a:p>
        </p:txBody>
      </p:sp>
      <p:sp>
        <p:nvSpPr>
          <p:cNvPr id="23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Q1 FY27 주주서한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883182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1922068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지역별 매출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8483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미국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83%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· 해외 17%  (1년 전 69% : 31%)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해외 매출 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-40%</a:t>
            </a:r>
          </a:p>
        </p:txBody>
      </p:sp>
      <p:graphicFrame>
        <p:nvGraphicFramePr>
          <p:cNvPr id="6" name="막대그래프"/>
          <p:cNvGraphicFramePr>
            <a:graphicFrameLocks noGrp="1"/>
          </p:cNvGraphicFramePr>
          <p:nvPr/>
        </p:nvGraphicFramePr>
        <p:xfrm>
          <a:off x="841248" y="1963928"/>
          <a:ext cx="10515600" cy="44825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Q1 FY27 주주서한 (막대: 미국 매출, 노란 숫자: 미국 비중)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59824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63712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연도별 실적 추이</a:t>
            </a:r>
          </a:p>
        </p:txBody>
      </p:sp>
      <p:graphicFrame>
        <p:nvGraphicFramePr>
          <p:cNvPr id="5" name="매출"/>
          <p:cNvGraphicFramePr>
            <a:graphicFrameLocks noGrp="1"/>
          </p:cNvGraphicFramePr>
          <p:nvPr/>
        </p:nvGraphicFramePr>
        <p:xfrm>
          <a:off x="841248" y="914400"/>
          <a:ext cx="3322320" cy="5532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희석 EPS (GAAP)"/>
          <p:cNvGraphicFramePr>
            <a:graphicFrameLocks noGrp="1"/>
          </p:cNvGraphicFramePr>
          <p:nvPr/>
        </p:nvGraphicFramePr>
        <p:xfrm>
          <a:off x="4437888" y="914400"/>
          <a:ext cx="3322320" cy="5532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잉여현금흐름"/>
          <p:cNvGraphicFramePr>
            <a:graphicFrameLocks noGrp="1"/>
          </p:cNvGraphicFramePr>
          <p:nvPr/>
        </p:nvGraphicFramePr>
        <p:xfrm>
          <a:off x="8034528" y="914400"/>
          <a:ext cx="3322320" cy="5532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SEC 10-K (XBRL), 회계연도는 3월 말 결산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572286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1611172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주요 주주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1984248" y="914400"/>
          <a:ext cx="8229598" cy="2171695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827720"/>
                <a:gridCol w="2488018"/>
                <a:gridCol w="1913860"/>
              </a:tblGrid>
              <a:tr h="434339"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주주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보유 주식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지분율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</a:tr>
              <a:tr h="434339"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BlackRock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20,403,744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에스코어 드림 7 ExtraBold"/>
                          <a:ea typeface="에스코어 드림 7 ExtraBold"/>
                        </a:rPr>
                        <a:t>13.48%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4339"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FMR (Fidelity)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20,240,838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에스코어 드림 7 ExtraBold"/>
                          <a:ea typeface="에스코어 드림 7 ExtraBold"/>
                        </a:rPr>
                        <a:t>13.37%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4339"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Dan Shugar (CEO)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627,532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1% 미만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4339"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이사·임원 전체 (13명)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1,266,723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1% 미만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2026 Proxy Statement (2026.6.5 기준)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094591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133478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배당 · 자사주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559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배당: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없음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자사주 매입 승인: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$5억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(2026.1)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- 1분기 매입 없음, 잔여 약 $4.996억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자본배분 우선순위:  ① 내부 투자  ② M&amp;A  ③ 주주환원</a:t>
            </a:r>
          </a:p>
        </p:txBody>
      </p:sp>
      <p:pic>
        <p:nvPicPr>
          <p:cNvPr id="6" name="Picture 5" descr="handsh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592" y="2675128"/>
            <a:ext cx="2930910" cy="37713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10-Q, 주주서한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78991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1828800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밸류에이션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7048" y="914400"/>
            <a:ext cx="9144000" cy="25907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664207" y="1051560"/>
          <a:ext cx="8869678" cy="23164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752556"/>
                <a:gridCol w="1705707"/>
                <a:gridCol w="3411415"/>
              </a:tblGrid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16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지표 (주가 $84.30 기준)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값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근거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16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Trailing P/E (GAAP)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21.8배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TTM 희석 EPS $3.87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16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Forward P/E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18.0배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FY27 컨센 EPS $4.68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16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회사 가이던스 기준 P/E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18.4배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조정 EPS 중간값 $4.58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16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P/S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3.5배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TTM 매출 $36.3억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16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순현금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$12.1억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부채 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SEC XBRL, StockAnalysis (2026.10.2), 주주서한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479017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1517904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목표주가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203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애널리스트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29명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:  강력 매수 19 · 매수 7 · 보유 3 · 매도 0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평균 목표주가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$138.96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(현재가 대비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+65%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최고 $175 · 최저 $70</a:t>
            </a:r>
          </a:p>
        </p:txBody>
      </p:sp>
      <p:graphicFrame>
        <p:nvGraphicFramePr>
          <p:cNvPr id="6" name="막대그래프"/>
          <p:cNvGraphicFramePr>
            <a:graphicFrameLocks noGrp="1"/>
          </p:cNvGraphicFramePr>
          <p:nvPr/>
        </p:nvGraphicFramePr>
        <p:xfrm>
          <a:off x="841248" y="2319528"/>
          <a:ext cx="10515600" cy="41269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StockAnalysis (2026.10.2)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194078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232964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목표주가 조정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203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Jefferies:  목표가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$131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로 하향 (2026.7.31, 실적 발표 다음날)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Argus:  목표가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$75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로 하향 (2026.9.30)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인수 이후 마진 희석·가이던스 상단 유지에 대한 우려</a:t>
            </a:r>
          </a:p>
        </p:txBody>
      </p:sp>
      <p:pic>
        <p:nvPicPr>
          <p:cNvPr id="6" name="Picture 5" descr="datac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610" y="2319528"/>
            <a:ext cx="7336874" cy="41269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Investing.com·BigGo 금융 보도 요약 (원문 리포트 미확인)</a:t>
            </a: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822960" y="2011680"/>
            <a:ext cx="1051560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8800" lang="ko-KR" altLang="en-US">
                <a:solidFill>
                  <a:srgbClr val="000000"/>
                </a:solidFill>
                <a:latin typeface="여기어때 잘난체 고딕"/>
                <a:ea typeface="여기어때 잘난체 고딕"/>
              </a:rPr>
              <a:t>FY2027 1분기 실적</a:t>
            </a:r>
          </a:p>
          <a:p>
            <a:r>
              <a:rPr sz="2400" lang="ko-KR" altLang="en-US">
                <a:solidFill>
                  <a:srgbClr val="5F6368"/>
                </a:solidFill>
                <a:latin typeface="에스코어 드림 6 Bold"/>
                <a:ea typeface="에스코어 드림 6 Bold"/>
              </a:rPr>
              <a:t>Nextpower Q1 FY27 · 2026년 4~6월 (7월 30일 발표)</a:t>
            </a: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691512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730398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FY27 1분기 실적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559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매출: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$9.35억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+8%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QoQ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+6%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분기 사상 최대)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조정 EBITDA: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$2.33억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+8%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마진 25%)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조정 희석 EPS: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$1.20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+3%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수주잔고: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$55억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이상 (사상 최대) + Prevalon $3억 이상</a:t>
            </a:r>
          </a:p>
        </p:txBody>
      </p:sp>
      <p:graphicFrame>
        <p:nvGraphicFramePr>
          <p:cNvPr id="6" name="막대그래프"/>
          <p:cNvGraphicFramePr>
            <a:graphicFrameLocks noGrp="1"/>
          </p:cNvGraphicFramePr>
          <p:nvPr/>
        </p:nvGraphicFramePr>
        <p:xfrm>
          <a:off x="841248" y="2675128"/>
          <a:ext cx="10515600" cy="3771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Q1 FY27 주주서한</a:t>
            </a: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002408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3041294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FY27 1분기 수익성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559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조정 매출총이익률: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36.6%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+3.6%p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목표 '30% 초반' 상회)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관세 환급(IEEPA) · TrueCapture 호조 · 미국 비중 확대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조정 영업비용:  $1.14억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+56%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매출의 12%)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R&amp;D $0.40억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+103%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),  SG&amp;A $0.74억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+38%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</p:txBody>
      </p:sp>
      <p:graphicFrame>
        <p:nvGraphicFramePr>
          <p:cNvPr id="6" name="막대그래프"/>
          <p:cNvGraphicFramePr>
            <a:graphicFrameLocks noGrp="1"/>
          </p:cNvGraphicFramePr>
          <p:nvPr/>
        </p:nvGraphicFramePr>
        <p:xfrm>
          <a:off x="841248" y="2675128"/>
          <a:ext cx="10515600" cy="3771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Q1 FY27 주주서한 (막대: 조정 EBITDA, 노란 숫자: 마진)</a:t>
            </a: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624200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3663086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FY27 1분기 손익계산서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6400800" cy="2981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매출: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$9.35억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+8%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매출총이익: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$3.36억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+19%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GAAP 매출총이익률 35.9%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영업이익: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$1.91억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+3%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영업이익률 20.4%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-1.1%p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R&amp;D $0.45억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+106%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당기순이익: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$1.65억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+5%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희석 EPS: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$1.07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+3%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7516368" y="914400"/>
            <a:ext cx="4218127" cy="26631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7653528" y="1051560"/>
          <a:ext cx="3943805" cy="2388861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71903"/>
                <a:gridCol w="985951"/>
                <a:gridCol w="985951"/>
              </a:tblGrid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(단위: 천 달러)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1Q FY26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1Q FY27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Revenue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864,253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935,170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Cost of sales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582,527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599,317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Gross profit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281,726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335,853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SG&amp;A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73,936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100,438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R&amp;D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21,560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44,508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Operating income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186,230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190,907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Net income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157,183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165,355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429">
                <a:tc>
                  <a:txBody>
                    <a:bodyPr wrap="square"/>
                    <a:lstStyle/>
                    <a:p>
                      <a:pPr algn="l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Diluted EPS ($)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1.04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1.07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Q1 FY27 10-Q / 주주서한 Schedule I</a:t>
            </a: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114330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3153216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45X 세액공제 · 관세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203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45X 제조 세액공제(공급사 리베이트):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$1.03억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+11%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45X·관세 순효과: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$0.99억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→ 조정 EBITDA $2.33억의 약 43%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- 1분기 IEEPA 관세 환급 포함, 2분기에도 추가 환급 예상</a:t>
            </a:r>
          </a:p>
        </p:txBody>
      </p:sp>
      <p:pic>
        <p:nvPicPr>
          <p:cNvPr id="6" name="Picture 5" descr="tracker_fie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873" y="2319528"/>
            <a:ext cx="6908348" cy="41269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10-Q 부문 주석, 주주서한</a:t>
            </a: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624200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3663086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FY27 1분기 재무상태표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6583680" cy="26263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총자산: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$42.6억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(QoQ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+5%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현금및현금성자산: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$12.1억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(QoQ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+11%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- 45X 세액공제 미수금:  $3.1억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총부채: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$17.1억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(QoQ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-2%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차입금: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0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· TRA(세금수취약정) 부채 $3.7억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총자본: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$25.6억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(QoQ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+10%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유동비율 =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269%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· 부채비율 =  67%</a:t>
            </a:r>
          </a:p>
        </p:txBody>
      </p:sp>
      <p:pic>
        <p:nvPicPr>
          <p:cNvPr id="6" name="Picture 5" descr="bess_s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1857865"/>
            <a:ext cx="4035247" cy="3645188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Q1 FY27 10-Q / 주주서한 Schedule II</a:t>
            </a: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624200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3663086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FY27 1분기 현금흐름표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6583680" cy="26263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영업활동 현금흐름: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+$1.21억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+49%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투자활동 현금흐름:  -$0.22억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유형자산 취득:  $0.16억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재무활동 현금흐름:  +$0.20억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스톡옵션 행사 대금:  $0.26억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조정 잉여현금흐름: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$1.05억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+50%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기말 현금: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$12.1억</a:t>
            </a:r>
          </a:p>
        </p:txBody>
      </p:sp>
      <p:pic>
        <p:nvPicPr>
          <p:cNvPr id="6" name="Picture 5" descr="solar_stor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2856267"/>
            <a:ext cx="4035247" cy="1648385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Q1 FY27 주주서한 Schedule III</a:t>
            </a: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627086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4309750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1분기 사업성과 (1) 비트래커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559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eBOS:  분기 사상 최대 수주, 연 매출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이상 예상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NX PowerMerge UL 인증, 누적 수주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850MW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기초(Foundations) 매출:  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+50%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TrueCapture:  분기 사상 최대 매출 (과거 매출의 2% → 그 이상)</a:t>
            </a:r>
          </a:p>
        </p:txBody>
      </p:sp>
      <p:pic>
        <p:nvPicPr>
          <p:cNvPr id="6" name="Picture 5" descr="engine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927" y="2675128"/>
            <a:ext cx="4674240" cy="37713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주주서한, 어닝콜</a:t>
            </a: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959967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3998854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1분기 사업성과 (2) 인버터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203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Apex 인버터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UL 1741 SB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인증 → 미국 판매 가능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미국 생산능력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10GW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이상 (내년 여름), 2027년 초 납품 시작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향후 4분기 투자:  약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$5,000만</a:t>
            </a:r>
          </a:p>
        </p:txBody>
      </p:sp>
      <p:pic>
        <p:nvPicPr>
          <p:cNvPr id="6" name="Picture 5" descr="inverter_p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22" y="2319528"/>
            <a:ext cx="5848451" cy="41269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주주서한, 어닝콜</a:t>
            </a: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64285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3681740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1분기 사업성과 (3) ESS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559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Nextpower Energy Storage 출범 (Prevalon 인수)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설치·계약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6GWh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이상, 35개 이상 프로젝트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하이퍼스케일러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1GW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이상 프로젝트 진행 중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데이터센터용 전력 안정화 장치(HPS): 10ms 이내 응답</a:t>
            </a:r>
          </a:p>
        </p:txBody>
      </p:sp>
      <p:pic>
        <p:nvPicPr>
          <p:cNvPr id="6" name="Picture 5" descr="bess_un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147907"/>
            <a:ext cx="5217577" cy="2825832"/>
          </a:xfrm>
          <a:prstGeom prst="rect">
            <a:avLst/>
          </a:prstGeom>
        </p:spPr>
      </p:pic>
      <p:pic>
        <p:nvPicPr>
          <p:cNvPr id="7" name="Picture 6" descr="datacen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145" y="3147907"/>
            <a:ext cx="5023702" cy="2825832"/>
          </a:xfrm>
          <a:prstGeom prst="rect">
            <a:avLst/>
          </a:prstGeom>
        </p:spPr>
      </p:pic>
      <p:sp>
        <p:nvSpPr>
          <p:cNvPr id="8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주주서한, 어닝콜</a:t>
            </a: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649071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3687958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1분기 사업성과 (4) 유럽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559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Zimmermann PV-Steel 인수 예정 (독일)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고정식 · 수상 · 영농형 · 1P 트래커 · 배선 → 신제품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5종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진출국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15개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추가, 연 매출 약 €3억 · EBITDA 약 €4,500만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이번 가이던스에는 미반영</a:t>
            </a:r>
          </a:p>
        </p:txBody>
      </p:sp>
      <p:pic>
        <p:nvPicPr>
          <p:cNvPr id="6" name="Picture 5" descr="zimmermann_ag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105200"/>
            <a:ext cx="5817043" cy="2911247"/>
          </a:xfrm>
          <a:prstGeom prst="rect">
            <a:avLst/>
          </a:prstGeom>
        </p:spPr>
      </p:pic>
      <p:pic>
        <p:nvPicPr>
          <p:cNvPr id="7" name="Picture 6" descr="europe_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611" y="3105200"/>
            <a:ext cx="4424236" cy="2911247"/>
          </a:xfrm>
          <a:prstGeom prst="rect">
            <a:avLst/>
          </a:prstGeom>
        </p:spPr>
      </p:pic>
      <p:sp>
        <p:nvSpPr>
          <p:cNvPr id="8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주주서한, 어닝콜</a:t>
            </a: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5108112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314699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FY27 가이던스 상향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203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매출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$41~44억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(기존 $40~44억)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조정 EBITDA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$8.7~9.3억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(기존 $8.45~9.3억)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조정 희석 EPS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$4.42~4.73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 (기존 $4.30~4.73)</a:t>
            </a:r>
          </a:p>
        </p:txBody>
      </p:sp>
      <p:graphicFrame>
        <p:nvGraphicFramePr>
          <p:cNvPr id="6" name="막대그래프"/>
          <p:cNvGraphicFramePr>
            <a:graphicFrameLocks noGrp="1"/>
          </p:cNvGraphicFramePr>
          <p:nvPr/>
        </p:nvGraphicFramePr>
        <p:xfrm>
          <a:off x="841248" y="2319528"/>
          <a:ext cx="10515600" cy="41269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SEC 10-K, Q1 FY27 주주서한</a:t>
            </a: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822960" y="2011680"/>
            <a:ext cx="1051560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8800" lang="ko-KR" altLang="en-US">
                <a:solidFill>
                  <a:srgbClr val="000000"/>
                </a:solidFill>
                <a:latin typeface="여기어때 잘난체 고딕"/>
                <a:ea typeface="여기어때 잘난체 고딕"/>
              </a:rPr>
              <a:t>Q &amp; A</a:t>
            </a:r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037545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107643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Q &amp; A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21793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548640" indent="-548640"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Q1.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FCC의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수입 인버터 규제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발표 이후 인버터 사업 기회가 얼마나 커졌나요? (UBS)</a:t>
            </a:r>
          </a:p>
          <a:p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548640" indent="-54864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A. 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2년 전부터 고객들이 가장 힘들어하는 부분이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인버터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라서 준비해 왔습니다.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목표는 업계에서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가동률이 가장 높은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인버터를 공급하는 것입니다.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고객들은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미국산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사이버보안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FEOC 대응을 중요하게 보고 있고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그래서 지난 분기에 $5,000만 추가 투자를 결정했습니다.</a:t>
            </a:r>
          </a:p>
        </p:txBody>
      </p:sp>
      <p:sp>
        <p:nvSpPr>
          <p:cNvPr id="6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Q1 FY27 어닝콜 (Dan Shugar)</a:t>
            </a: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037545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107643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Q &amp; A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24968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548640" indent="-548640"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Q2.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잇따른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인수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의 통합 상황과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하이퍼스케일러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고객 확보는 어떻게 되고 있나요? (Goldman Sachs)</a:t>
            </a:r>
          </a:p>
          <a:p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548640" indent="-54864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A. 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eBOS는 인수 5분기 만에 연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$1억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수준으로, 그 회사 30년 역사의 두 배입니다.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Prevalon과 Zimmermann은 이미 성숙한 회사라 통합 부담이 적습니다.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하이퍼스케일러와는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직접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그리고 개발사를 통해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간접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으로 거래하고 있고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데이터센터 전력 수요는 실제로 있으며 수주가 늘고 있습니다.</a:t>
            </a:r>
          </a:p>
        </p:txBody>
      </p:sp>
      <p:sp>
        <p:nvSpPr>
          <p:cNvPr id="6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Q1 FY27 어닝콜 (Dan Shugar, Howard Wenger)</a:t>
            </a:r>
          </a:p>
        </p:txBody>
      </p:sp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037545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107643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Q &amp; A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8618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548640" indent="-548640"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Q3.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마진 개선 중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TrueCapture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기여는 얼마나 되나요? (Roth)</a:t>
            </a:r>
          </a:p>
          <a:p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548640" indent="-54864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A. 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TrueCapture는 과거 매출의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2%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였는데 지금은 그보다 높습니다.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다만 이번 마진 초과 달성의 주된 이유는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IEEPA 관세 환급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이었고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운임 상승이 일부를 상쇄했습니다. 2분기에도 환급이 더 있을 예정입니다.</a:t>
            </a:r>
          </a:p>
        </p:txBody>
      </p:sp>
      <p:sp>
        <p:nvSpPr>
          <p:cNvPr id="6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Q1 FY27 어닝콜 (Chuck Boynton, Howard Wenger)</a:t>
            </a:r>
          </a:p>
        </p:txBody>
      </p:sp>
    </p:spTree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037545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107643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Q &amp; A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21793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548640" indent="-548640"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Q4.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가이던스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하단만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올리고 상단은 왜 그대로 두었나요? (Wolfe)</a:t>
            </a:r>
          </a:p>
          <a:p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548640" indent="-54864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A. 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5월 연간 가이던스 → 6월 Prevalon 반영해 상·하단 상향 → 이번에 하단 상향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Zimmermann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은 인수 완료 시점이 불확실해 아직 넣지 않았습니다.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하반기에 Zimmermann이 완료되면 올라갈 가능성이 큽니다.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이제 1분기가 끝났을 뿐이라 신중하게 잡았습니다.</a:t>
            </a:r>
          </a:p>
        </p:txBody>
      </p:sp>
      <p:sp>
        <p:nvSpPr>
          <p:cNvPr id="6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Q1 FY27 어닝콜 (Chuck Boynton)</a:t>
            </a:r>
          </a:p>
        </p:txBody>
      </p:sp>
    </p:spTree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3037545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107643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Q &amp; A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21793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548640" indent="-548640"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Q5. 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ESS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사업을 키우는 데 공급·설계·자금 측면의 걸림돌은 없나요? (Truist)</a:t>
            </a:r>
          </a:p>
          <a:p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/>
            </a:r>
          </a:p>
          <a:p>
            <a:pPr marL="548640" indent="-54864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A.   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공급, 설계, 금융 어느 쪽에서도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걸림돌은 없다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고 봅니다.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ESS는 2030년까지 연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33%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성장이 예상되고, 배터리 사용 시간도 6~8시간으로 길어지고 있습니다.</a:t>
            </a:r>
          </a:p>
          <a:p>
            <a:pPr marL="54864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올해 상반기 미국 신규 발전설비의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91%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가 태양광과 ESS였습니다.</a:t>
            </a:r>
          </a:p>
        </p:txBody>
      </p:sp>
      <p:sp>
        <p:nvSpPr>
          <p:cNvPr id="6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Q1 FY27 어닝콜 (Dan Shugar)</a:t>
            </a:r>
          </a:p>
        </p:txBody>
      </p:sp>
    </p:spTree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41792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포인트 (1)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559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압도적 1위 트래커 +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번들 판매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미국 점유율 55%, 2,000개 프로젝트 고객 기반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비트래커 매출 비중 14%, 트래커보다 빠르게 성장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기초+트래커 통합으로 설치 시간 20% 단축</a:t>
            </a:r>
          </a:p>
        </p:txBody>
      </p:sp>
      <p:pic>
        <p:nvPicPr>
          <p:cNvPr id="6" name="Picture 5" descr="solar_stor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64" y="2675128"/>
            <a:ext cx="9232367" cy="377139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41792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포인트 (2)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559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인버터 · ESS · 데이터센터로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시장 확대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수입 인버터 규제·FEOC → 미국산 인버터 수요 ↑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인버터는 트래커보다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마진이 높은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사업 (경영진)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- 11월 16일 Capital Markets Day: 2030 전망 '대폭 상향' 예고</a:t>
            </a:r>
          </a:p>
        </p:txBody>
      </p:sp>
      <p:pic>
        <p:nvPicPr>
          <p:cNvPr id="6" name="Picture 5" descr="inverter_p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991763"/>
            <a:ext cx="4447099" cy="3138120"/>
          </a:xfrm>
          <a:prstGeom prst="rect">
            <a:avLst/>
          </a:prstGeom>
        </p:spPr>
      </p:pic>
      <p:pic>
        <p:nvPicPr>
          <p:cNvPr id="7" name="Picture 6" descr="bess_un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67" y="2991763"/>
            <a:ext cx="5794180" cy="31381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41792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포인트 (3)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559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무차입 ·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순현금 $12.1억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· 투자등급 신용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조정 FCF 분기 $1.05억, 설비투자 부담 작음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인수 자금 · 자사주 매입($5억 승인) 여력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주가 고점 대비 약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-46%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Forward P/E 약 18배</a:t>
            </a:r>
          </a:p>
        </p:txBody>
      </p:sp>
      <p:pic>
        <p:nvPicPr>
          <p:cNvPr id="6" name="Picture 5" descr="bess_s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570" y="2675128"/>
            <a:ext cx="4174954" cy="377139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41792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리스크 (1)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9151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정책 리스크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OBBBA: 태양광 세액공제(48E·45Y)는 2026.7.4까지 착공 또는 2027년 말까지 가동해야 적용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- 45X 제조 공제·관세 순효과가 분기 EBITDA의 약 40%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FEOC(우려 외국기업) 규정, 관세 정책 변동</a:t>
            </a:r>
          </a:p>
        </p:txBody>
      </p:sp>
      <p:pic>
        <p:nvPicPr>
          <p:cNvPr id="6" name="Picture 5" descr="tracker_fie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127" y="3030728"/>
            <a:ext cx="5717840" cy="34157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10-Q 위험요인</a:t>
            </a:r>
          </a:p>
        </p:txBody>
      </p:sp>
    </p:spTree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41792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리스크 (2)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559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인수 통합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과 마진 희석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조정 영업비용 비중 8% → 12% (1년)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- 2분기부터 Prevalon·Apex 반영 + 45X 현금화 비용 → 마진 하락 예고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Prevalon 대가 중 최대 $1.65억은 실적 연동 조건부</a:t>
            </a:r>
          </a:p>
        </p:txBody>
      </p:sp>
      <p:pic>
        <p:nvPicPr>
          <p:cNvPr id="6" name="Picture 5" descr="bess_un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326" y="2675128"/>
            <a:ext cx="6963443" cy="37713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주주서한, 10-Q</a:t>
            </a:r>
          </a:p>
        </p:txBody>
      </p:sp>
    </p:spTree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41792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리스크 (3)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203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고객 집중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과 해외 매출 감소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상위 5개 고객 매출 비중 46% (1년 전 37%), 최대 고객 16%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해외 매출 YoY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-40%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미국 의존도 83%</a:t>
            </a:r>
          </a:p>
        </p:txBody>
      </p:sp>
      <p:graphicFrame>
        <p:nvGraphicFramePr>
          <p:cNvPr id="6" name="막대그래프"/>
          <p:cNvGraphicFramePr>
            <a:graphicFrameLocks noGrp="1"/>
          </p:cNvGraphicFramePr>
          <p:nvPr/>
        </p:nvGraphicFramePr>
        <p:xfrm>
          <a:off x="841248" y="2319528"/>
          <a:ext cx="10515600" cy="41269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10-Q, 주주서한 (막대: 상위 5개 고객 비중)</a:t>
            </a:r>
          </a:p>
        </p:txBody>
      </p:sp>
    </p:spTree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2857225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89611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정리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203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트래커 1위 →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에너지 인프라 플랫폼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으로 변신 중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실적·현금흐름 탄탄, 주가는 고점 대비 절반 수준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관전 포인트:  ① 2분기 마진  ② Zimmermann 완료  ③ 11/16 Capital Markets Day</a:t>
            </a:r>
          </a:p>
        </p:txBody>
      </p:sp>
      <p:pic>
        <p:nvPicPr>
          <p:cNvPr id="6" name="Picture 5" descr="handsh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416" y="2319528"/>
            <a:ext cx="3207262" cy="412699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cker_fie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671" y="822960"/>
            <a:ext cx="5510351" cy="3291839"/>
          </a:xfrm>
          <a:prstGeom prst="rect">
            <a:avLst/>
          </a:prstGeom>
        </p:spPr>
      </p:pic>
      <p:sp>
        <p:nvSpPr>
          <p:cNvPr id="3" name="제목"/>
          <p:cNvSpPr txBox="1"/>
          <p:nvPr/>
        </p:nvSpPr>
        <p:spPr>
          <a:xfrm>
            <a:off x="457200" y="4480560"/>
            <a:ext cx="11277295" cy="1463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6600" lang="ko-KR" altLang="en-US">
                <a:solidFill>
                  <a:srgbClr val="FFFFFF"/>
                </a:solidFill>
                <a:latin typeface="여기어때 잘난체 고딕"/>
                <a:ea typeface="여기어때 잘난체 고딕"/>
              </a:rPr>
              <a:t>감사합니다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넥스트파워 기업분석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