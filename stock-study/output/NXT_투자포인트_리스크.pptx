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FFFF00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67%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28%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민주 양원 장악</c:v>
                </c:pt>
                <c:pt idx="1">
                  <c:v>민주 하원 · 공화 상원</c:v>
                </c:pt>
                <c:pt idx="2">
                  <c:v>공화 양원 유지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67.0</c:v>
                </c:pt>
                <c:pt idx="1">
                  <c:v>28.0</c:v>
                </c:pt>
                <c:pt idx="2">
                  <c:v>7.0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F6C6AD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415TWh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6C6AD"/>
                        </a:solidFill>
                        <a:latin typeface="에스코어 드림 6 Bold"/>
                        <a:ea typeface="에스코어 드림 6 Bold"/>
                      </a:rPr>
                      <a:t>945TWh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415.0</c:v>
                </c:pt>
                <c:pt idx="1">
                  <c:v>945.0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세전이익의 20%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$1.21억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35%</a:t>
                    </a:r>
                  </a:p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$2.25억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53%</a:t>
                    </a:r>
                  </a:p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$3.80억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121.4</c:v>
                </c:pt>
                <c:pt idx="1">
                  <c:v>224.9</c:v>
                </c:pt>
                <c:pt idx="2">
                  <c:v>379.9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미 10년물 금리 (%, 월말)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Pt>
            <c:idx val="4"/>
            <c:spPr>
              <a:solidFill>
                <a:srgbClr val="CAEEFB"/>
              </a:solidFill>
              <a:ln>
                <a:noFill/>
              </a:ln>
            </c:spPr>
          </c:dPt>
          <c:dPt>
            <c:idx val="5"/>
            <c:spPr>
              <a:solidFill>
                <a:srgbClr val="CAEEFB"/>
              </a:solidFill>
              <a:ln>
                <a:noFill/>
              </a:ln>
            </c:spPr>
          </c:dPt>
          <c:dPt>
            <c:idx val="6"/>
            <c:spPr>
              <a:solidFill>
                <a:srgbClr val="CAEEFB"/>
              </a:solidFill>
              <a:ln>
                <a:noFill/>
              </a:ln>
            </c:spPr>
          </c:dPt>
          <c:dPt>
            <c:idx val="7"/>
            <c:spPr>
              <a:solidFill>
                <a:srgbClr val="CAEEFB"/>
              </a:solidFill>
              <a:ln>
                <a:noFill/>
              </a:ln>
            </c:spPr>
          </c:dPt>
          <c:dPt>
            <c:idx val="8"/>
            <c:spPr>
              <a:solidFill>
                <a:srgbClr val="FFFF00"/>
              </a:solidFill>
              <a:ln>
                <a:noFill/>
              </a:ln>
            </c:spPr>
          </c:dPt>
          <c:dPt>
            <c:idx val="9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4.24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3.96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4.31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4.39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4.45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4.42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4.74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4.76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5.29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5.28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10/2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4.24</c:v>
                </c:pt>
                <c:pt idx="1">
                  <c:v>3.96</c:v>
                </c:pt>
                <c:pt idx="2">
                  <c:v>4.31</c:v>
                </c:pt>
                <c:pt idx="3">
                  <c:v>4.39</c:v>
                </c:pt>
                <c:pt idx="4">
                  <c:v>4.45</c:v>
                </c:pt>
                <c:pt idx="5">
                  <c:v>4.42</c:v>
                </c:pt>
                <c:pt idx="6">
                  <c:v>4.74</c:v>
                </c:pt>
                <c:pt idx="7">
                  <c:v>4.76</c:v>
                </c:pt>
                <c:pt idx="8">
                  <c:v>5.29</c:v>
                </c:pt>
                <c:pt idx="9">
                  <c:v>5.28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NXT 주가 ($, 월말)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CAEEFB"/>
              </a:solidFill>
              <a:ln>
                <a:noFill/>
              </a:ln>
            </c:spPr>
          </c:dPt>
          <c:dPt>
            <c:idx val="4"/>
            <c:spPr>
              <a:solidFill>
                <a:srgbClr val="FFFF00"/>
              </a:solidFill>
              <a:ln>
                <a:noFill/>
              </a:ln>
            </c:spPr>
          </c:dPt>
          <c:dPt>
            <c:idx val="5"/>
            <c:spPr>
              <a:solidFill>
                <a:srgbClr val="CAEEFB"/>
              </a:solidFill>
              <a:ln>
                <a:noFill/>
              </a:ln>
            </c:spPr>
          </c:dPt>
          <c:dPt>
            <c:idx val="6"/>
            <c:spPr>
              <a:solidFill>
                <a:srgbClr val="CAEEFB"/>
              </a:solidFill>
              <a:ln>
                <a:noFill/>
              </a:ln>
            </c:spPr>
          </c:dPt>
          <c:dPt>
            <c:idx val="7"/>
            <c:spPr>
              <a:solidFill>
                <a:srgbClr val="CAEEFB"/>
              </a:solidFill>
              <a:ln>
                <a:noFill/>
              </a:ln>
            </c:spPr>
          </c:dPt>
          <c:dPt>
            <c:idx val="8"/>
            <c:spPr>
              <a:solidFill>
                <a:srgbClr val="CAEEFB"/>
              </a:solidFill>
              <a:ln>
                <a:noFill/>
              </a:ln>
            </c:spPr>
          </c:dPt>
          <c:dPt>
            <c:idx val="9"/>
            <c:spPr>
              <a:solidFill>
                <a:srgbClr val="CAEEF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117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105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121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156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90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82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78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wrap="none"/>
                  <a:lstStyle/>
                  <a:p>
                    <a:r>
                      <a:rPr sz="12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84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10/2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117.1</c:v>
                </c:pt>
                <c:pt idx="1">
                  <c:v>105.1</c:v>
                </c:pt>
                <c:pt idx="2">
                  <c:v>120.6</c:v>
                </c:pt>
                <c:pt idx="3">
                  <c:v>119.1</c:v>
                </c:pt>
                <c:pt idx="4">
                  <c:v>156.4</c:v>
                </c:pt>
                <c:pt idx="5">
                  <c:v>119.1</c:v>
                </c:pt>
                <c:pt idx="6">
                  <c:v>89.9</c:v>
                </c:pt>
                <c:pt idx="7">
                  <c:v>82.0</c:v>
                </c:pt>
                <c:pt idx="8">
                  <c:v>77.9</c:v>
                </c:pt>
                <c:pt idx="9">
                  <c:v>84.3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AEEFB"/>
            </a:solidFill>
            <a:ln>
              <a:noFill/>
            </a:ln>
          </c:spPr>
          <c:dPt>
            <c:idx val="0"/>
            <c:spPr>
              <a:solidFill>
                <a:srgbClr val="CAEEFB"/>
              </a:solidFill>
              <a:ln>
                <a:noFill/>
              </a:ln>
            </c:spPr>
          </c:dPt>
          <c:dPt>
            <c:idx val="1"/>
            <c:spPr>
              <a:solidFill>
                <a:srgbClr val="CAEEFB"/>
              </a:solidFill>
              <a:ln>
                <a:noFill/>
              </a:ln>
            </c:spPr>
          </c:dPt>
          <c:dPt>
            <c:idx val="2"/>
            <c:spPr>
              <a:solidFill>
                <a:srgbClr val="CAEEFB"/>
              </a:solidFill>
              <a:ln>
                <a:noFill/>
              </a:ln>
            </c:spPr>
          </c:dPt>
          <c:dPt>
            <c:idx val="3"/>
            <c:spPr>
              <a:solidFill>
                <a:srgbClr val="FFFF0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90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CAEEFB"/>
                        </a:solidFill>
                        <a:latin typeface="에스코어 드림 6 Bold"/>
                        <a:ea typeface="에스코어 드림 6 Bold"/>
                      </a:rPr>
                      <a:t>111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1800" lang="ko-KR" altLang="en-US">
                        <a:solidFill>
                          <a:srgbClr val="FFFF00"/>
                        </a:solidFill>
                        <a:latin typeface="에스코어 드림 6 Bold"/>
                        <a:ea typeface="에스코어 드림 6 Bold"/>
                      </a:rPr>
                      <a:t>122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5%</c:v>
                </c:pt>
                <c:pt idx="1">
                  <c:v>6%</c:v>
                </c:pt>
                <c:pt idx="2">
                  <c:v>7%</c:v>
                </c:pt>
                <c:pt idx="3">
                  <c:v>8%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89.5</c:v>
                </c:pt>
                <c:pt idx="1">
                  <c:v>100.0</c:v>
                </c:pt>
                <c:pt idx="2">
                  <c:v>110.9</c:v>
                </c:pt>
                <c:pt idx="3">
                  <c:v>122.3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CAEE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CAEEFB"/>
          </a:solidFill>
          <a:latin typeface="에스코어 드림 6 Bold"/>
          <a:ea typeface="에스코어 드림 6 Bol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투자포인트와 리스크를 생각해보겠습니다.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첫번째 투자포인트는 다음 달 치러지는</a:t>
            </a:r>
          </a:p>
          <a:p>
            <a:r>
              <a:t>미국 중간선거입니다.</a:t>
            </a:r>
          </a:p>
          <a:p>
            <a:r>
              <a:t>(나)</a:t>
            </a:r>
          </a:p>
          <a:p>
            <a:r>
              <a:t>11월 3일 중간선거를 앞두고</a:t>
            </a:r>
          </a:p>
          <a:p>
            <a:r>
              <a:t>선거 분석 기관 디시전데스크HQ는</a:t>
            </a:r>
          </a:p>
          <a:p>
            <a:r>
              <a:t>민주당이 하원을 가져갈 확률을 75%,</a:t>
            </a:r>
          </a:p>
          <a:p>
            <a:r>
              <a:t>상원을 가져갈 확률을 54%로 보고 있습니다.</a:t>
            </a:r>
          </a:p>
          <a:p>
            <a:r>
              <a:t>(나)</a:t>
            </a:r>
          </a:p>
          <a:p>
            <a:r>
              <a:t>예측시장 폴리마켓에서는</a:t>
            </a:r>
          </a:p>
          <a:p>
            <a:r>
              <a:t>민주당이 상·하원을 모두 가져갈 확률이 67%로</a:t>
            </a:r>
          </a:p>
          <a:p>
            <a:r>
              <a:t>가장 높게 거래되고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민주당은 공화당이 줄인 클린에너지 세액공제를</a:t>
            </a:r>
          </a:p>
          <a:p>
            <a:r>
              <a:t>되살리겠다고 공약하고 있습니다.</a:t>
            </a:r>
          </a:p>
          <a:p>
            <a:r>
              <a:t>(나)</a:t>
            </a:r>
          </a:p>
          <a:p>
            <a:r>
              <a:t>하원 민주당 의원 122명이</a:t>
            </a:r>
          </a:p>
          <a:p>
            <a:r>
              <a:t>세액공제를 복원하는 법안을 함께 발의했고</a:t>
            </a:r>
          </a:p>
          <a:p>
            <a:r>
              <a:t>(나)</a:t>
            </a:r>
          </a:p>
          <a:p>
            <a:r>
              <a:t>국내에서도 삼성증권이</a:t>
            </a:r>
          </a:p>
          <a:p>
            <a:r>
              <a:t>민주당이 이기면 재생에너지와 ESS가</a:t>
            </a:r>
          </a:p>
          <a:p>
            <a:r>
              <a:t>가장 크게 반등할 업종이라고 분석했습니다.</a:t>
            </a:r>
          </a:p>
          <a:p>
            <a:r>
              <a:t>(나)</a:t>
            </a:r>
          </a:p>
          <a:p>
            <a:r>
              <a:t>넥스트파워 입장에서는</a:t>
            </a:r>
          </a:p>
          <a:p>
            <a:r>
              <a:t>고객들이 받는 세액공제 기한이 늘어나면</a:t>
            </a:r>
          </a:p>
          <a:p>
            <a:r>
              <a:t>2028년 이후 수요가 끊길 수 있다는 걱정을 덜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시나리오별로 정리해보면</a:t>
            </a:r>
          </a:p>
          <a:p>
            <a:r>
              <a:t>(나)</a:t>
            </a:r>
          </a:p>
          <a:p>
            <a:r>
              <a:t>민주당이 양원을 모두 가져가면</a:t>
            </a:r>
          </a:p>
          <a:p>
            <a:r>
              <a:t>태양광 지원을 더 줄이려는 시도는 막힐 가능성이 크고</a:t>
            </a:r>
          </a:p>
          <a:p>
            <a:r>
              <a:t>세액공제 복원 논의도 시작될 수 있습니다.</a:t>
            </a:r>
          </a:p>
          <a:p>
            <a:r>
              <a:t>(나)</a:t>
            </a:r>
          </a:p>
          <a:p>
            <a:r>
              <a:t>하원만 가져가면 의회가 교착 상태가 되면서</a:t>
            </a:r>
          </a:p>
          <a:p>
            <a:r>
              <a:t>지금 법이 그대로 유지될 가능성이 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다만 너무 큰 기대는 금물입니다.</a:t>
            </a:r>
          </a:p>
          <a:p>
            <a:r>
              <a:t>(나)</a:t>
            </a:r>
          </a:p>
          <a:p>
            <a:r>
              <a:t>민주당이 의회를 가져가도</a:t>
            </a:r>
          </a:p>
          <a:p>
            <a:r>
              <a:t>트럼프 대통령이 거부권을 쓸 수 있기 때문에</a:t>
            </a:r>
          </a:p>
          <a:p>
            <a:r>
              <a:t>민주당 스스로도 세액공제를 본격적으로 되살리는 건</a:t>
            </a:r>
          </a:p>
          <a:p>
            <a:r>
              <a:t>2029년 이후로 보고 있습니다.</a:t>
            </a:r>
          </a:p>
          <a:p>
            <a:r>
              <a:t>(나)</a:t>
            </a:r>
          </a:p>
          <a:p>
            <a:r>
              <a:t>그래서 실제 법 개정보다는</a:t>
            </a:r>
          </a:p>
          <a:p>
            <a:r>
              <a:t>추가 축소를 막고 행정부를 견제하는 효과,</a:t>
            </a:r>
          </a:p>
          <a:p>
            <a:r>
              <a:t>그리고 투자심리 개선이 먼저 나타날 가능성이 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두번째 투자포인트는</a:t>
            </a:r>
          </a:p>
          <a:p>
            <a:r>
              <a:t>AI 데이터센터 시장 진출입니다.</a:t>
            </a:r>
          </a:p>
          <a:p>
            <a:r>
              <a:t>(나)</a:t>
            </a:r>
          </a:p>
          <a:p>
            <a:r>
              <a:t>국제에너지기구에 따르면</a:t>
            </a:r>
          </a:p>
          <a:p>
            <a:r>
              <a:t>전 세계 데이터센터 전력 소비는</a:t>
            </a:r>
          </a:p>
          <a:p>
            <a:r>
              <a:t>2024년 415테라와트시에서</a:t>
            </a:r>
          </a:p>
          <a:p>
            <a:r>
              <a:t>2030년 945테라와트시로 두 배 넘게 늘어납니다.</a:t>
            </a:r>
          </a:p>
          <a:p>
            <a:r>
              <a:t>(나)</a:t>
            </a:r>
          </a:p>
          <a:p>
            <a:r>
              <a:t>특히 미국에서는 앞으로 늘어나는 전력수요의</a:t>
            </a:r>
          </a:p>
          <a:p>
            <a:r>
              <a:t>절반 가까이가 데이터센터에서 나올 전망입니다.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데이터센터는 전기가 빨리 필요합니다.</a:t>
            </a:r>
          </a:p>
          <a:p>
            <a:r>
              <a:t>그리고 가장 빨리 지을 수 있는 발전원이</a:t>
            </a:r>
          </a:p>
          <a:p>
            <a:r>
              <a:t>바로 태양광과 ESS입니다.</a:t>
            </a:r>
          </a:p>
          <a:p>
            <a:r>
              <a:t>(나)</a:t>
            </a:r>
          </a:p>
          <a:p>
            <a:r>
              <a:t>올해 상반기 미국에 새로 들어선 발전설비의 91%가</a:t>
            </a:r>
          </a:p>
          <a:p>
            <a:r>
              <a:t>태양광과 ESS였습니다.</a:t>
            </a:r>
          </a:p>
          <a:p>
            <a:r>
              <a:t>(나)</a:t>
            </a:r>
          </a:p>
          <a:p>
            <a:r>
              <a:t>ESS 시장은 연 33% 성장할 전망이고</a:t>
            </a:r>
          </a:p>
          <a:p>
            <a:r>
              <a:t>배터리 저장 시간도 점점 길어지고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넥스트파워는 이번 인수로</a:t>
            </a:r>
          </a:p>
          <a:p>
            <a:r>
              <a:t>데이터센터에 전기를 공급하는 발전소의</a:t>
            </a:r>
          </a:p>
          <a:p>
            <a:r>
              <a:t>거의 모든 장비를 갖추게 됐습니다.</a:t>
            </a:r>
          </a:p>
          <a:p>
            <a:r>
              <a:t>(나)</a:t>
            </a:r>
          </a:p>
          <a:p>
            <a:r>
              <a:t>기존의 트래커와 기초, 전기 설비에</a:t>
            </a:r>
          </a:p>
          <a:p>
            <a:r>
              <a:t>(나)</a:t>
            </a:r>
          </a:p>
          <a:p>
            <a:r>
              <a:t>전기를 바꿔주는 인버터,</a:t>
            </a:r>
          </a:p>
          <a:p>
            <a:r>
              <a:t>(나)</a:t>
            </a:r>
          </a:p>
          <a:p>
            <a:r>
              <a:t>전기를 저장하고 안정시키는 ESS까지 더해졌습니다.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성과도 나오고 있습니다.</a:t>
            </a:r>
          </a:p>
          <a:p>
            <a:r>
              <a:t>(나)</a:t>
            </a:r>
          </a:p>
          <a:p>
            <a:r>
              <a:t>프레발론은 대형 하이퍼스케일러의</a:t>
            </a:r>
          </a:p>
          <a:p>
            <a:r>
              <a:t>1기가와트가 넘는 프로젝트를 진행 중이고</a:t>
            </a:r>
          </a:p>
          <a:p>
            <a:r>
              <a:t>데이터센터 전력이 출렁일 때</a:t>
            </a:r>
          </a:p>
          <a:p>
            <a:r>
              <a:t>10밀리초 안에 잡아주는 장치도 갖고 있습니다.</a:t>
            </a:r>
          </a:p>
          <a:p>
            <a:r>
              <a:t>(나)</a:t>
            </a:r>
          </a:p>
          <a:p>
            <a:r>
              <a:t>인버터는 미국 정부가 수입 인버터를 규제하면서</a:t>
            </a:r>
          </a:p>
          <a:p>
            <a:r>
              <a:t>미국에서 만드는 넥스트파워에게 기회가 커졌습니다.</a:t>
            </a:r>
          </a:p>
          <a:p>
            <a:r>
              <a:t>경영진은 인버터가 트래커보다</a:t>
            </a:r>
          </a:p>
          <a:p>
            <a:r>
              <a:t>마진이 높은 사업이라고 밝혔습니다.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반대로 투자 리스크도 생각해보겠습니다.</a:t>
            </a:r>
          </a:p>
          <a:p>
            <a:r>
              <a:t>첫번째는 정책 리스크입니다.</a:t>
            </a:r>
          </a:p>
          <a:p>
            <a:r>
              <a:t>(나)</a:t>
            </a:r>
          </a:p>
          <a:p>
            <a:r>
              <a:t>작년 7월 통과된 OBBBA, 이른바 '하나의 크고 아름다운 법'으로</a:t>
            </a:r>
          </a:p>
          <a:p>
            <a:r>
              <a:t>태양광 발전소가 받던 세액공제 기한이 크게 앞당겨졌습니다.</a:t>
            </a:r>
          </a:p>
          <a:p>
            <a:r>
              <a:t>올해 7월 4일까지 착공하지 못한 프로젝트는</a:t>
            </a:r>
          </a:p>
          <a:p>
            <a:r>
              <a:t>내년 말까지 가동해야 세액공제를 받을 수 있습니다.</a:t>
            </a:r>
          </a:p>
          <a:p>
            <a:r>
              <a:t>(나)</a:t>
            </a:r>
          </a:p>
          <a:p>
            <a:r>
              <a:t>실제로 고객들이 세액공제 자격을 확보하려고</a:t>
            </a:r>
          </a:p>
          <a:p>
            <a:r>
              <a:t>장비를 미리 사 두는 매출이 작년에만 1.4억 달러 있었습니다.</a:t>
            </a:r>
          </a:p>
          <a:p>
            <a:r>
              <a:t>수요를 당겨쓴 만큼 2028년 이후가 걱정되는 대목입니다.</a:t>
            </a:r>
          </a:p>
          <a:p>
            <a:r>
              <a:t>(나)</a:t>
            </a:r>
          </a:p>
          <a:p>
            <a:r>
              <a:t>넥스트파워가 직접 받는 45X 세액공제도</a:t>
            </a:r>
          </a:p>
          <a:p>
            <a:r>
              <a:t>2030년부터 줄어들어 2033년에는 사라집니다.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문제는 이 45X가 이익에서 차지하는 비중입니다.</a:t>
            </a:r>
          </a:p>
          <a:p>
            <a:r>
              <a:t>(나)</a:t>
            </a:r>
          </a:p>
          <a:p>
            <a:r>
              <a:t>45X 금액은 FY24 1.2억 달러에서</a:t>
            </a:r>
          </a:p>
          <a:p>
            <a:r>
              <a:t>FY26 3.8억 달러로 3배 넘게 늘었고</a:t>
            </a:r>
          </a:p>
          <a:p>
            <a:r>
              <a:t>(나)</a:t>
            </a:r>
          </a:p>
          <a:p>
            <a:r>
              <a:t>세전이익에서 차지하는 비중은</a:t>
            </a:r>
          </a:p>
          <a:p>
            <a:r>
              <a:t>20%에서 53%까지 올라왔습니다.</a:t>
            </a:r>
          </a:p>
          <a:p>
            <a:r>
              <a:t>이익의 절반 이상이 세액공제에서 나온다는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45X를 빼면 PER은 얼마일까요?</a:t>
            </a:r>
          </a:p>
          <a:p>
            <a:r>
              <a:t>(나)</a:t>
            </a:r>
          </a:p>
          <a:p>
            <a:r>
              <a:t>지난 12개월 기준 PER은 21.8배인데</a:t>
            </a:r>
          </a:p>
          <a:p>
            <a:r>
              <a:t>45X를 세후로 빼고 계산하면</a:t>
            </a:r>
          </a:p>
          <a:p>
            <a:r>
              <a:t>EPS가 1.88달러로 줄고 PER은 약 45배가 됩니다.</a:t>
            </a:r>
          </a:p>
          <a:p>
            <a:r>
              <a:t>(나)</a:t>
            </a:r>
          </a:p>
          <a:p>
            <a:r>
              <a:t>내년 이익 기준으로도</a:t>
            </a:r>
          </a:p>
          <a:p>
            <a:r>
              <a:t>18배에서 약 32배로 뛰어오릅니다.</a:t>
            </a:r>
          </a:p>
          <a:p>
            <a:r>
              <a:t>(나)</a:t>
            </a:r>
          </a:p>
          <a:p>
            <a:r>
              <a:t>45X가 2029년까지는 그대로 유지되니</a:t>
            </a:r>
          </a:p>
          <a:p>
            <a:r>
              <a:t>지금 당장 이 숫자가 현실이 되는 건 아니지만,</a:t>
            </a:r>
          </a:p>
          <a:p>
            <a:r>
              <a:t>정책이 바뀌면 지금 주가가 결코 싸지 않다는 점은</a:t>
            </a:r>
          </a:p>
          <a:p>
            <a:r>
              <a:t>꼭 기억해야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두번째 리스크는 고금리입니다.</a:t>
            </a:r>
          </a:p>
          <a:p>
            <a:r>
              <a:t>(나)</a:t>
            </a:r>
          </a:p>
          <a:p>
            <a:r>
              <a:t>미국 연준은 지난 9월 16일</a:t>
            </a:r>
          </a:p>
          <a:p>
            <a:r>
              <a:t>2023년 이후 처음으로 기준금리를 올렸습니다.</a:t>
            </a:r>
          </a:p>
          <a:p>
            <a:r>
              <a:t>(나)</a:t>
            </a:r>
          </a:p>
          <a:p>
            <a:r>
              <a:t>10년물 국채금리는 5월 말 4.45%에서</a:t>
            </a:r>
          </a:p>
          <a:p>
            <a:r>
              <a:t>지금은 5.28%까지 올랐습니다.</a:t>
            </a:r>
          </a:p>
          <a:p>
            <a:r>
              <a:t>같은 기간 넥스트파워 주가는 46%,</a:t>
            </a:r>
          </a:p>
          <a:p>
            <a:r>
              <a:t>태양광 ETF인 TAN도 40% 빠졌습니다.</a:t>
            </a:r>
          </a:p>
          <a:p>
            <a:r>
              <a:t>금리와 주가가 정확히 반대로 움직인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왜 태양광은 금리에 약할까요?</a:t>
            </a:r>
          </a:p>
          <a:p>
            <a:r>
              <a:t>(나)</a:t>
            </a:r>
          </a:p>
          <a:p>
            <a:r>
              <a:t>가스 발전소는 연료비가 큰 비중을 차지하지만</a:t>
            </a:r>
          </a:p>
          <a:p>
            <a:r>
              <a:t>태양광은 연료비가 없는 대신</a:t>
            </a:r>
          </a:p>
          <a:p>
            <a:r>
              <a:t>처음에 짓는 비용이 대부분입니다.</a:t>
            </a:r>
          </a:p>
          <a:p>
            <a:r>
              <a:t>그 돈을 대부분 빌려서 짓기 때문에</a:t>
            </a:r>
          </a:p>
          <a:p>
            <a:r>
              <a:t>이자율이 곧 전기 생산 단가를 좌우합니다.</a:t>
            </a:r>
          </a:p>
          <a:p>
            <a:r>
              <a:t>(나)</a:t>
            </a:r>
          </a:p>
          <a:p>
            <a:r>
              <a:t>30년짜리 프로젝트를 단순 계산해보면</a:t>
            </a:r>
          </a:p>
          <a:p>
            <a:r>
              <a:t>조달 금리가 6%에서 8%로 오르면</a:t>
            </a:r>
          </a:p>
          <a:p>
            <a:r>
              <a:t>발전단가가 22% 정도 올라갑니다.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금리가 높으면 발전사업자들의 수익률이 떨어지고</a:t>
            </a:r>
          </a:p>
          <a:p>
            <a:r>
              <a:t>프로젝트가 미뤄지거나 취소될 수 있습니다.</a:t>
            </a:r>
          </a:p>
          <a:p>
            <a:r>
              <a:t>넥스트파워도 10-Q에서 이 점을 위험요인으로 밝히고 있습니다.</a:t>
            </a:r>
          </a:p>
          <a:p>
            <a:r>
              <a:t>(나)</a:t>
            </a:r>
          </a:p>
          <a:p>
            <a:r>
              <a:t>55억 달러가 넘는 수주잔고가</a:t>
            </a:r>
          </a:p>
          <a:p>
            <a:r>
              <a:t>제때 매출로 바뀌는지 지켜봐야 합니다.</a:t>
            </a:r>
          </a:p>
          <a:p>
            <a:r>
              <a:t>(나)</a:t>
            </a:r>
          </a:p>
          <a:p>
            <a:r>
              <a:t>다만 넥스트파워는 빚이 없고 현금이 12억 달러가 넘어서</a:t>
            </a:r>
          </a:p>
          <a:p>
            <a:r>
              <a:t>회사 자체보다는 고객들의 자금 사정이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정리하겠습니다.</a:t>
            </a:r>
          </a:p>
          <a:p>
            <a:r>
              <a:t>(나)</a:t>
            </a:r>
          </a:p>
          <a:p>
            <a:r>
              <a:t>넥스트파워는 다음 달 중간선거와</a:t>
            </a:r>
          </a:p>
          <a:p>
            <a:r>
              <a:t>AI 데이터센터라는 두 가지 기회를 갖고 있습니다.</a:t>
            </a:r>
          </a:p>
          <a:p>
            <a:r>
              <a:t>(나)</a:t>
            </a:r>
          </a:p>
          <a:p>
            <a:r>
              <a:t>반면 이익의 절반 이상을 세액공제에 기대고 있고</a:t>
            </a:r>
          </a:p>
          <a:p>
            <a:r>
              <a:t>금리가 오를수록 고객들이 힘들어지는 구조입니다.</a:t>
            </a:r>
          </a:p>
          <a:p>
            <a:r>
              <a:t>(나)</a:t>
            </a:r>
          </a:p>
          <a:p>
            <a:r>
              <a:t>11월 3일 선거, 11월 16일 투자자의 날,</a:t>
            </a:r>
          </a:p>
          <a:p>
            <a:r>
              <a:t>그리고 12월 금리 결정을 함께 지켜보면 좋겠습니다.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6600" lang="ko-KR" altLang="en-US">
                <a:solidFill>
                  <a:srgbClr val="000000"/>
                </a:solidFill>
                <a:latin typeface="여기어때 잘난체 고딕"/>
                <a:ea typeface="여기어때 잘난체 고딕"/>
              </a:rPr>
              <a:t>투자 포인트 &amp; 리스크</a:t>
            </a:r>
          </a:p>
          <a:p>
            <a:r>
              <a:rPr sz="2400" lang="ko-KR" altLang="en-US">
                <a:solidFill>
                  <a:srgbClr val="5F6368"/>
                </a:solidFill>
                <a:latin typeface="에스코어 드림 6 Bold"/>
                <a:ea typeface="에스코어 드림 6 Bold"/>
              </a:rPr>
              <a:t>넥스트파워 (NXT) · 2026년 10월 기준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미국 중간선거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민주당 승리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시 수혜 가능성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- 11월 3일 중간선거, 민주당 승리 확률: 하원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75%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· 상원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54%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(DDHQ)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963928"/>
          <a:ext cx="10515600" cy="4482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Decision Desk HQ (2026.10.2), Polymarket 예측시장 (2026.10.4 조회)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9151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민주당 공약:  축소된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클린에너지 세액공제 복원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하원 민주당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122명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, 'Energy Bills Relief Act' 공동 발의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삼성증권 (2026.10.3):  블루웨이브 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재생에너지 · ESS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반등 기대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넥스트파워 고객의 세액공제(48E·45Y) 기한이 늘어나면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- 2028년 이후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수요 공백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우려 완화</a:t>
            </a:r>
          </a:p>
        </p:txBody>
      </p:sp>
      <p:pic>
        <p:nvPicPr>
          <p:cNvPr id="6" name="Picture 5" descr="capit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52" y="3030728"/>
            <a:ext cx="6594590" cy="34157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Inside Climate News (2026.3.18), 블루밍비트 (2026.10.3)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(1)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41248" y="914400"/>
          <a:ext cx="10515599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76698"/>
                <a:gridCol w="1338349"/>
                <a:gridCol w="6500552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선거 결과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확률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넥스트파워에 미치는 영향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민주 양원 장악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에스코어 드림 7 ExtraBold"/>
                          <a:ea typeface="에스코어 드림 7 ExtraBold"/>
                        </a:rPr>
                        <a:t>67%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추가 지원 축소 저지 · 복원 법안 추진 → 투자심리 개선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민주 하원 · 공화 상원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28%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의회 교착 → 현행 OBBBA 유지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공화 양원 유지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7%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추가 축소 · 세이프하버 규제 강화 위험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Polymarket (2026.10.4 조회), 시나리오별 영향은 자체 판단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다만,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트럼프 대통령 거부권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은 여전히 남아 있음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민주당 스스로도 대규모 법 개정은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2029년 이후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로 보는 중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현실적 효과:  추가 축소 저지 · 행정부 견제 · 2028년 대선 기대감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선거 전후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투자심리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변화가 주가에 먼저 반영될 가능성</a:t>
            </a:r>
          </a:p>
        </p:txBody>
      </p:sp>
      <p:pic>
        <p:nvPicPr>
          <p:cNvPr id="6" name="Picture 5" descr="capit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488" y="2675128"/>
            <a:ext cx="7281118" cy="37713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E&amp;E News (2026.3.12)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(2)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인버터 · ESS로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AI 데이터센터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시장 진출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전 세계 데이터센터 전력 소비, 2030년까지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2배 이상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(IEA)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미국 전력수요 증가분의 약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절반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이 데이터센터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2319528"/>
          <a:ext cx="10515600" cy="41269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IEA 'Energy and AI' (2025)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(2)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빠르게 지을 수 있는 전원 =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태양광 + ESS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- 2026년 상반기 미국 신규 발전설비의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91%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가 태양광·ESS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ESS 시장 연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33%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성장 전망, 저장 시간 4시간 → 6~8시간으로</a:t>
            </a:r>
          </a:p>
        </p:txBody>
      </p:sp>
      <p:pic>
        <p:nvPicPr>
          <p:cNvPr id="6" name="Picture 5" descr="solar_sto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09" y="2319528"/>
            <a:ext cx="10102876" cy="41269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어닝콜·주주서한 (Dan Shugar)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(2)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868680" y="1935480"/>
            <a:ext cx="1280160" cy="149352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업부 1"/>
          <p:cNvSpPr/>
          <p:nvPr/>
        </p:nvSpPr>
        <p:spPr>
          <a:xfrm>
            <a:off x="2377440" y="1455420"/>
            <a:ext cx="3566160" cy="960120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발전 (기존)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126480" y="1606296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040880" y="1322832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트래커 · 기초 · eBOS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1935480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40880" y="1981200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TrueCapture 소프트웨어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429000"/>
            <a:ext cx="128016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업부 2"/>
          <p:cNvSpPr/>
          <p:nvPr/>
        </p:nvSpPr>
        <p:spPr>
          <a:xfrm>
            <a:off x="2377440" y="2948940"/>
            <a:ext cx="3566160" cy="960120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전력 변환 (신규)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126480" y="3099816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040880" y="2816352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인버터 · PCS (Apex/Zigor)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" y="3429000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40880" y="3474720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미국산 · UL 1741 SB 인증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3429000"/>
            <a:ext cx="1280160" cy="149352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사업부 3"/>
          <p:cNvSpPr/>
          <p:nvPr/>
        </p:nvSpPr>
        <p:spPr>
          <a:xfrm>
            <a:off x="2377440" y="4442460"/>
            <a:ext cx="3566160" cy="960120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저장 · 안정화 (신규)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126480" y="4593336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040880" y="4309872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ESS (Prevalon, 6GWh 이상)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4922520"/>
            <a:ext cx="777240" cy="32918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040880" y="4968240"/>
            <a:ext cx="4693615" cy="566928"/>
          </a:xfrm>
          <a:prstGeom prst="rect">
            <a:avLst/>
          </a:prstGeom>
          <a:solidFill>
            <a:srgbClr val="D9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데이터센터용 전력 안정화(HPS)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주주서한·어닝콜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포인트 (2)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ESS:  하이퍼스케일러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1GW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이상 프로젝트 진행 중 (Prevalon)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데이터센터 전력 변동에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10ms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이내 응답하는 전력 안정화 장치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인버터:  FCC 수입 인버터 규제 →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미국산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수요 ↑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미국 생산능력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10GW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이상 (2027년 여름), 트래커보다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마진이 높은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사업</a:t>
            </a:r>
          </a:p>
        </p:txBody>
      </p:sp>
      <p:pic>
        <p:nvPicPr>
          <p:cNvPr id="6" name="Picture 5" descr="bess_un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91763"/>
            <a:ext cx="5794180" cy="3138120"/>
          </a:xfrm>
          <a:prstGeom prst="rect">
            <a:avLst/>
          </a:prstGeom>
        </p:spPr>
      </p:pic>
      <p:pic>
        <p:nvPicPr>
          <p:cNvPr id="7" name="Picture 6" descr="inverter_p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748" y="2991763"/>
            <a:ext cx="4447099" cy="3138120"/>
          </a:xfrm>
          <a:prstGeom prst="rect">
            <a:avLst/>
          </a:prstGeom>
        </p:spPr>
      </p:pic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어닝콜·주주서한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9151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정책 리스크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:  OBBBA (2025.7 제정)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고객 세액공제(48E·45Y):  2026.7.4까지 착공 → 착공 후 4년 내 가동 시 적용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그 이후 착공한 프로젝트는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2027년 말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까지 가동해야 적용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FY26 세이프하버용 선구매(bill-and-hold) 매출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$1.44억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→ 수요 당겨쓰기 신호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45X 제조 세액공제:  2030~32년 매년 25%씩 축소,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2033년 소멸</a:t>
            </a:r>
          </a:p>
        </p:txBody>
      </p:sp>
      <p:pic>
        <p:nvPicPr>
          <p:cNvPr id="6" name="Picture 5" descr="tracker_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127" y="3030728"/>
            <a:ext cx="5717840" cy="34157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Nextpower FY26 10-K, Q1 FY27 10-Q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8483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이익에서 45X가 차지하는 비중 급증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FY26 45X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$3.80억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= 세전이익의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53%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1963928"/>
          <a:ext cx="10515600" cy="4482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FY26 10-K 부문 주석 (45X vendor credits), 세전이익 = 순이익 + 법인세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(1)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492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45X를 빼고 계산한 PER  (주가 $84.30, 2026.10.2)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5648" y="1608327"/>
            <a:ext cx="8686800" cy="3703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1892807" y="1745487"/>
          <a:ext cx="8412480" cy="3429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754880"/>
                <a:gridCol w="1828800"/>
                <a:gridCol w="182880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EPS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7 ExtraBold"/>
                          <a:ea typeface="에스코어 드림 7 ExtraBold"/>
                        </a:rPr>
                        <a:t>PER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Trailing (보고 기준, GAAP)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$3.86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21.8배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Trailing (45X 제외)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≈ $1.88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≈ 45배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Forward (컨센서스, 조정 EPS)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$4.68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18.0배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Forward (45X 제외, 추정)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latin typeface="에스코어 드림 6 Bold"/>
                          <a:ea typeface="에스코어 드림 6 Bold"/>
                        </a:rPr>
                        <a:t>≈ $2.61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lang="ko-KR" altLang="en-US">
                          <a:solidFill>
                            <a:srgbClr val="202124"/>
                          </a:solidFill>
                          <a:highlight>
                            <a:srgbClr val="FFFF00"/>
                          </a:highlight>
                          <a:latin typeface="에스코어 드림 6 Bold"/>
                          <a:ea typeface="에스코어 드림 6 Bold"/>
                        </a:rPr>
                        <a:t>≈ 32배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TTM 45X $3.90억(세율 22%, 1.54억주) · FY27 45X ≈ 1분기×4(세율 21%, 1.58억주)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(2)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고금리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상황 지속 시 태양광 산업에 불리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Fed, 9월 16일 기준금리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인상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(3.75~4.00%, 2023년 이후 처음)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미 10년물 국채금리 4.45%(5월 말) →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5.28%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(10/2), 같은 기간 NXT </a:t>
            </a:r>
            <a:r>
              <a:rPr sz="2000" lang="ko-KR" altLang="en-US">
                <a:solidFill>
                  <a:srgbClr val="B4E5A2"/>
                </a:solidFill>
                <a:latin typeface="에스코어 드림 6 Bold"/>
                <a:ea typeface="에스코어 드림 6 Bold"/>
              </a:rPr>
              <a:t>-46%</a:t>
            </a:r>
          </a:p>
        </p:txBody>
      </p:sp>
      <p:graphicFrame>
        <p:nvGraphicFramePr>
          <p:cNvPr id="6" name="미 10년물 금리 (%, 월말)"/>
          <p:cNvGraphicFramePr>
            <a:graphicFrameLocks noGrp="1"/>
          </p:cNvGraphicFramePr>
          <p:nvPr/>
        </p:nvGraphicFramePr>
        <p:xfrm>
          <a:off x="841248" y="2319528"/>
          <a:ext cx="5120640" cy="41269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NXT 주가 ($, 월말)"/>
          <p:cNvGraphicFramePr>
            <a:graphicFrameLocks noGrp="1"/>
          </p:cNvGraphicFramePr>
          <p:nvPr/>
        </p:nvGraphicFramePr>
        <p:xfrm>
          <a:off x="6236207" y="2319528"/>
          <a:ext cx="5120640" cy="41269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FOMC 성명·CNBC (2026.9.16), Yahoo Finance (^TNX, NXT 월말 종가, 2026년)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(2)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203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왜 태양광은 금리에 약할까?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연료비가 없는 대신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초기 건설비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가 대부분 → 발전단가가 이자 비용에 좌우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자금조달 금리 6% → 8%이면 발전단가 약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+22%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(단순 계산)</a:t>
            </a:r>
          </a:p>
        </p:txBody>
      </p:sp>
      <p:graphicFrame>
        <p:nvGraphicFramePr>
          <p:cNvPr id="6" name="막대그래프"/>
          <p:cNvGraphicFramePr>
            <a:graphicFrameLocks noGrp="1"/>
          </p:cNvGraphicFramePr>
          <p:nvPr/>
        </p:nvGraphicFramePr>
        <p:xfrm>
          <a:off x="841248" y="2319528"/>
          <a:ext cx="10515600" cy="41269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자본회수계수(30년) 기준 단순 계산, 6% = 100, 운영비 제외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4417923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2456809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투자 리스크 (2)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841248" y="932688"/>
            <a:ext cx="10515600" cy="1559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고금리 → 발전사업자 수익률 ↓ → 프로젝트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지연 · 취소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- 10-Q 위험요인: 금리 상승, 택스에쿼티·프로젝트 금융 축소 시 수요 감소</a:t>
            </a:r>
          </a:p>
          <a:p>
            <a:pPr marL="256032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- 수주잔고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$55억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의 매출 전환 속도가 관건</a:t>
            </a:r>
          </a:p>
          <a:p>
            <a:pPr marL="256032" indent="-256032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넥스트파워 자체는 </a:t>
            </a:r>
            <a:r>
              <a:rPr sz="2000" lang="ko-KR" altLang="en-US">
                <a:solidFill>
                  <a:srgbClr val="FFFF00"/>
                </a:solidFill>
                <a:latin typeface="에스코어 드림 6 Bold"/>
                <a:ea typeface="에스코어 드림 6 Bold"/>
              </a:rPr>
              <a:t>무차입 · 현금 $12.1억</a:t>
            </a:r>
            <a:r>
              <a:rPr sz="2000" lang="ko-KR" altLang="en-US">
                <a:solidFill>
                  <a:srgbClr val="FFFFFF"/>
                </a:solidFill>
                <a:latin typeface="에스코어 드림 6 Bold"/>
                <a:ea typeface="에스코어 드림 6 Bold"/>
              </a:rPr>
              <a:t> → 회사보다 고객이 문제</a:t>
            </a:r>
          </a:p>
        </p:txBody>
      </p:sp>
      <p:pic>
        <p:nvPicPr>
          <p:cNvPr id="6" name="Picture 5" descr="f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875" y="2675128"/>
            <a:ext cx="5542344" cy="3771392"/>
          </a:xfrm>
          <a:prstGeom prst="rect">
            <a:avLst/>
          </a:prstGeom>
        </p:spPr>
      </p:pic>
      <p:sp>
        <p:nvSpPr>
          <p:cNvPr id="7" name="출처"/>
          <p:cNvSpPr txBox="1"/>
          <p:nvPr/>
        </p:nvSpPr>
        <p:spPr>
          <a:xfrm>
            <a:off x="5486400" y="647395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lang="ko-KR" altLang="en-US">
                <a:solidFill>
                  <a:srgbClr val="8A8A8A"/>
                </a:solidFill>
                <a:latin typeface="에스코어 드림 6 Bold"/>
                <a:ea typeface="에스코어 드림 6 Bold"/>
              </a:rPr>
              <a:t>출처: Q1 FY27 10-Q 위험요인, 주주서한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탭"/>
          <p:cNvSpPr/>
          <p:nvPr/>
        </p:nvSpPr>
        <p:spPr>
          <a:xfrm>
            <a:off x="0" y="274320"/>
            <a:ext cx="2857225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" y="274320"/>
            <a:ext cx="147648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800" lang="ko-KR" altLang="en-US">
                <a:solidFill>
                  <a:srgbClr val="E8501E"/>
                </a:solidFill>
                <a:latin typeface="에스코어 드림 7 ExtraBold"/>
                <a:ea typeface="에스코어 드림 7 ExtraBold"/>
              </a:rPr>
              <a:t>NEXTPOWER</a:t>
            </a:r>
          </a:p>
        </p:txBody>
      </p:sp>
      <p:sp>
        <p:nvSpPr>
          <p:cNvPr id="4" name="제목"/>
          <p:cNvSpPr txBox="1"/>
          <p:nvPr/>
        </p:nvSpPr>
        <p:spPr>
          <a:xfrm>
            <a:off x="1778233" y="274320"/>
            <a:ext cx="896111" cy="4297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2400" lang="ko-KR" altLang="en-US">
                <a:solidFill>
                  <a:srgbClr val="000000"/>
                </a:solidFill>
                <a:latin typeface="에스코어 드림 7 ExtraBold"/>
                <a:ea typeface="에스코어 드림 7 ExtraBold"/>
              </a:rPr>
              <a:t>정리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41248" y="914400"/>
          <a:ext cx="10515599" cy="4114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69885"/>
                <a:gridCol w="4673600"/>
                <a:gridCol w="3672114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체크 포인트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투자 포인트 (1)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중간선거 민주당 승리 시 정책 기대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11/3 선거 결과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투자 포인트 (2)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인버터 · ESS로 AI 데이터센터 진출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11/16 Capital Markets Day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투자 리스크 (1)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OBBBA · 45X 제외 PER 약 45배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세이프하버 규정, 45X 유지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투자 리스크 (2)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고금리 지속 → 태양광 수요 둔화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lang="ko-KR" altLang="en-US">
                          <a:solidFill>
                            <a:srgbClr val="000000"/>
                          </a:solidFill>
                          <a:latin typeface="에스코어 드림 7 ExtraBold"/>
                          <a:ea typeface="에스코어 드림 7 ExtraBold"/>
                        </a:rPr>
                        <a:t>12월 FOMC, 10년물 금리</a:t>
                      </a:r>
                    </a:p>
                  </a:txBody>
                  <a:tcPr marL="54864" marR="54864" marT="18288" marB="18288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넥스트파워 기업분석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