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FFFF0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$22.42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+103%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$45.60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+105%</a:t>
                    </a:r>
                  </a:p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$93.50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1분기 발표 (5/7)</c:v>
                </c:pt>
                <c:pt idx="1">
                  <c:v>2분기 발표 (8/6)</c:v>
                </c:pt>
                <c:pt idx="2">
                  <c:v>현재 (10/2)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22.42</c:v>
                </c:pt>
                <c:pt idx="1">
                  <c:v>45.6</c:v>
                </c:pt>
                <c:pt idx="2">
                  <c:v>93.5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4.22521128699243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종가</c:v>
                </c:pt>
              </c:strCache>
            </c:strRef>
          </c:tx>
          <c:spPr>
            <a:ln w="22225">
              <a:solidFill>
                <a:srgbClr val="D93025"/>
              </a:solidFill>
            </a:ln>
          </c:spPr>
          <c:marker>
            <c:symbol val="none"/>
          </c:marker>
          <c:cat>
            <c:strRef>
              <c:f>Sheet1!$A$2:$A$253</c:f>
              <c:strCache>
                <c:ptCount val="252"/>
                <c:pt idx="0">
                  <c:v>25.10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25.11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>25.12</c:v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26.01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>26.02</c:v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>26.03</c:v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>26.04</c:v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>26.05</c:v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>26.06</c:v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>26.07</c:v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/>
                </c:pt>
                <c:pt idx="208">
                  <c:v>26.08</c:v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/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>26.09</c:v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/>
                </c:pt>
                <c:pt idx="250">
                  <c:v>26.10</c:v>
                </c:pt>
                <c:pt idx="251">
                  <c:v/>
                </c:pt>
              </c:strCache>
            </c:strRef>
          </c:cat>
          <c:val>
            <c:numRef>
              <c:f>Sheet1!$B$2:$B$253</c:f>
              <c:numCache>
                <c:formatCode>General</c:formatCode>
                <c:ptCount val="252"/>
                <c:pt idx="0">
                  <c:v>12.31</c:v>
                </c:pt>
                <c:pt idx="1">
                  <c:v>12.75</c:v>
                </c:pt>
                <c:pt idx="2">
                  <c:v>12.64</c:v>
                </c:pt>
                <c:pt idx="3">
                  <c:v>11.6</c:v>
                </c:pt>
                <c:pt idx="4">
                  <c:v>12.07</c:v>
                </c:pt>
                <c:pt idx="5">
                  <c:v>11.71</c:v>
                </c:pt>
                <c:pt idx="6">
                  <c:v>11.47</c:v>
                </c:pt>
                <c:pt idx="7">
                  <c:v>11.6</c:v>
                </c:pt>
                <c:pt idx="8">
                  <c:v>11.54</c:v>
                </c:pt>
                <c:pt idx="9">
                  <c:v>11.89</c:v>
                </c:pt>
                <c:pt idx="10">
                  <c:v>12.38</c:v>
                </c:pt>
                <c:pt idx="11">
                  <c:v>11.83</c:v>
                </c:pt>
                <c:pt idx="12">
                  <c:v>13.14</c:v>
                </c:pt>
                <c:pt idx="13">
                  <c:v>13.03</c:v>
                </c:pt>
                <c:pt idx="14">
                  <c:v>12.26</c:v>
                </c:pt>
                <c:pt idx="15">
                  <c:v>13.36</c:v>
                </c:pt>
                <c:pt idx="16">
                  <c:v>13.77</c:v>
                </c:pt>
                <c:pt idx="17">
                  <c:v>13.59</c:v>
                </c:pt>
                <c:pt idx="18">
                  <c:v>13.34</c:v>
                </c:pt>
                <c:pt idx="19">
                  <c:v>12.9</c:v>
                </c:pt>
                <c:pt idx="20">
                  <c:v>12.44</c:v>
                </c:pt>
                <c:pt idx="21">
                  <c:v>13.64</c:v>
                </c:pt>
                <c:pt idx="22">
                  <c:v>13.7</c:v>
                </c:pt>
                <c:pt idx="23">
                  <c:v>13.36</c:v>
                </c:pt>
                <c:pt idx="24">
                  <c:v>13.49</c:v>
                </c:pt>
                <c:pt idx="25">
                  <c:v>13.0</c:v>
                </c:pt>
                <c:pt idx="26">
                  <c:v>15.25</c:v>
                </c:pt>
                <c:pt idx="27">
                  <c:v>17.08</c:v>
                </c:pt>
                <c:pt idx="28">
                  <c:v>16.59</c:v>
                </c:pt>
                <c:pt idx="29">
                  <c:v>16.69</c:v>
                </c:pt>
                <c:pt idx="30">
                  <c:v>16.35</c:v>
                </c:pt>
                <c:pt idx="31">
                  <c:v>15.89</c:v>
                </c:pt>
                <c:pt idx="32">
                  <c:v>15.7</c:v>
                </c:pt>
                <c:pt idx="33">
                  <c:v>15.56</c:v>
                </c:pt>
                <c:pt idx="34">
                  <c:v>15.65</c:v>
                </c:pt>
                <c:pt idx="35">
                  <c:v>16.46</c:v>
                </c:pt>
                <c:pt idx="36">
                  <c:v>18.34</c:v>
                </c:pt>
                <c:pt idx="37">
                  <c:v>20.13</c:v>
                </c:pt>
                <c:pt idx="38">
                  <c:v>19.07</c:v>
                </c:pt>
                <c:pt idx="39">
                  <c:v>18.75</c:v>
                </c:pt>
                <c:pt idx="40">
                  <c:v>18.81</c:v>
                </c:pt>
                <c:pt idx="41">
                  <c:v>18.08</c:v>
                </c:pt>
                <c:pt idx="42">
                  <c:v>17.94</c:v>
                </c:pt>
                <c:pt idx="43">
                  <c:v>17.87</c:v>
                </c:pt>
                <c:pt idx="44">
                  <c:v>18.15</c:v>
                </c:pt>
                <c:pt idx="45">
                  <c:v>17.77</c:v>
                </c:pt>
                <c:pt idx="46">
                  <c:v>17.47</c:v>
                </c:pt>
                <c:pt idx="47">
                  <c:v>17.84</c:v>
                </c:pt>
                <c:pt idx="48">
                  <c:v>17.53</c:v>
                </c:pt>
                <c:pt idx="49">
                  <c:v>16.54</c:v>
                </c:pt>
                <c:pt idx="50">
                  <c:v>15.46</c:v>
                </c:pt>
                <c:pt idx="51">
                  <c:v>15.76</c:v>
                </c:pt>
                <c:pt idx="52">
                  <c:v>15.71</c:v>
                </c:pt>
                <c:pt idx="53">
                  <c:v>15.75</c:v>
                </c:pt>
                <c:pt idx="54">
                  <c:v>16.0</c:v>
                </c:pt>
                <c:pt idx="55">
                  <c:v>16.05</c:v>
                </c:pt>
                <c:pt idx="56">
                  <c:v>16.94</c:v>
                </c:pt>
                <c:pt idx="57">
                  <c:v>16.5</c:v>
                </c:pt>
                <c:pt idx="58">
                  <c:v>16.69</c:v>
                </c:pt>
                <c:pt idx="59">
                  <c:v>16.49</c:v>
                </c:pt>
                <c:pt idx="60">
                  <c:v>16.15</c:v>
                </c:pt>
                <c:pt idx="61">
                  <c:v>16.29</c:v>
                </c:pt>
                <c:pt idx="62">
                  <c:v>16.31</c:v>
                </c:pt>
                <c:pt idx="63">
                  <c:v>16.62</c:v>
                </c:pt>
                <c:pt idx="64">
                  <c:v>18.32</c:v>
                </c:pt>
                <c:pt idx="65">
                  <c:v>19.31</c:v>
                </c:pt>
                <c:pt idx="66">
                  <c:v>19.99</c:v>
                </c:pt>
                <c:pt idx="67">
                  <c:v>19.29</c:v>
                </c:pt>
                <c:pt idx="68">
                  <c:v>20.46</c:v>
                </c:pt>
                <c:pt idx="69">
                  <c:v>19.8</c:v>
                </c:pt>
                <c:pt idx="70">
                  <c:v>20.52</c:v>
                </c:pt>
                <c:pt idx="71">
                  <c:v>20.92</c:v>
                </c:pt>
                <c:pt idx="72">
                  <c:v>21.2</c:v>
                </c:pt>
                <c:pt idx="73">
                  <c:v>20.52</c:v>
                </c:pt>
                <c:pt idx="74">
                  <c:v>22.05</c:v>
                </c:pt>
                <c:pt idx="75">
                  <c:v>22.68</c:v>
                </c:pt>
                <c:pt idx="76">
                  <c:v>23.19</c:v>
                </c:pt>
                <c:pt idx="77">
                  <c:v>22.38</c:v>
                </c:pt>
                <c:pt idx="78">
                  <c:v>22.5</c:v>
                </c:pt>
                <c:pt idx="79">
                  <c:v>21.62</c:v>
                </c:pt>
                <c:pt idx="80">
                  <c:v>21.08</c:v>
                </c:pt>
                <c:pt idx="81">
                  <c:v>20.8</c:v>
                </c:pt>
                <c:pt idx="82">
                  <c:v>20.2</c:v>
                </c:pt>
                <c:pt idx="83">
                  <c:v>19.95</c:v>
                </c:pt>
                <c:pt idx="84">
                  <c:v>19.28</c:v>
                </c:pt>
                <c:pt idx="85">
                  <c:v>19.06</c:v>
                </c:pt>
                <c:pt idx="86">
                  <c:v>17.7</c:v>
                </c:pt>
                <c:pt idx="87">
                  <c:v>18.61</c:v>
                </c:pt>
                <c:pt idx="88">
                  <c:v>18.54</c:v>
                </c:pt>
                <c:pt idx="89">
                  <c:v>19.15</c:v>
                </c:pt>
                <c:pt idx="90">
                  <c:v>19.15</c:v>
                </c:pt>
                <c:pt idx="91">
                  <c:v>17.51</c:v>
                </c:pt>
                <c:pt idx="92">
                  <c:v>18.12</c:v>
                </c:pt>
                <c:pt idx="93">
                  <c:v>18.62</c:v>
                </c:pt>
                <c:pt idx="94">
                  <c:v>19.57</c:v>
                </c:pt>
                <c:pt idx="95">
                  <c:v>19.19</c:v>
                </c:pt>
                <c:pt idx="96">
                  <c:v>18.88</c:v>
                </c:pt>
                <c:pt idx="97">
                  <c:v>18.89</c:v>
                </c:pt>
                <c:pt idx="98">
                  <c:v>19.1</c:v>
                </c:pt>
                <c:pt idx="99">
                  <c:v>19.66</c:v>
                </c:pt>
                <c:pt idx="100">
                  <c:v>22.13</c:v>
                </c:pt>
                <c:pt idx="101">
                  <c:v>23.05</c:v>
                </c:pt>
                <c:pt idx="102">
                  <c:v>23.14</c:v>
                </c:pt>
                <c:pt idx="103">
                  <c:v>22.62</c:v>
                </c:pt>
                <c:pt idx="104">
                  <c:v>22.37</c:v>
                </c:pt>
                <c:pt idx="105">
                  <c:v>21.64</c:v>
                </c:pt>
                <c:pt idx="106">
                  <c:v>20.81</c:v>
                </c:pt>
                <c:pt idx="107">
                  <c:v>20.91</c:v>
                </c:pt>
                <c:pt idx="108">
                  <c:v>20.46</c:v>
                </c:pt>
                <c:pt idx="109">
                  <c:v>20.46</c:v>
                </c:pt>
                <c:pt idx="110">
                  <c:v>18.94</c:v>
                </c:pt>
                <c:pt idx="111">
                  <c:v>18.79</c:v>
                </c:pt>
                <c:pt idx="112">
                  <c:v>16.69</c:v>
                </c:pt>
                <c:pt idx="113">
                  <c:v>18.09</c:v>
                </c:pt>
                <c:pt idx="114">
                  <c:v>17.35</c:v>
                </c:pt>
                <c:pt idx="115">
                  <c:v>18.38</c:v>
                </c:pt>
                <c:pt idx="116">
                  <c:v>18.39</c:v>
                </c:pt>
                <c:pt idx="117">
                  <c:v>19.14</c:v>
                </c:pt>
                <c:pt idx="118">
                  <c:v>19.81</c:v>
                </c:pt>
                <c:pt idx="119">
                  <c:v>20.91</c:v>
                </c:pt>
                <c:pt idx="120">
                  <c:v>20.43</c:v>
                </c:pt>
                <c:pt idx="121">
                  <c:v>19.48</c:v>
                </c:pt>
                <c:pt idx="122">
                  <c:v>19.81</c:v>
                </c:pt>
                <c:pt idx="123">
                  <c:v>21.23</c:v>
                </c:pt>
                <c:pt idx="124">
                  <c:v>22.05</c:v>
                </c:pt>
                <c:pt idx="125">
                  <c:v>22.33</c:v>
                </c:pt>
                <c:pt idx="126">
                  <c:v>21.89</c:v>
                </c:pt>
                <c:pt idx="127">
                  <c:v>21.82</c:v>
                </c:pt>
                <c:pt idx="128">
                  <c:v>23.02</c:v>
                </c:pt>
                <c:pt idx="129">
                  <c:v>23.0</c:v>
                </c:pt>
                <c:pt idx="130">
                  <c:v>23.27</c:v>
                </c:pt>
                <c:pt idx="131">
                  <c:v>23.58</c:v>
                </c:pt>
                <c:pt idx="132">
                  <c:v>24.8</c:v>
                </c:pt>
                <c:pt idx="133">
                  <c:v>25.35</c:v>
                </c:pt>
                <c:pt idx="134">
                  <c:v>25.24</c:v>
                </c:pt>
                <c:pt idx="135">
                  <c:v>26.08</c:v>
                </c:pt>
                <c:pt idx="136">
                  <c:v>24.59</c:v>
                </c:pt>
                <c:pt idx="137">
                  <c:v>22.97</c:v>
                </c:pt>
                <c:pt idx="138">
                  <c:v>22.83</c:v>
                </c:pt>
                <c:pt idx="139">
                  <c:v>21.42</c:v>
                </c:pt>
                <c:pt idx="140">
                  <c:v>22.08</c:v>
                </c:pt>
                <c:pt idx="141">
                  <c:v>22.28</c:v>
                </c:pt>
                <c:pt idx="142">
                  <c:v>21.37</c:v>
                </c:pt>
                <c:pt idx="143">
                  <c:v>20.2</c:v>
                </c:pt>
                <c:pt idx="144">
                  <c:v>22.05</c:v>
                </c:pt>
                <c:pt idx="145">
                  <c:v>22.43</c:v>
                </c:pt>
                <c:pt idx="146">
                  <c:v>21.65</c:v>
                </c:pt>
                <c:pt idx="147">
                  <c:v>22.01</c:v>
                </c:pt>
                <c:pt idx="148">
                  <c:v>22.74</c:v>
                </c:pt>
                <c:pt idx="149">
                  <c:v>22.42</c:v>
                </c:pt>
                <c:pt idx="150">
                  <c:v>21.6</c:v>
                </c:pt>
                <c:pt idx="151">
                  <c:v>20.5</c:v>
                </c:pt>
                <c:pt idx="152">
                  <c:v>20.92</c:v>
                </c:pt>
                <c:pt idx="153">
                  <c:v>21.07</c:v>
                </c:pt>
                <c:pt idx="154">
                  <c:v>21.52</c:v>
                </c:pt>
                <c:pt idx="155">
                  <c:v>21.2</c:v>
                </c:pt>
                <c:pt idx="156">
                  <c:v>21.45</c:v>
                </c:pt>
                <c:pt idx="157">
                  <c:v>22.29</c:v>
                </c:pt>
                <c:pt idx="158">
                  <c:v>23.98</c:v>
                </c:pt>
                <c:pt idx="159">
                  <c:v>24.68</c:v>
                </c:pt>
                <c:pt idx="160">
                  <c:v>23.68</c:v>
                </c:pt>
                <c:pt idx="161">
                  <c:v>24.62</c:v>
                </c:pt>
                <c:pt idx="162">
                  <c:v>25.51</c:v>
                </c:pt>
                <c:pt idx="163">
                  <c:v>27.99</c:v>
                </c:pt>
                <c:pt idx="164">
                  <c:v>28.31</c:v>
                </c:pt>
                <c:pt idx="165">
                  <c:v>29.59</c:v>
                </c:pt>
                <c:pt idx="166">
                  <c:v>30.71</c:v>
                </c:pt>
                <c:pt idx="167">
                  <c:v>32.16</c:v>
                </c:pt>
                <c:pt idx="168">
                  <c:v>33.5</c:v>
                </c:pt>
                <c:pt idx="169">
                  <c:v>31.04</c:v>
                </c:pt>
                <c:pt idx="170">
                  <c:v>29.18</c:v>
                </c:pt>
                <c:pt idx="171">
                  <c:v>30.59</c:v>
                </c:pt>
                <c:pt idx="172">
                  <c:v>29.11</c:v>
                </c:pt>
                <c:pt idx="173">
                  <c:v>29.05</c:v>
                </c:pt>
                <c:pt idx="174">
                  <c:v>28.84</c:v>
                </c:pt>
                <c:pt idx="175">
                  <c:v>32.22</c:v>
                </c:pt>
                <c:pt idx="176">
                  <c:v>31.75</c:v>
                </c:pt>
                <c:pt idx="177">
                  <c:v>32.13</c:v>
                </c:pt>
                <c:pt idx="178">
                  <c:v>34.76</c:v>
                </c:pt>
                <c:pt idx="179">
                  <c:v>32.94</c:v>
                </c:pt>
                <c:pt idx="180">
                  <c:v>31.87</c:v>
                </c:pt>
                <c:pt idx="181">
                  <c:v>34.6</c:v>
                </c:pt>
                <c:pt idx="182">
                  <c:v>35.73</c:v>
                </c:pt>
                <c:pt idx="183">
                  <c:v>36.75</c:v>
                </c:pt>
                <c:pt idx="184">
                  <c:v>37.15</c:v>
                </c:pt>
                <c:pt idx="185">
                  <c:v>38.34</c:v>
                </c:pt>
                <c:pt idx="186">
                  <c:v>39.05</c:v>
                </c:pt>
                <c:pt idx="187">
                  <c:v>39.01</c:v>
                </c:pt>
                <c:pt idx="188">
                  <c:v>40.0</c:v>
                </c:pt>
                <c:pt idx="189">
                  <c:v>37.83</c:v>
                </c:pt>
                <c:pt idx="190">
                  <c:v>37.47</c:v>
                </c:pt>
                <c:pt idx="191">
                  <c:v>43.1</c:v>
                </c:pt>
                <c:pt idx="192">
                  <c:v>42.73</c:v>
                </c:pt>
                <c:pt idx="193">
                  <c:v>41.77</c:v>
                </c:pt>
                <c:pt idx="194">
                  <c:v>45.79</c:v>
                </c:pt>
                <c:pt idx="195">
                  <c:v>45.75</c:v>
                </c:pt>
                <c:pt idx="196">
                  <c:v>44.48</c:v>
                </c:pt>
                <c:pt idx="197">
                  <c:v>43.74</c:v>
                </c:pt>
                <c:pt idx="198">
                  <c:v>43.22</c:v>
                </c:pt>
                <c:pt idx="199">
                  <c:v>47.2</c:v>
                </c:pt>
                <c:pt idx="200">
                  <c:v>47.05</c:v>
                </c:pt>
                <c:pt idx="201">
                  <c:v>48.06</c:v>
                </c:pt>
                <c:pt idx="202">
                  <c:v>46.27</c:v>
                </c:pt>
                <c:pt idx="203">
                  <c:v>45.92</c:v>
                </c:pt>
                <c:pt idx="204">
                  <c:v>47.05</c:v>
                </c:pt>
                <c:pt idx="205">
                  <c:v>46.32</c:v>
                </c:pt>
                <c:pt idx="206">
                  <c:v>49.43</c:v>
                </c:pt>
                <c:pt idx="207">
                  <c:v>47.27</c:v>
                </c:pt>
                <c:pt idx="208">
                  <c:v>47.01</c:v>
                </c:pt>
                <c:pt idx="209">
                  <c:v>47.86</c:v>
                </c:pt>
                <c:pt idx="210">
                  <c:v>47.46</c:v>
                </c:pt>
                <c:pt idx="211">
                  <c:v>45.6</c:v>
                </c:pt>
                <c:pt idx="212">
                  <c:v>52.03</c:v>
                </c:pt>
                <c:pt idx="213">
                  <c:v>58.57</c:v>
                </c:pt>
                <c:pt idx="214">
                  <c:v>58.48</c:v>
                </c:pt>
                <c:pt idx="215">
                  <c:v>57.75</c:v>
                </c:pt>
                <c:pt idx="216">
                  <c:v>58.15</c:v>
                </c:pt>
                <c:pt idx="217">
                  <c:v>56.09</c:v>
                </c:pt>
                <c:pt idx="218">
                  <c:v>57.99</c:v>
                </c:pt>
                <c:pt idx="219">
                  <c:v>55.63</c:v>
                </c:pt>
                <c:pt idx="220">
                  <c:v>62.19</c:v>
                </c:pt>
                <c:pt idx="221">
                  <c:v>63.87</c:v>
                </c:pt>
                <c:pt idx="222">
                  <c:v>65.12</c:v>
                </c:pt>
                <c:pt idx="223">
                  <c:v>63.8</c:v>
                </c:pt>
                <c:pt idx="224">
                  <c:v>64.72</c:v>
                </c:pt>
                <c:pt idx="225">
                  <c:v>64.26</c:v>
                </c:pt>
                <c:pt idx="226">
                  <c:v>64.85</c:v>
                </c:pt>
                <c:pt idx="227">
                  <c:v>61.54</c:v>
                </c:pt>
                <c:pt idx="228">
                  <c:v>62.45</c:v>
                </c:pt>
                <c:pt idx="229">
                  <c:v>59.98</c:v>
                </c:pt>
                <c:pt idx="230">
                  <c:v>61.65</c:v>
                </c:pt>
                <c:pt idx="231">
                  <c:v>63.22</c:v>
                </c:pt>
                <c:pt idx="232">
                  <c:v>62.65</c:v>
                </c:pt>
                <c:pt idx="233">
                  <c:v>65.6</c:v>
                </c:pt>
                <c:pt idx="234">
                  <c:v>67.29</c:v>
                </c:pt>
                <c:pt idx="235">
                  <c:v>66.38</c:v>
                </c:pt>
                <c:pt idx="236">
                  <c:v>68.59</c:v>
                </c:pt>
                <c:pt idx="237">
                  <c:v>70.11</c:v>
                </c:pt>
                <c:pt idx="238">
                  <c:v>74.39</c:v>
                </c:pt>
                <c:pt idx="239">
                  <c:v>72.68</c:v>
                </c:pt>
                <c:pt idx="240">
                  <c:v>76.97</c:v>
                </c:pt>
                <c:pt idx="241">
                  <c:v>76.6</c:v>
                </c:pt>
                <c:pt idx="242">
                  <c:v>79.1</c:v>
                </c:pt>
                <c:pt idx="243">
                  <c:v>80.7</c:v>
                </c:pt>
                <c:pt idx="244">
                  <c:v>75.62</c:v>
                </c:pt>
                <c:pt idx="245">
                  <c:v>84.11</c:v>
                </c:pt>
                <c:pt idx="246">
                  <c:v>85.71</c:v>
                </c:pt>
                <c:pt idx="247">
                  <c:v>88.5</c:v>
                </c:pt>
                <c:pt idx="248">
                  <c:v>90.04</c:v>
                </c:pt>
                <c:pt idx="249">
                  <c:v>90.36</c:v>
                </c:pt>
                <c:pt idx="250">
                  <c:v>88.76</c:v>
                </c:pt>
                <c:pt idx="251">
                  <c:v>93.5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ADCE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tickLblSkip val="1"/>
        <c:tickMarkSkip val="21"/>
        <c:noMultiLvlLbl val="0"/>
      </c:catAx>
      <c:valAx>
        <c:axId val="2140495176"/>
        <c:scaling>
          <c:min val="3.0"/>
        </c:scaling>
        <c:delete val="0"/>
        <c:axPos val="l"/>
        <c:majorGridlines>
          <c:spPr>
            <a:ln>
              <a:solidFill>
                <a:srgbClr val="E8EAE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70757A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특허 합의금 제외 분기 매출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Pt>
            <c:idx val="4"/>
            <c:spPr>
              <a:solidFill>
                <a:srgbClr val="FFFF0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$145.6M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$149.0M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$166.0M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$150.8M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$149.4M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2Q25</c:v>
                </c:pt>
                <c:pt idx="1">
                  <c:v>3Q25</c:v>
                </c:pt>
                <c:pt idx="2">
                  <c:v>4Q25</c:v>
                </c:pt>
                <c:pt idx="3">
                  <c:v>1Q26</c:v>
                </c:pt>
                <c:pt idx="4">
                  <c:v>2Q26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145.6</c:v>
                </c:pt>
                <c:pt idx="1">
                  <c:v>149.0</c:v>
                </c:pt>
                <c:pt idx="2">
                  <c:v>166.0</c:v>
                </c:pt>
                <c:pt idx="3">
                  <c:v>150.8</c:v>
                </c:pt>
                <c:pt idx="4">
                  <c:v>149.4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1.6451555555555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6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+6%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$85.0M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+15%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$40.0M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-19%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$26.0M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미주</c:v>
                </c:pt>
                <c:pt idx="1">
                  <c:v>유럽·중동·아프리카</c:v>
                </c:pt>
                <c:pt idx="2">
                  <c:v>아시아·태평양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85.0</c:v>
                </c:pt>
                <c:pt idx="1">
                  <c:v>40.0</c:v>
                </c:pt>
                <c:pt idx="2">
                  <c:v>26.0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48752475247527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F6C6AD"/>
              </a:solidFill>
              <a:ln>
                <a:noFill/>
              </a:ln>
            </c:spPr>
          </c:dPt>
          <c:dPt>
            <c:idx val="2"/>
            <c:spPr>
              <a:solidFill>
                <a:srgbClr val="FFFF0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$598.7M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6C6AD"/>
                        </a:solidFill>
                        <a:latin typeface="에스코어 드림 6 Bold"/>
                        <a:ea typeface="에스코어 드림 6 Bold"/>
                      </a:rPr>
                      <a:t>$600-625M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$610-630M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2025 실적 (합의금 제외)</c:v>
                </c:pt>
                <c:pt idx="1">
                  <c:v>2026 기존 가이던스</c:v>
                </c:pt>
                <c:pt idx="2">
                  <c:v>2026 새 가이던스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598.7</c:v>
                </c:pt>
                <c:pt idx="1">
                  <c:v>612.5</c:v>
                </c:pt>
                <c:pt idx="2">
                  <c:v>620.0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15.6753325554259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FFFF00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6명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1명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12명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0명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강력 매수</c:v>
                </c:pt>
                <c:pt idx="1">
                  <c:v>매수</c:v>
                </c:pt>
                <c:pt idx="2">
                  <c:v>보유</c:v>
                </c:pt>
                <c:pt idx="3">
                  <c:v>매도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</c:v>
                </c:pt>
                <c:pt idx="1">
                  <c:v>1.0</c:v>
                </c:pt>
                <c:pt idx="2">
                  <c:v>12.0</c:v>
                </c:pt>
                <c:pt idx="3">
                  <c:v>0.0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7170564714135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2026년 8월에 발표된 10x 지노믹스의</a:t>
            </a:r>
          </a:p>
          <a:p>
            <a:r>
              <a:t>2분기 실적을 정리해드리겠습니다.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3달 전 1분기 실적이 발표된 5월 7일,</a:t>
            </a:r>
          </a:p>
          <a:p>
            <a:r>
              <a:t>10x 지노믹스 주가는 22달러였습니다.</a:t>
            </a:r>
          </a:p>
          <a:p>
            <a:r>
              <a:t>2분기 실적이 나온 8월 6일에는 45달러로 두 배가 됐고</a:t>
            </a:r>
          </a:p>
          <a:p>
            <a:r>
              <a:t>지금은 93달러로 또 두 배가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2026년 10월 2일 기준</a:t>
            </a:r>
          </a:p>
          <a:p>
            <a:r>
              <a:t>주가는 93.5달러이고</a:t>
            </a:r>
          </a:p>
          <a:p>
            <a:r>
              <a:t>시가총액은 약 122억 달러입니다.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1년 전 12달러였던 주가가</a:t>
            </a:r>
          </a:p>
          <a:p>
            <a:r>
              <a:t>7배 넘게 올랐는데</a:t>
            </a:r>
          </a:p>
          <a:p>
            <a:r>
              <a:t>그 이유가 뭘까요?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2분기 매출은 1억 5,100만 달러를 기록해</a:t>
            </a:r>
          </a:p>
          <a:p>
            <a:r>
              <a:t>컨센서스 1억 4,660만 달러를 상회했습니다.</a:t>
            </a:r>
          </a:p>
          <a:p>
            <a:r>
              <a:t>희석 EPS는 마이너스 0.14달러로</a:t>
            </a:r>
          </a:p>
          <a:p>
            <a:r>
              <a:t>예상보다 적자 폭이 작았습니다.</a:t>
            </a:r>
          </a:p>
          <a:p>
            <a:r>
              <a:t>그리고 연간 매출 가이던스를</a:t>
            </a:r>
          </a:p>
          <a:p>
            <a:r>
              <a:t>6억 1천만에서 6억 3천만 달러로 올렸습니다.</a:t>
            </a:r>
          </a:p>
          <a:p>
            <a:r>
              <a:t>다만 특허 합의금을 빼면</a:t>
            </a:r>
          </a:p>
          <a:p>
            <a:r>
              <a:t>매출 성장률은 전년대비 3%에 그쳤습니다.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분기의 주인공은</a:t>
            </a:r>
          </a:p>
          <a:p>
            <a:r>
              <a:t>Atera에 대한 고객들의 폭발적인 반응이었다.</a:t>
            </a:r>
          </a:p>
          <a:p>
            <a:r>
              <a:t>10x 지노믹스의 공동창업자이자 CEO인</a:t>
            </a:r>
          </a:p>
          <a:p>
            <a:r>
              <a:t>세르게이 삭소노프가 한 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Atera는 지난 4월 미국암연구학회에서 공개된</a:t>
            </a:r>
          </a:p>
          <a:p>
            <a:r>
              <a:t>10x 지노믹스의 새로운 공간 생물학 플랫폼입니다.</a:t>
            </a:r>
          </a:p>
          <a:p>
            <a:r>
              <a:t>그리고 지난 9월 29일, 전 세계 출하를 시작했습니다.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공간 생물학은 조직 안에서</a:t>
            </a:r>
          </a:p>
          <a:p>
            <a:r>
              <a:t>어떤 세포가, 어디에서, 어떤 유전자를 쓰는지를</a:t>
            </a:r>
          </a:p>
          <a:p>
            <a:r>
              <a:t>한 번에 보는 기술입니다.</a:t>
            </a:r>
          </a:p>
          <a:p>
            <a:r>
              <a:t>그런데 기존 장비들은</a:t>
            </a:r>
          </a:p>
          <a:p>
            <a:r>
              <a:t>한꺼번에 볼 수 있는 유전자 수, 처리량, 정확도 중</a:t>
            </a:r>
          </a:p>
          <a:p>
            <a:r>
              <a:t>하나는 포기해야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Atera는 1만 8천 개가 넘는 유전자 전체를</a:t>
            </a:r>
          </a:p>
          <a:p>
            <a:r>
              <a:t>단일세포 분석과 맞먹는 민감도로 읽어냅니다.</a:t>
            </a:r>
          </a:p>
          <a:p>
            <a:r>
              <a:t>그것도 1년에 1제곱센티미터 샘플 800개를 처리할 수 있습니다.</a:t>
            </a:r>
          </a:p>
          <a:p>
            <a:r>
              <a:t>셋 중 하나를 포기할 필요가 없어진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처리량 차이는 이 정도입니다.</a:t>
            </a:r>
          </a:p>
          <a:p>
            <a:r>
              <a:t>임상시험 생검 샘플 3,000개를 1년 안에 분석하려면</a:t>
            </a:r>
          </a:p>
          <a:p>
            <a:r>
              <a:t>기존 Xenium은 장비 4대로 188번을 돌려야 하지만</a:t>
            </a:r>
          </a:p>
          <a:p>
            <a:r>
              <a:t>Atera는 1대로 42번이면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반응은 폭발적입니다.</a:t>
            </a:r>
          </a:p>
          <a:p>
            <a:r>
              <a:t>2분기 말 기준 주문이 이미</a:t>
            </a:r>
          </a:p>
          <a:p>
            <a:r>
              <a:t>올해 출하 목표 40대를 크게 넘어섰고,</a:t>
            </a:r>
          </a:p>
          <a:p>
            <a:r>
              <a:t>보도에 따르면 상위 20개 바이오제약사가 도입했고</a:t>
            </a:r>
          </a:p>
          <a:p>
            <a:r>
              <a:t>분석 대행 서비스도 100건 넘게 예약됐습니다.</a:t>
            </a:r>
          </a:p>
          <a:p>
            <a:r>
              <a:t>장비 1대가 최대로 가동되면</a:t>
            </a:r>
          </a:p>
          <a:p>
            <a:r>
              <a:t>1년에 소모품 매출이 150만에서 300만 달러로</a:t>
            </a:r>
          </a:p>
          <a:p>
            <a:r>
              <a:t>Xenium의 약 두 배라고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사업별 성과를 살펴보겠습니다.</a:t>
            </a:r>
          </a:p>
          <a:p>
            <a:r>
              <a:t>소모품 매출은 1억 3,080만 달러로</a:t>
            </a:r>
          </a:p>
          <a:p>
            <a:r>
              <a:t>전년대비 7% 성장했습니다.</a:t>
            </a:r>
          </a:p>
          <a:p>
            <a:r>
              <a:t>단일세포 소모품은 3%,</a:t>
            </a:r>
          </a:p>
          <a:p>
            <a:r>
              <a:t>공간 분석 소모품은 16% 늘었습니다.</a:t>
            </a:r>
          </a:p>
          <a:p>
            <a:r>
              <a:t>반면 장비 매출은 47%나 줄었는데</a:t>
            </a:r>
          </a:p>
          <a:p>
            <a:r>
              <a:t>고객들이 Atera를 기다리며</a:t>
            </a:r>
          </a:p>
          <a:p>
            <a:r>
              <a:t>기존 장비 구매를 미루고 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지역별로는 미주가 6%, 유럽이 15% 성장했지만</a:t>
            </a:r>
          </a:p>
          <a:p>
            <a:r>
              <a:t>아시아는 19% 줄었습니다.</a:t>
            </a:r>
          </a:p>
          <a:p>
            <a:r>
              <a:t>작년에 중국 고객들이 관세를 피하려고</a:t>
            </a:r>
          </a:p>
          <a:p>
            <a:r>
              <a:t>주문을 앞당겼던 영향입니다.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2분기에는 단백질 분석 회사인</a:t>
            </a:r>
          </a:p>
          <a:p>
            <a:r>
              <a:t>프로테인텍 지노믹스를 610만 달러에 인수했습니다.</a:t>
            </a:r>
          </a:p>
          <a:p>
            <a:r>
              <a:t>유전자뿐 아니라 단백질까지</a:t>
            </a:r>
          </a:p>
          <a:p>
            <a:r>
              <a:t>같은 세포에서 함께 볼 수 있게 됩니다.</a:t>
            </a:r>
          </a:p>
          <a:p>
            <a:r>
              <a:t>또 클리블랜드 클리닉, 로잔대학병원과</a:t>
            </a:r>
          </a:p>
          <a:p>
            <a:r>
              <a:t>암 치료 반응을 예측하는 진단 연구를 시작했습니다.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실적 발표 이후에도 좋은 소식이 이어졌습니다.</a:t>
            </a:r>
          </a:p>
          <a:p>
            <a:r>
              <a:t>9월에는 우리나라의 AI 의료 기업 루닛과 손잡고</a:t>
            </a:r>
          </a:p>
          <a:p>
            <a:r>
              <a:t>병리 이미지 AI 분석과 공간 데이터를 결합하기로 했습니다.</a:t>
            </a:r>
          </a:p>
          <a:p>
            <a:r>
              <a:t>9월 29일에는 Atera 출하가 시작됐고</a:t>
            </a:r>
          </a:p>
          <a:p>
            <a:r>
              <a:t>아거스는 목표주가 110달러로 커버리지를 시작했습니다.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손익계산서를 보겠습니다.</a:t>
            </a:r>
          </a:p>
          <a:p>
            <a:r>
              <a:t>2분기 매출은 전년대비 13% 줄었지만</a:t>
            </a:r>
          </a:p>
          <a:p>
            <a:r>
              <a:t>작년 2분기에 받은 특허 합의금을 빼면 3% 늘었습니다.</a:t>
            </a:r>
          </a:p>
          <a:p>
            <a:r>
              <a:t>매출총이익률은 74%로 좋아졌는데</a:t>
            </a:r>
          </a:p>
          <a:p>
            <a:r>
              <a:t>관세 환급과 재고 평가손실 감소 덕분입니다.</a:t>
            </a:r>
          </a:p>
          <a:p>
            <a:r>
              <a:t>영업이익과 순이익은 적자로 돌아섰는데</a:t>
            </a:r>
          </a:p>
          <a:p>
            <a:r>
              <a:t>이것도 작년에 4,070만 달러의 합의 이익이 있었던 영향입니다.</a:t>
            </a:r>
          </a:p>
          <a:p>
            <a:r>
              <a:t>합의금 효과를 빼면 영업비용은 작년과 비슷합니다.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재무상태표를 보겠습니다.</a:t>
            </a:r>
          </a:p>
          <a:p>
            <a:r>
              <a:t>현금성 자산과 유가증권이 5억 5,200만 달러로</a:t>
            </a:r>
          </a:p>
          <a:p>
            <a:r>
              <a:t>작년 말보다 2,860만 달러 늘었습니다.</a:t>
            </a:r>
          </a:p>
          <a:p>
            <a:r>
              <a:t>빌린 돈은 하나도 없고</a:t>
            </a:r>
          </a:p>
          <a:p>
            <a:r>
              <a:t>유동비율은 569%로 매우 탄탄합니다.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상반기 누적 현금흐름표를 보겠습니다.</a:t>
            </a:r>
          </a:p>
          <a:p>
            <a:r>
              <a:t>장부상으로는 3,140만 달러 적자였지만</a:t>
            </a:r>
          </a:p>
          <a:p>
            <a:r>
              <a:t>현금이 나가지 않는 주식보상비용 4,830만 달러를 더하면</a:t>
            </a:r>
          </a:p>
          <a:p>
            <a:r>
              <a:t>영업활동으로 4,310만 달러가 들어왔습니다.</a:t>
            </a:r>
          </a:p>
          <a:p>
            <a:r>
              <a:t>적자 회사지만 실제 현금은 늘고 있는 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가이던스는 어떨까요?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회사는 올해 매출 가이던스를</a:t>
            </a:r>
          </a:p>
          <a:p>
            <a:r>
              <a:t>6억 1천만에서 6억 3천만 달러로 올렸습니다.</a:t>
            </a:r>
          </a:p>
          <a:p>
            <a:r>
              <a:t>Atera 출하 목표는 약 40대로 그대로 뒀는데</a:t>
            </a:r>
          </a:p>
          <a:p>
            <a:r>
              <a:t>주문이 부족해서가 아니라</a:t>
            </a:r>
          </a:p>
          <a:p>
            <a:r>
              <a:t>생산능력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분기별로 보면,</a:t>
            </a:r>
          </a:p>
          <a:p>
            <a:r>
              <a:t>3분기 매출은 Atera를 기다리는 고객들 때문에</a:t>
            </a:r>
          </a:p>
          <a:p>
            <a:r>
              <a:t>2분기보다 200만 달러 정도 줄어든 1억 4,900만 달러 수준이 예상됩니다.</a:t>
            </a:r>
          </a:p>
          <a:p>
            <a:r>
              <a:t>그리고 4분기에는 Atera 출하가 본격화되면서</a:t>
            </a:r>
          </a:p>
          <a:p>
            <a:r>
              <a:t>연간 가이던스 중간값 기준 1억 6,900만 달러로</a:t>
            </a:r>
          </a:p>
          <a:p>
            <a:r>
              <a:t>13% 정도 뛰어오를 전망입니다.</a:t>
            </a:r>
          </a:p>
          <a:p>
            <a:r>
              <a:t>매출총이익률은 네 분기 연속 개선됐습니다.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어닝콜 후 경영진과 애널리스트 간에 Q&amp;A가 있었습니다.</a:t>
            </a:r>
          </a:p>
          <a:p>
            <a:r>
              <a:t>주요 문답을 정리해드리겠습니다.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첫번째 질문은 Atera 출하 목표가 왜 그대로냐는 것이었습니다.</a:t>
            </a:r>
          </a:p>
          <a:p>
            <a:r>
              <a:t>CEO는 수요가 아니라 생산능력이 문제라고 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두번째는 3분기 매출 감소 이유였습니다.</a:t>
            </a:r>
          </a:p>
          <a:p>
            <a:r>
              <a:t>CFO는 Atera로 넘어가는 전환기라</a:t>
            </a:r>
          </a:p>
          <a:p>
            <a:r>
              <a:t>3분기에 잠시 매출이 줄지만</a:t>
            </a:r>
          </a:p>
          <a:p>
            <a:r>
              <a:t>4분기에는 Atera 장비만으로도 크게 늘어난다고 설명했습니다.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세번째는 생산능력과 소모품 매출이었습니다.</a:t>
            </a:r>
          </a:p>
          <a:p>
            <a:r>
              <a:t>장비 한 대를 최대로 쓰면</a:t>
            </a:r>
          </a:p>
          <a:p>
            <a:r>
              <a:t>1년에 소모품 매출이 150만에서 300만 달러로</a:t>
            </a:r>
          </a:p>
          <a:p>
            <a:r>
              <a:t>Xenium의 두 배 정도라고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네번째는 단일세포 사업과 AI 수요였습니다.</a:t>
            </a:r>
          </a:p>
          <a:p>
            <a:r>
              <a:t>CEO는 신제품 Flex Apex로 넘어가는 과정이라</a:t>
            </a:r>
          </a:p>
          <a:p>
            <a:r>
              <a:t>매출이 잠시 주춤하지만 사용량은 크게 늘고 있고,</a:t>
            </a:r>
          </a:p>
          <a:p>
            <a:r>
              <a:t>그 상당 부분이 AI 연구에서 나온다고 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다섯번째는 학계 연구비 상황이었습니다.</a:t>
            </a:r>
          </a:p>
          <a:p>
            <a:r>
              <a:t>아직 돈이 실제 구매로 이어지지 않고 있고</a:t>
            </a:r>
          </a:p>
          <a:p>
            <a:r>
              <a:t>가이던스에는 개선을 반영하지 않았다고 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마지막은 Atera가 기존 제품을 잠식하는 문제였습니다.</a:t>
            </a:r>
          </a:p>
          <a:p>
            <a:r>
              <a:t>회사는 잠식이 있지만</a:t>
            </a:r>
          </a:p>
          <a:p>
            <a:r>
              <a:t>Atera 수요가 이를 충분히 메울 것이라고 자신했습니다.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목표주가는 얼마일까요?</a:t>
            </a:r>
          </a:p>
          <a:p>
            <a:r>
              <a:t>19명의 애널리스트 중 7명이 매수,</a:t>
            </a:r>
          </a:p>
          <a:p>
            <a:r>
              <a:t>12명이 보유 의견입니다.</a:t>
            </a:r>
          </a:p>
          <a:p>
            <a:r>
              <a:t>평균 목표주가는 58.8달러로</a:t>
            </a:r>
          </a:p>
          <a:p>
            <a:r>
              <a:t>현재 주가보다 37%나 낮습니다.</a:t>
            </a:r>
          </a:p>
          <a:p>
            <a:r>
              <a:t>주가가 애널리스트 전망보다 훨씬 빠르게 오른 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실적 발표 후 여러 증권사가 목표가를 올렸습니다.</a:t>
            </a:r>
          </a:p>
          <a:p>
            <a:r>
              <a:t>특히 아거스는 9월 말 매수 의견과 함께</a:t>
            </a:r>
          </a:p>
          <a:p>
            <a:r>
              <a:t>목표주가 110달러로 커버리지를 시작했습니다.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밸류에이션을 보겠습니다.</a:t>
            </a:r>
          </a:p>
          <a:p>
            <a:r>
              <a:t>아직 적자라 PER은 의미가 없고</a:t>
            </a:r>
          </a:p>
          <a:p>
            <a:r>
              <a:t>매출 대비로 보면 PSR이 약 20배,</a:t>
            </a:r>
          </a:p>
          <a:p>
            <a:r>
              <a:t>PBR은 약 15배입니다.</a:t>
            </a:r>
          </a:p>
          <a:p>
            <a:r>
              <a:t>Atera에 대한 기대가 주가에 상당히 반영되어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총정리를 해보겠습니다.</a:t>
            </a:r>
          </a:p>
          <a:p>
            <a:r>
              <a:t>2분기 실적은 매출과 EPS 모두</a:t>
            </a:r>
          </a:p>
          <a:p>
            <a:r>
              <a:t>컨센서스를 넘은 어닝 서프라이즈였고</a:t>
            </a:r>
          </a:p>
          <a:p>
            <a:r>
              <a:t>연간 가이던스도 올렸습니다.</a:t>
            </a:r>
          </a:p>
          <a:p>
            <a:r>
              <a:t>다만 특허 합의금을 빼면</a:t>
            </a:r>
          </a:p>
          <a:p>
            <a:r>
              <a:t>매출 성장률은 3%로 아직 높지 않습니다.</a:t>
            </a:r>
          </a:p>
          <a:p>
            <a:r>
              <a:t>재무구조는 빚 없이 현금이 5억 5천만 달러가 넘어 탄탄합니다.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성장동력은 단연 Atera입니다.</a:t>
            </a:r>
          </a:p>
          <a:p>
            <a:r>
              <a:t>4분기부터 본격적으로 매출에 잡히기 시작하고</a:t>
            </a:r>
          </a:p>
          <a:p>
            <a:r>
              <a:t>장비가 깔릴수록 소모품 매출이 쌓이는 구조입니다.</a:t>
            </a:r>
          </a:p>
          <a:p>
            <a:r>
              <a:t>여기에 단일세포 신제품 전환이 마무리되고</a:t>
            </a:r>
          </a:p>
          <a:p>
            <a:r>
              <a:t>AI용 생물학 데이터 수요까지 더해질 전망입니다.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실적 리뷰에서</a:t>
            </a:r>
          </a:p>
          <a:p>
            <a:r>
              <a:t>가장 인상 깊었던 것은</a:t>
            </a:r>
          </a:p>
          <a:p>
            <a:r>
              <a:t>출시 다섯 달 만에 연간 출하 목표를 훌쩍 넘긴</a:t>
            </a:r>
          </a:p>
          <a:p>
            <a:r>
              <a:t>Atera 주문이었습니다.</a:t>
            </a:r>
          </a:p>
          <a:p>
            <a:r>
              <a:t>앞으로는 회사가 생산능력을 얼마나 빨리 늘리는지,</a:t>
            </a:r>
          </a:p>
          <a:p>
            <a:r>
              <a:t>그리고 3분기 전환기를 어떻게 넘기는지 지켜봐야 합니다.</a:t>
            </a:r>
          </a:p>
          <a:p>
            <a:r>
              <a:t>리스크도 있습니다.</a:t>
            </a:r>
          </a:p>
          <a:p>
            <a:r>
              <a:t>기존 제품 판매가 줄고 있고,</a:t>
            </a:r>
          </a:p>
          <a:p>
            <a:r>
              <a:t>학계 연구비 환경도 아직 불안하며,</a:t>
            </a:r>
          </a:p>
          <a:p>
            <a:r>
              <a:t>지난 8월에는 Xenium을 대상으로 한 특허 소송도 제기됐습니다.</a:t>
            </a:r>
          </a:p>
          <a:p>
            <a:r>
              <a:t>무엇보다 주가가 애널리스트 평균 목표가보다</a:t>
            </a:r>
          </a:p>
          <a:p>
            <a:r>
              <a:t>37%나 높다는 점은 꼭 기억해야 합니다.</a:t>
            </a:r>
          </a:p>
          <a:p>
            <a:r>
              <a:t>현명한 투자하시길 바라겠습니다.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 10x 지노믹스의 2026 회계연도</a:t>
            </a:r>
          </a:p>
          <a:p>
            <a:r>
              <a:t>2분기 실적 리뷰를 마치겠습니다.</a:t>
            </a:r>
          </a:p>
          <a:p>
            <a:r>
              <a:t>영상이 도움되셨다면 구독, 좋아요, 댓글 꼭 부탁드립니다.</a:t>
            </a:r>
          </a:p>
          <a:p>
            <a:r>
              <a:t>큰 힘이 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2E7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배경" descr="p-006-029.jpg"/>
          <p:cNvPicPr>
            <a:picLocks noChangeAspect="1"/>
          </p:cNvPicPr>
          <p:nvPr/>
        </p:nvPicPr>
        <p:blipFill>
          <a:blip r:embed="rId2"/>
          <a:srcRect l="590" r="59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어둡게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제목"/>
          <p:cNvSpPr txBox="1"/>
          <p:nvPr/>
        </p:nvSpPr>
        <p:spPr>
          <a:xfrm>
            <a:off x="914400" y="411480"/>
            <a:ext cx="10607040" cy="5943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1000" lang="ko-KR" altLang="en-US">
                <a:solidFill>
                  <a:srgbClr val="FFFF00"/>
                </a:solidFill>
                <a:effectLst>
                  <a:glow rad="127000">
                    <a:srgbClr val="000000"/>
                  </a:glow>
                </a:effectLst>
                <a:latin typeface="여기어때 잘난체 고딕"/>
                <a:ea typeface="여기어때 잘난체 고딕"/>
              </a:rPr>
              <a:t>10x 지노믹스</a:t>
            </a:r>
          </a:p>
          <a:p>
            <a:pPr>
              <a:spcBef>
                <a:spcPts val="3850"/>
              </a:spcBef>
            </a:pPr>
            <a:r>
              <a:rPr sz="12000" lang="ko-KR" altLang="en-US">
                <a:solidFill>
                  <a:srgbClr val="FFFF00"/>
                </a:solidFill>
                <a:effectLst>
                  <a:glow rad="127000">
                    <a:srgbClr val="000000"/>
                  </a:glow>
                </a:effectLst>
                <a:latin typeface="여기어때 잘난체 고딕"/>
                <a:ea typeface="여기어때 잘난체 고딕"/>
              </a:rPr>
              <a:t>$110</a:t>
            </a:r>
            <a:r>
              <a:rPr sz="8400" lang="ko-KR" altLang="en-US">
                <a:solidFill>
                  <a:srgbClr val="FFFFFF"/>
                </a:solidFill>
                <a:effectLst>
                  <a:glow rad="127000">
                    <a:srgbClr val="000000"/>
                  </a:glow>
                </a:effectLst>
                <a:latin typeface="여기어때 잘난체 고딕"/>
                <a:ea typeface="여기어때 잘난체 고딕"/>
              </a:rPr>
              <a:t> 간다?</a:t>
            </a:r>
          </a:p>
        </p:txBody>
      </p:sp>
      <p:pic>
        <p:nvPicPr>
          <p:cNvPr id="5" name="작은 로고" descr="logo_wi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6473749"/>
            <a:ext cx="822959" cy="155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29219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2326233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지난 분기 이후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1분기 실적 발표일 (2026.05.07) 주가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$22.42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→  현재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$93.50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4.2배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1608327"/>
          <a:ext cx="10515600" cy="48381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Yahoo Finance 종가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57713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61117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주가 흐름</a:t>
            </a:r>
          </a:p>
        </p:txBody>
      </p:sp>
      <p:sp>
        <p:nvSpPr>
          <p:cNvPr id="5" name="주가 카드"/>
          <p:cNvSpPr/>
          <p:nvPr/>
        </p:nvSpPr>
        <p:spPr>
          <a:xfrm>
            <a:off x="841248" y="914400"/>
            <a:ext cx="1051560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0515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10x Genomics, Inc. (TXG) · NasdaqGS</a:t>
            </a:r>
          </a:p>
          <a:p>
            <a:r>
              <a:rPr sz="2600" lang="ko-KR" altLang="en-US">
                <a:solidFill>
                  <a:srgbClr val="202124"/>
                </a:solidFill>
                <a:latin typeface="에스코어 드림 7 ExtraBold"/>
                <a:ea typeface="에스코어 드림 7 ExtraBold"/>
              </a:rPr>
              <a:t>93.50 USD</a:t>
            </a:r>
          </a:p>
          <a:p>
            <a:r>
              <a:rPr sz="1300" lang="ko-KR" altLang="en-US">
                <a:solidFill>
                  <a:srgbClr val="D93025"/>
                </a:solidFill>
                <a:latin typeface="에스코어 드림 6 Bold"/>
                <a:ea typeface="에스코어 드림 6 Bold"/>
              </a:rPr>
              <a:t>+81.19 (+659.5%) 1년 · 2026-10-02 종가</a:t>
            </a:r>
          </a:p>
        </p:txBody>
      </p:sp>
      <p:graphicFrame>
        <p:nvGraphicFramePr>
          <p:cNvPr id="7" name="주가 그래프"/>
          <p:cNvGraphicFramePr>
            <a:graphicFrameLocks noGrp="1"/>
          </p:cNvGraphicFramePr>
          <p:nvPr/>
        </p:nvGraphicFramePr>
        <p:xfrm>
          <a:off x="932688" y="2148840"/>
          <a:ext cx="10332720" cy="348386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69848" y="5724144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시가총액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$122억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2647" y="5724144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P/E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적자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5448" y="5724144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배당수익률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52주 최고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95.16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647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52주 최저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11.16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5448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발행주식수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1.3억주</a:t>
            </a:r>
          </a:p>
        </p:txBody>
      </p:sp>
      <p:sp>
        <p:nvSpPr>
          <p:cNvPr id="14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Yahoo Finance, 10-Q 표지 발행주식수</a:t>
            </a:r>
          </a:p>
        </p:txBody>
      </p:sp>
      <p:sp>
        <p:nvSpPr>
          <p:cNvPr id="15" name="기준일"/>
          <p:cNvSpPr txBox="1"/>
          <p:nvPr/>
        </p:nvSpPr>
        <p:spPr>
          <a:xfrm>
            <a:off x="9052560" y="320040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lang="ko-KR" altLang="en-US">
                <a:solidFill>
                  <a:srgbClr val="FFFFFF"/>
                </a:solidFill>
                <a:latin typeface="에스코어 드림 4 Regular"/>
                <a:ea typeface="에스코어 드림 4 Regular"/>
              </a:rPr>
              <a:t>(2026-10-02)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전면 사진" descr="atera_p1.png"/>
          <p:cNvPicPr>
            <a:picLocks noChangeAspect="1"/>
          </p:cNvPicPr>
          <p:nvPr/>
        </p:nvPicPr>
        <p:blipFill>
          <a:blip r:embed="rId2"/>
          <a:srcRect l="13" r="1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72123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2755270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2026-2분기 실적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$151.0M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                 (컨센서스 $146.6M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상회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희석 EPS: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-$0.14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                (컨센서스 -$0.23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상회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연간 매출 가이던스: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$610-630M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 (기존 $600-625M에서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상향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  <p:graphicFrame>
        <p:nvGraphicFramePr>
          <p:cNvPr id="6" name="특허 합의금 제외 분기 매출"/>
          <p:cNvGraphicFramePr>
            <a:graphicFrameLocks noGrp="1"/>
          </p:cNvGraphicFramePr>
          <p:nvPr/>
        </p:nvGraphicFramePr>
        <p:xfrm>
          <a:off x="841248" y="2319528"/>
          <a:ext cx="10515600" cy="41269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10x Genomics 2분기 실적발표·10-Q, 컨센서스: Investing.com·Zacks 보도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인물 사진" descr="p-004-021.jpg"/>
          <p:cNvPicPr>
            <a:picLocks noChangeAspect="1"/>
          </p:cNvPicPr>
          <p:nvPr/>
        </p:nvPicPr>
        <p:blipFill>
          <a:blip r:embed="rId2"/>
          <a:srcRect l="5404" r="5404"/>
          <a:stretch>
            <a:fillRect/>
          </a:stretch>
        </p:blipFill>
        <p:spPr>
          <a:xfrm>
            <a:off x="7436815" y="0"/>
            <a:ext cx="4754880" cy="6858000"/>
          </a:xfrm>
          <a:prstGeom prst="rect">
            <a:avLst/>
          </a:prstGeom>
        </p:spPr>
      </p:pic>
      <p:sp>
        <p:nvSpPr>
          <p:cNvPr id="3" name="인용문"/>
          <p:cNvSpPr txBox="1"/>
          <p:nvPr/>
        </p:nvSpPr>
        <p:spPr>
          <a:xfrm>
            <a:off x="1005840" y="822960"/>
            <a:ext cx="5852160" cy="4937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lnSpc>
                <a:spcPct val="105000"/>
              </a:lnSpc>
            </a:pPr>
            <a:r>
              <a:rPr sz="2700" lang="ko-KR" altLang="en-US">
                <a:solidFill>
                  <a:srgbClr val="FFFFFF"/>
                </a:solidFill>
                <a:effectLst>
                  <a:glow rad="76200">
                    <a:srgbClr val="000000"/>
                  </a:glow>
                </a:effectLst>
                <a:latin typeface="에스코어 드림 6 Bold"/>
                <a:ea typeface="에스코어 드림 6 Bold"/>
              </a:rPr>
              <a:t>“ 이번 분기의 주인공은</a:t>
            </a:r>
          </a:p>
          <a:p>
            <a:pPr>
              <a:lnSpc>
                <a:spcPct val="105000"/>
              </a:lnSpc>
            </a:pPr>
            <a:r>
              <a:rPr sz="2700" lang="ko-KR" altLang="en-US">
                <a:solidFill>
                  <a:srgbClr val="FFFFFF"/>
                </a:solidFill>
                <a:effectLst>
                  <a:glow rad="76200">
                    <a:srgbClr val="000000"/>
                  </a:glow>
                </a:effectLst>
                <a:latin typeface="에스코어 드림 6 Bold"/>
                <a:ea typeface="에스코어 드림 6 Bold"/>
              </a:rPr>
              <a:t>   </a:t>
            </a:r>
            <a:r>
              <a:rPr sz="3240" lang="ko-KR" altLang="en-US">
                <a:solidFill>
                  <a:srgbClr val="FFFF00"/>
                </a:solidFill>
                <a:effectLst>
                  <a:glow rad="76200">
                    <a:srgbClr val="000000"/>
                  </a:glow>
                </a:effectLst>
                <a:latin typeface="에스코어 드림 6 Bold"/>
                <a:ea typeface="에스코어 드림 6 Bold"/>
              </a:rPr>
              <a:t>Atera</a:t>
            </a:r>
            <a:r>
              <a:rPr sz="2700" lang="ko-KR" altLang="en-US">
                <a:solidFill>
                  <a:srgbClr val="FFFFFF"/>
                </a:solidFill>
                <a:effectLst>
                  <a:glow rad="76200">
                    <a:srgbClr val="000000"/>
                  </a:glow>
                </a:effectLst>
                <a:latin typeface="에스코어 드림 6 Bold"/>
                <a:ea typeface="에스코어 드림 6 Bold"/>
              </a:rPr>
              <a:t>에 대한</a:t>
            </a:r>
          </a:p>
          <a:p>
            <a:pPr>
              <a:lnSpc>
                <a:spcPct val="105000"/>
              </a:lnSpc>
            </a:pPr>
            <a:r>
              <a:rPr sz="2700" lang="ko-KR" altLang="en-US">
                <a:solidFill>
                  <a:srgbClr val="FFFFFF"/>
                </a:solidFill>
                <a:effectLst>
                  <a:glow rad="76200">
                    <a:srgbClr val="000000"/>
                  </a:glow>
                </a:effectLst>
                <a:latin typeface="에스코어 드림 6 Bold"/>
                <a:ea typeface="에스코어 드림 6 Bold"/>
              </a:rPr>
              <a:t>   고객들의 폭발적인 반응이었다. ”</a:t>
            </a:r>
          </a:p>
          <a:p>
            <a:pPr>
              <a:spcBef>
                <a:spcPts val="1800"/>
              </a:spcBef>
            </a:pPr>
            <a:r>
              <a:rPr sz="1800" lang="ko-KR" altLang="en-US">
                <a:solidFill>
                  <a:srgbClr val="BFBFBF"/>
                </a:solidFill>
                <a:effectLst>
                  <a:glow rad="76200">
                    <a:srgbClr val="000000"/>
                  </a:glow>
                </a:effectLst>
                <a:latin typeface="에스코어 드림 4 Regular"/>
                <a:ea typeface="에스코어 드림 4 Regular"/>
              </a:rPr>
              <a:t>— Serge Saxonov, 10x Genomics CEO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14187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17591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Atera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2026년 4월 18일 공개 (AACR 2026),  9월 29일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글로벌 출하 시작</a:t>
            </a:r>
          </a:p>
        </p:txBody>
      </p:sp>
      <p:pic>
        <p:nvPicPr>
          <p:cNvPr id="6" name="Picture 5" descr="atera_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455" y="1608327"/>
            <a:ext cx="8603185" cy="48381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10x Genomics Atera 보충자료 (2026.4)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14187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17591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Atera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기존 공간 분석 장비:  분석 범위 · 처리량 · 정확도 중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하나는 포기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해야 했음</a:t>
            </a:r>
          </a:p>
        </p:txBody>
      </p:sp>
      <p:pic>
        <p:nvPicPr>
          <p:cNvPr id="6" name="Picture 5" descr="atera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455" y="1608327"/>
            <a:ext cx="8603185" cy="48381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10x Genomics Atera 보충자료 (2026.4)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14187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17591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Atera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전체 전사체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(18,000개+ 유전자)를 단일세포 수준 민감도로,  연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800개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샘플 처리</a:t>
            </a:r>
          </a:p>
        </p:txBody>
      </p:sp>
      <p:pic>
        <p:nvPicPr>
          <p:cNvPr id="6" name="Picture 5" descr="atera_p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455" y="1608327"/>
            <a:ext cx="8603185" cy="48381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10x Genomics Atera 보충자료 (2026.4)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14187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17591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Atera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임상시험 생검 3,000개 분석:  Xenium 장비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4대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· 188회  →  Atera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1대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· 42회</a:t>
            </a:r>
          </a:p>
        </p:txBody>
      </p:sp>
      <p:pic>
        <p:nvPicPr>
          <p:cNvPr id="6" name="Picture 5" descr="atera_p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455" y="1608327"/>
            <a:ext cx="8603185" cy="48381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10x Genomics Atera 보충자료 (2026.4)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14187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17591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Atera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수주:  2분기 말 이미 연간 출하 목표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40대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를 크게 상회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상위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20개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바이오제약사가 도입  (보도 기준)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분석 대행 서비스(Catalyst):  프로젝트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100건+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예약  (보도 기준)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장비 1대당 최대 소모품 매출:  연 $150만~300만  (Xenium의 약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2배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  <p:pic>
        <p:nvPicPr>
          <p:cNvPr id="6" name="Picture 5" descr="p-006-0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739" y="2675128"/>
            <a:ext cx="6784617" cy="37713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2분기 어닝콜, 출하 개시 관련 언론 보도 (2026.9, 회사 원문 미확인)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34302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337706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2026-2분기 사업성과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626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소모품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:  $130.8M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+7%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단일세포(Chromium):  $88.5M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+3%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 반응 건수는 두 자릿수 증가)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공간(Xenium·Visium):  $42.3M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+16%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장비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:  $7.7M  (YoY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-47%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Atera 출시를 기다리며 기존 장비 구매를 미루는 중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서비스:  $10.7M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+26%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라이선스·로열티:  $1.9M  (YoY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-93%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 작년 Bruker 합의금 $27.3M 기저효과)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2026-2분기 10-Q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34302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337706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2026-2분기 사업성과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지역별 매출 (합의금 제외, YoY):  미주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+6%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· 유럽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+15%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· 아시아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-19%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중국:  작년 관세 대비 선구매(약 $4M) 기저효과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1963928"/>
          <a:ext cx="10515600" cy="44825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2026-2분기 10-Q, 어닝콜 (막대: 매출, 노란 숫자: 합의금 제외 YoY)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34302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337706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2026-2분기 사업성과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Proteintech Genomics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인수 ($6.1M, 2026.6)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단일세포·공간 플랫폼에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단백질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분석 추가 → 업계 최대 단일세포 단백질 패널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진단 연구 협력: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Cleveland Clinic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로잔대학병원 (항암 치료 반응 바이오마커)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Takara와 특허 소송 합의 (라이선스 매출 $1.6M + 합의 이익 $3.4M)</a:t>
            </a:r>
          </a:p>
        </p:txBody>
      </p:sp>
      <p:pic>
        <p:nvPicPr>
          <p:cNvPr id="6" name="Picture 5" descr="atera_p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937" y="2675128"/>
            <a:ext cx="6706220" cy="37713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2분기 실적발표, 10-Q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29219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2326233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분기 이후 뉴스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국내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루닛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과 협업 (2026.9):  AI 병리 분석 + Xenium·Atera 공간 데이터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항체약물접합체(ADC)·면역항암제 반응 예측 연구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Atera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글로벌 출하 시작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(2026.9.29)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Argus, 커버리지 개시:  매수, 목표가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$110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(2026.9.25)</a:t>
            </a:r>
          </a:p>
        </p:txBody>
      </p:sp>
      <p:pic>
        <p:nvPicPr>
          <p:cNvPr id="6" name="Picture 5" descr="atera_p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937" y="2675128"/>
            <a:ext cx="6706220" cy="37713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서울경제 (2026.9.11), 10x Genomics 보도자료, Investing.com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65391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368795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2026-2분기 손익계산서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6400800" cy="3337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$151.0M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-13%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합의금 제외:  $149.4M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+3%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매출총이익: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$112.5M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-10%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매출총이익률: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74%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+2%p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합의금 제외 시:  67% → 74%  (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+7%p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영업이익: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-$19.6M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(1년 전 +$30.1M)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R&amp;D $56.8M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-7%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 판관비 $78.7M (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+6%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당기순이익: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-$17.9M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(1년 전 +$34.5M)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희석 EPS: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-$0.14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(1년 전 $0.28)</a:t>
            </a:r>
          </a:p>
        </p:txBody>
      </p:sp>
      <p:sp>
        <p:nvSpPr>
          <p:cNvPr id="6" name="Rectangle 5"/>
          <p:cNvSpPr/>
          <p:nvPr/>
        </p:nvSpPr>
        <p:spPr>
          <a:xfrm>
            <a:off x="7516368" y="914400"/>
            <a:ext cx="4218127" cy="30975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653528" y="1051560"/>
          <a:ext cx="3943805" cy="282321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71903"/>
                <a:gridCol w="985951"/>
                <a:gridCol w="985951"/>
              </a:tblGrid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(단위: 백만 달러)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2Q25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2Q26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Revenue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172.9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151.0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License and royalty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27.8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1.9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Gross profit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125.1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112.5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Research and development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61.2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56.8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Gain on settlement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(40.7)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(3.4)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Income (loss) from operations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30.1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(19.6)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Net income (loss)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34.5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(17.9)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Diluted EPS ($)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0.28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(0.14)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2026-2분기 10-Q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65391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368795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2026-2분기 재무상태표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6400800" cy="2626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총자산: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$1,030M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(작년 말 대비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-1%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현금성자산 + 유가증권: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$552M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+$28.6M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기타 미수금:  $35.5M → $3.1M  (합의금 회수)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총부채: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$204.5M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-17%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),  차입금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0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총자본: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$825.5M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+4%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유동비율 =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569%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(작년 말 446%)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부채비율 =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25%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(작년 말 31%)</a:t>
            </a:r>
          </a:p>
        </p:txBody>
      </p:sp>
      <p:sp>
        <p:nvSpPr>
          <p:cNvPr id="6" name="Rectangle 5"/>
          <p:cNvSpPr/>
          <p:nvPr/>
        </p:nvSpPr>
        <p:spPr>
          <a:xfrm>
            <a:off x="7516368" y="914400"/>
            <a:ext cx="4218127" cy="30975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653528" y="1051560"/>
          <a:ext cx="3943805" cy="282321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71903"/>
                <a:gridCol w="985951"/>
                <a:gridCol w="985951"/>
              </a:tblGrid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(단위: 백만 달러)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2025.12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2026.6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Cash and cash equivalents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474.0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502.5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Marketable securities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49.4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49.5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Other receivables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35.5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3.1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Total current assets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684.5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674.7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Total assets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1,041.4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1,030.1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Total current liabilities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153.5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118.5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Total liabilities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245.0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204.5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Total stockholders' equity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796.3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825.5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2026-2분기 10-Q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65391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368795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2026-2분기 현금흐름표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6400800" cy="2981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(상반기 누적)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영업활동 현금흐름: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+$43.1M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(1년 전 +$52.1M)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순손실 -$31.4M,  주식보상 +$48.3M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투자활동 현금흐름:  -$9.0M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Proteintech 인수 $6.1M,  설비투자 $3.2M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재무활동 현금흐름:  -$5.4M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Scale Bio 인수 대가 지급 $8.7M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기말 현금: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$502.5M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+$28.5M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7516368" y="914400"/>
            <a:ext cx="4218127" cy="2783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653528" y="1051560"/>
          <a:ext cx="3943805" cy="2509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71903"/>
                <a:gridCol w="985951"/>
                <a:gridCol w="985951"/>
              </a:tblGrid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(상반기, 백만 달러)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2025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2026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Net income (loss)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0.2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(31.4)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Stock-based compensation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58.6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48.3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Operating activities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52.1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43.1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Purchases of PP&amp;E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(3.5)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(3.2)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Investing activities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(2.8)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(9.0)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Financing activities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3.9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(5.4)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 wrap="square"/>
                    <a:lstStyle/>
                    <a:p>
                      <a:pPr algn="l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Net change in cash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53.6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28.5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2026-2분기 10-Q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전면 사진" descr="atera_p6.png"/>
          <p:cNvPicPr>
            <a:picLocks noChangeAspect="1"/>
          </p:cNvPicPr>
          <p:nvPr/>
        </p:nvPicPr>
        <p:blipFill>
          <a:blip r:embed="rId2"/>
          <a:srcRect l="13" r="1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112959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314699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 가이던스 상향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2026 매출: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$610-630M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(기존 $600-625M)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합의금 제외 시 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+2~5%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Atera 출하:  약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40대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유지  (주문은 이미 크게 상회, 생산능력이 관건)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2319528"/>
          <a:ext cx="10515600" cy="41269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10x Genomics 2025년 4분기·2026년 1·2분기 실적발표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42385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3457895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 하반기 가이던스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051560"/>
            <a:ext cx="457200" cy="155448"/>
          </a:xfrm>
          <a:prstGeom prst="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19072" y="1051560"/>
            <a:ext cx="457200" cy="155448"/>
          </a:xfrm>
          <a:prstGeom prst="rect">
            <a:avLst/>
          </a:prstGeom>
          <a:solidFill>
            <a:srgbClr val="F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9424" y="960120"/>
            <a:ext cx="649224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매출</a:t>
            </a:r>
          </a:p>
        </p:txBody>
      </p:sp>
      <p:sp>
        <p:nvSpPr>
          <p:cNvPr id="8" name="Oval 7"/>
          <p:cNvSpPr/>
          <p:nvPr/>
        </p:nvSpPr>
        <p:spPr>
          <a:xfrm>
            <a:off x="3218688" y="1051560"/>
            <a:ext cx="164592" cy="16459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960120"/>
            <a:ext cx="158191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800" lang="ko-KR" altLang="en-US">
                <a:solidFill>
                  <a:srgbClr val="FF0000"/>
                </a:solidFill>
                <a:latin typeface="에스코어 드림 6 Bold"/>
                <a:ea typeface="에스코어 드림 6 Bold"/>
              </a:rPr>
              <a:t>매출총이익률</a:t>
            </a:r>
          </a:p>
        </p:txBody>
      </p:sp>
      <p:sp>
        <p:nvSpPr>
          <p:cNvPr id="10" name="Oval 9"/>
          <p:cNvSpPr/>
          <p:nvPr/>
        </p:nvSpPr>
        <p:spPr>
          <a:xfrm>
            <a:off x="5349240" y="1051560"/>
            <a:ext cx="164592" cy="164592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960120"/>
            <a:ext cx="1866381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8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GAAP 희석 EPS</a:t>
            </a:r>
          </a:p>
        </p:txBody>
      </p:sp>
      <p:sp>
        <p:nvSpPr>
          <p:cNvPr id="12" name="막대 25-3Q"/>
          <p:cNvSpPr/>
          <p:nvPr/>
        </p:nvSpPr>
        <p:spPr>
          <a:xfrm>
            <a:off x="1554099" y="2745364"/>
            <a:ext cx="747522" cy="2741035"/>
          </a:xfrm>
          <a:prstGeom prst="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361316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$149M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522976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25-3Q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09956"/>
            <a:ext cx="166116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FF0000"/>
                </a:solidFill>
                <a:latin typeface="에스코어 드림 6 Bold"/>
                <a:ea typeface="에스코어 드림 6 Bold"/>
              </a:rPr>
              <a:t>67%</a:t>
            </a:r>
          </a:p>
        </p:txBody>
      </p:sp>
      <p:sp>
        <p:nvSpPr>
          <p:cNvPr id="16" name="Oval 15"/>
          <p:cNvSpPr/>
          <p:nvPr/>
        </p:nvSpPr>
        <p:spPr>
          <a:xfrm>
            <a:off x="1831848" y="3239140"/>
            <a:ext cx="192024" cy="192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40991" y="3513460"/>
            <a:ext cx="173736" cy="15544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96340"/>
            <a:ext cx="1661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-$0.22</a:t>
            </a:r>
          </a:p>
        </p:txBody>
      </p:sp>
      <p:sp>
        <p:nvSpPr>
          <p:cNvPr id="19" name="막대 25-4Q"/>
          <p:cNvSpPr/>
          <p:nvPr/>
        </p:nvSpPr>
        <p:spPr>
          <a:xfrm>
            <a:off x="3215259" y="2432628"/>
            <a:ext cx="747522" cy="3053771"/>
          </a:xfrm>
          <a:prstGeom prst="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8440" y="2048580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$166M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8440" y="5522976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25-4Q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8440" y="2597220"/>
            <a:ext cx="166116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FF0000"/>
                </a:solidFill>
                <a:latin typeface="에스코어 드림 6 Bold"/>
                <a:ea typeface="에스코어 드림 6 Bold"/>
              </a:rPr>
              <a:t>68%</a:t>
            </a:r>
          </a:p>
        </p:txBody>
      </p:sp>
      <p:sp>
        <p:nvSpPr>
          <p:cNvPr id="23" name="Oval 22"/>
          <p:cNvSpPr/>
          <p:nvPr/>
        </p:nvSpPr>
        <p:spPr>
          <a:xfrm>
            <a:off x="3493008" y="2926404"/>
            <a:ext cx="192024" cy="192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02151" y="3200724"/>
            <a:ext cx="173736" cy="15544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58440" y="3383604"/>
            <a:ext cx="1661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-$0.13</a:t>
            </a:r>
          </a:p>
        </p:txBody>
      </p:sp>
      <p:sp>
        <p:nvSpPr>
          <p:cNvPr id="26" name="막대 26-1Q"/>
          <p:cNvSpPr/>
          <p:nvPr/>
        </p:nvSpPr>
        <p:spPr>
          <a:xfrm>
            <a:off x="4876419" y="2712251"/>
            <a:ext cx="747522" cy="2774148"/>
          </a:xfrm>
          <a:prstGeom prst="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2328203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$151M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9600" y="5522976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26-1Q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2876843"/>
            <a:ext cx="166116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FF0000"/>
                </a:solidFill>
                <a:latin typeface="에스코어 드림 6 Bold"/>
                <a:ea typeface="에스코어 드림 6 Bold"/>
              </a:rPr>
              <a:t>70%</a:t>
            </a:r>
          </a:p>
        </p:txBody>
      </p:sp>
      <p:sp>
        <p:nvSpPr>
          <p:cNvPr id="30" name="Oval 29"/>
          <p:cNvSpPr/>
          <p:nvPr/>
        </p:nvSpPr>
        <p:spPr>
          <a:xfrm>
            <a:off x="5154168" y="3206027"/>
            <a:ext cx="192024" cy="192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63312" y="3480347"/>
            <a:ext cx="173736" cy="15544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9600" y="3663227"/>
            <a:ext cx="1661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-$0.10</a:t>
            </a:r>
          </a:p>
        </p:txBody>
      </p:sp>
      <p:sp>
        <p:nvSpPr>
          <p:cNvPr id="33" name="막대 26-2Q"/>
          <p:cNvSpPr/>
          <p:nvPr/>
        </p:nvSpPr>
        <p:spPr>
          <a:xfrm>
            <a:off x="6537579" y="2708571"/>
            <a:ext cx="747522" cy="2777828"/>
          </a:xfrm>
          <a:prstGeom prst="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324523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$151M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5522976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26-2Q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873163"/>
            <a:ext cx="166116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FF0000"/>
                </a:solidFill>
                <a:latin typeface="에스코어 드림 6 Bold"/>
                <a:ea typeface="에스코어 드림 6 Bold"/>
              </a:rPr>
              <a:t>74%</a:t>
            </a:r>
          </a:p>
        </p:txBody>
      </p:sp>
      <p:sp>
        <p:nvSpPr>
          <p:cNvPr id="37" name="Oval 36"/>
          <p:cNvSpPr/>
          <p:nvPr/>
        </p:nvSpPr>
        <p:spPr>
          <a:xfrm>
            <a:off x="6815328" y="3202347"/>
            <a:ext cx="192024" cy="192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24472" y="3476667"/>
            <a:ext cx="173736" cy="15544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3659547"/>
            <a:ext cx="1661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-$0.14</a:t>
            </a:r>
          </a:p>
        </p:txBody>
      </p:sp>
      <p:sp>
        <p:nvSpPr>
          <p:cNvPr id="40" name="막대 26-3Q"/>
          <p:cNvSpPr/>
          <p:nvPr/>
        </p:nvSpPr>
        <p:spPr>
          <a:xfrm>
            <a:off x="8198739" y="2745364"/>
            <a:ext cx="747522" cy="2741035"/>
          </a:xfrm>
          <a:prstGeom prst="rect">
            <a:avLst/>
          </a:prstGeom>
          <a:solidFill>
            <a:srgbClr val="F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1920" y="2361316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~$149M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41920" y="5522976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26-3Q</a:t>
            </a:r>
          </a:p>
        </p:txBody>
      </p:sp>
      <p:sp>
        <p:nvSpPr>
          <p:cNvPr id="43" name="막대 26-4Q"/>
          <p:cNvSpPr/>
          <p:nvPr/>
        </p:nvSpPr>
        <p:spPr>
          <a:xfrm>
            <a:off x="9859899" y="2377439"/>
            <a:ext cx="747522" cy="3108960"/>
          </a:xfrm>
          <a:prstGeom prst="rect">
            <a:avLst/>
          </a:prstGeom>
          <a:solidFill>
            <a:srgbClr val="F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3080" y="1993391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$159-179M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03080" y="5522976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26-4Q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7860" y="1627956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+11%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89020" y="1627956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-9%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0180" y="1903899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11340" y="1903899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-1%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2500" y="1572767"/>
            <a:ext cx="1661160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+13%</a:t>
            </a:r>
          </a:p>
        </p:txBody>
      </p:sp>
      <p:sp>
        <p:nvSpPr>
          <p:cNvPr id="51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10x Genomics 분기 실적발표·어닝콜 (3·4분기는 회사 설명과 연간 가이던스 중간값으로 계산한 추정)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8800" lang="ko-KR" altLang="en-US">
                <a:solidFill>
                  <a:srgbClr val="000000"/>
                </a:solidFill>
                <a:latin typeface="여기어때 잘난체 고딕"/>
                <a:ea typeface="여기어때 잘난체 고딕"/>
              </a:rPr>
              <a:t>Q &amp; 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42391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1793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Q1.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Atera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수요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가 이렇게 강한데, 하반기 출하 목표(40대)는 왜 보수적으로 유지하나요? (Canaccord)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수요는 정말 엄청나고, 수요가 제약이 아닙니다.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제약은 하반기에 출하할 수 있도록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생산능력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을 옮기는 것입니다.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지난 분기에 말씀드린 대로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40대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출하는 그대로 예상합니다.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2026-2분기 어닝콜 (Serge Saxonov)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42391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4968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Q2.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기존에는 3분기 매출이 2분기와 비슷하다고 했는데, 이제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소폭 감소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라고 하는 이유는요? (Barclays)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바뀐 것은 없습니다. 3분기는 공간 분석 제품의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전환이 정점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인 시기입니다.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Atera를 기다리는 고객들 때문에 2분기보다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200만 달러 정도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줄어들 것입니다.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4분기 증가분은 거의 전부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Atera 장비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매출로 설명되고, Atera 소모품은 아직 반영하지 않았습니다.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2026-2분기 어닝콜 (Adam Taich, CFO)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42391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4968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Q3.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내년 Atera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생산능력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은 얼마나 빨리 늘릴 수 있고, 장비당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소모품 매출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은 어느 정도인가요? (Jefferies)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내년 이후에도 생산능력을 계속 늘릴 것이며, 그동안 쌓은 공급망 역량을 총동원하겠습니다.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장비를 최대로 쓰면 소모품 매출이 연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$150만~300만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정도로 Xenium의 약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2배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입니다.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2026-2분기 어닝콜 (Serge Saxonov)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42391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4968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Q4.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단일세포(Chromium) 소모품 매출이 정체된 이유와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AI 수요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의 실제 규모는요? (Bank of America)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가장 큰 요인은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Flex Apex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로의 전환이고, 사용량(반응 건수)은 꾸준하고 강하게 늘고 있습니다.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그 성장의 상당 부분은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AI 응용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과 대규모 코호트 실험에서 나옵니다.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참고로 Chromium 장비는 전체 매출의 약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2%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에 불과합니다.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2026-2분기 어닝콜 (Serge Saxonov, Adam Taich)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42391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1793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Q5.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학계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연구비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집행은 개선되고 있나요? 가이던스의 추가 상승 여지가 될까요? (J.P. Morgan)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분위기는 조금 나아졌지만 환경은 여전히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불안정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하고, 실제 구매로는 아직 이어지지 않습니다.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가이던스는 지금 환경이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그대로 유지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된다고 가정했습니다.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2026-2분기 어닝콜 (Serge Saxonov, Adam Taich)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42391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8618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Q6.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Atera가 기존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Xenium·Visium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매출을 얼마나 잠식할까요? (TD Cowen)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Xenium과 Visium 판매가 이미 일부 줄고 있고, 앞으로 더 줄 것입니다.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하지만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Atera 수요가 그 감소분을 충분히 메우고도 남을 것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입니다.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Atera 공개 이후에도 Xenium·Visium 소모품은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전분기 대비 성장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했습니다.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2026-2분기 어닝콜 (Serge Saxonov, Adam Taich)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48386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517904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목표주가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애널리스트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19명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:  강력 매수 6 · 매수 1 · 보유 12 · 매도 0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평균 목표주가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$58.80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(현재가 대비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-37%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),  범위 $40~90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1963928"/>
          <a:ext cx="10515600" cy="44825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StockAnalysis (2026.10.2)</a:t>
            </a:r>
          </a:p>
        </p:txBody>
      </p:sp>
      <p:sp>
        <p:nvSpPr>
          <p:cNvPr id="8" name="기준일"/>
          <p:cNvSpPr txBox="1"/>
          <p:nvPr/>
        </p:nvSpPr>
        <p:spPr>
          <a:xfrm>
            <a:off x="9052560" y="320040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lang="ko-KR" altLang="en-US">
                <a:solidFill>
                  <a:srgbClr val="FFFFFF"/>
                </a:solidFill>
                <a:latin typeface="에스코어 드림 4 Regular"/>
                <a:ea typeface="에스코어 드림 4 Regular"/>
              </a:rPr>
              <a:t>(2026-10-02)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198924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2232964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목표주가 변경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1527048" y="914400"/>
          <a:ext cx="9143997" cy="34015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868705"/>
                <a:gridCol w="1434352"/>
                <a:gridCol w="2330823"/>
                <a:gridCol w="2510117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증권사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날짜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의견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목표주가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Morgan Stanley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8/7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비중 유지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$37 → $40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Canaccord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8/10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매수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$50 → $60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Piper Sandler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8/10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중립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$42 → $47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Stephens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8/12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비중 확대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$50 → $65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Argus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9/25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매수 (신규)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에스코어 드림 7 ExtraBold"/>
                          <a:ea typeface="에스코어 드림 7 ExtraBold"/>
                        </a:rPr>
                        <a:t>$110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Investing.com, MarketBeat 보도 (원문 리포트 미확인)</a:t>
            </a:r>
          </a:p>
        </p:txBody>
      </p:sp>
      <p:sp>
        <p:nvSpPr>
          <p:cNvPr id="7" name="기준일"/>
          <p:cNvSpPr txBox="1"/>
          <p:nvPr/>
        </p:nvSpPr>
        <p:spPr>
          <a:xfrm>
            <a:off x="9052560" y="320040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lang="ko-KR" altLang="en-US">
                <a:solidFill>
                  <a:srgbClr val="FFFFFF"/>
                </a:solidFill>
                <a:latin typeface="에스코어 드림 4 Regular"/>
                <a:ea typeface="에스코어 드림 4 Regular"/>
              </a:rPr>
              <a:t>(2026-10-02)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7947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828800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밸류에이션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4248" y="914400"/>
            <a:ext cx="8229600" cy="4626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2121408" y="1051560"/>
          <a:ext cx="7955279" cy="43525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24054"/>
                <a:gridCol w="2531225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지표 (주가 $93.50)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시가총액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$122억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P/S (최근 12개월 매출 $617M)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19.7배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P/S (2026 가이던스 중간값)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19.6배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P/B (자본 $826M)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14.8배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P/E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적자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2026 컨센서스 EPS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$0.04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SEC XBRL, 10-Q, StockAnalysis (2026.10.2)</a:t>
            </a:r>
          </a:p>
        </p:txBody>
      </p:sp>
      <p:sp>
        <p:nvSpPr>
          <p:cNvPr id="8" name="기준일"/>
          <p:cNvSpPr txBox="1"/>
          <p:nvPr/>
        </p:nvSpPr>
        <p:spPr>
          <a:xfrm>
            <a:off x="9052560" y="320040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lang="ko-KR" altLang="en-US">
                <a:solidFill>
                  <a:srgbClr val="FFFFFF"/>
                </a:solidFill>
                <a:latin typeface="에스코어 드림 4 Regular"/>
                <a:ea typeface="에스코어 드림 4 Regular"/>
              </a:rPr>
              <a:t>(2026-10-02)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17296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20700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총정리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8041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2분기 실적: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어닝 서프라이즈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매출:  $151.0M  (컨센서스 $146.6M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상회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 합의금 제외 YoY +3%)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희석 EPS:  -$0.14  (컨센서스 -$0.23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상회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연간 가이던스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상향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:  $610-630M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현금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$552M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 차입금 0,  상반기 영업현금흐름 +$43M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Atera 출하 시작,  Proteintech Genomics 인수,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루닛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·대형 병원과 협력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17296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20700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총정리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신성장동력: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Atera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(주문 &gt; 연간 출하 목표 40대)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장비당 소모품 매출 최대 Xenium의 2배,  4분기부터 본격 매출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Flex Apex 전환 마무리 → 단일세포 매출 회복 기대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AI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용 생물학 데이터 수요,  장기적으로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진단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시장 진출</a:t>
            </a:r>
          </a:p>
        </p:txBody>
      </p:sp>
      <p:pic>
        <p:nvPicPr>
          <p:cNvPr id="6" name="Picture 5" descr="atera_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937" y="2675128"/>
            <a:ext cx="6706220" cy="377139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17296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50847"/>
            <a:ext cx="1463040" cy="276712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20700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총정리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8041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인상 깊었던 점:  출시 5개월 만에 연간 목표를 넘는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Atera 주문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지켜볼 점:  Atera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생산능력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증설 속도,  3분기 전환기 매출 공백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리스크: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기존 제품 잠식 (장비 매출 YoY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-47%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학계 연구비 불확실성,  Xenium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특허 소송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(2026.8 피소)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높은 밸류에이션 (P/S 약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20배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 평균 목표가 대비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-37%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전면 사진" descr="atera_p13.png"/>
          <p:cNvPicPr>
            <a:picLocks noChangeAspect="1"/>
          </p:cNvPicPr>
          <p:nvPr/>
        </p:nvPicPr>
        <p:blipFill>
          <a:blip r:embed="rId2"/>
          <a:srcRect l="13" r="1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210312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10x 지노믹스 2026-2분기 실적 리뷰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